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Augusto (A) e Gustavo (B). O AES usa a mesma chave para cifrar e decifrar. Os resultados citados são de logs existentes de 19/10/2026; esta geração de slides não executou hardware.
Fontes locais: AES_Trabalho.pdf; Codigo/evidencias/aes-dupla-2026-10-19.json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Fontes locais: AES_Trabalho.pdf, páginas 1–2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módulos são ESP32-WROOM-32. A: USB location 3-3. B: 3-1. Portas ttyUSB podem mudar. A transmissão AES atual é A→B; o fio de retorno existe, mas A descarta os dados de entrada. Não afirmar AES bidirecional com o firmware atual.
Fontes locais: Codigo/src/comum.cpp; Codigo/evidencias/aes-dupla-2026-10-19.json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Fontes locais: AES_Trabalho.pdf, páginas 1–2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houver menos de oito dígitos, completar com zero à esquerda. Cada caractere vira um byte ASCII; não converter a sequência para um número inteiro. Regra acadêmica: matrículas são previsíveis e não representam uma chave secreta adequada para um produto.
Fontes locais: Codigo/src/dupla.c; Codigo/src/dupla.h; evidência 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mensagem real é A:2023178440013;B:202127844251. São dois blocos de 16 bytes. PKCS#7 sempre acrescenta entre 1 e 16 bytes; se já couber exatamente, acrescenta um bloco completo de 0x10. Não é texto “02”: são bytes de valor 2.
Fontes locais: Codigo/src/pkcs7_ecb.c; evidência 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trechos foram extraídos literalmente dos arquivos de origem. Explicar que falta é o total de bytes de preenchimento e também o valor de cada byte acrescentado. No modo ECB, a mesma função cifra cada bloco separadamente.
Fontes locais: Codigo/src/pkcs7_ecb.c; Codigo/src/analise.c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estado tem 16 bytes, organizados em uma matriz 4×4 preenchida por colunas. Há AddRoundKey inicial, rodadas 1–9 completas e rodada 10 sem MixColumns. A chave expandida fornece chaves 0–10.
Fontes locais: Codigo/src/aes128.c · aes128_cifrar_bloco()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real: estado após AddRoundKey inicial 0x76 vira 0x38. A S-box é construída pelo inverso multiplicativo em GF(2⁸), com 0 mapeado para 0, seguido de transformação afim e constante 0x63. A implementação calcula a tabela, não usa biblioteca criptográfica.
Fontes locais: Codigo/src/aes128.c · aes_sub_bytes() e aes_gerar_tabelas()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os valores não mudam nesta etapa: mudam de posição. A entrada e saída são estados reais da rodada 1. A leitura do hexadecimal nos registros é por colunas, não por linhas.
Fontes locais: Codigo/src/aes128.c · aes_shift_rows(); evidência 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primeira coluna real antes desta transformação é 38 7b fe 67; depois é 64 b0 0d 03. Os cálculos são em GF(2⁸), usando XOR em vez de soma comum. 02·a = xtime(a); 03·a = xtime(a) XOR a. O polinômio é 0x11b.
Fontes locais: Codigo/src/aes128.c · aes_mix_columns() e aes_xtime()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byte da mensagem 0x41 XOR primeiro byte da chave 0x37 resulta 0x76. XOR é reversível: aplicar novamente a mesma chave recupera o valor anterior. Não confundir esta etapa isolada com todo o algoritmo AES.
Fontes locais: Codigo/src/aes128.c · aes_add_round_key(); evidência 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expansão produz 44 palavras de 4 bytes. RotWord gira a palavra; SubWord aplica S-box; Rcon adiciona uma constante que muda por rodada. As chaves não são geradas aleatoriamente: são derivadas da chave inicial.
Fontes locais: Codigo/src/aes128.c · aes128_iniciar(); evidência 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Trecho literal da função de cifragem. Os buffers in/out são copiados antes/depois deste trecho. AES128_RODADAS vale 10. Para decifrar, o código usa transformações inversas e as chaves em ordem contrária.
Fontes locais: Codigo/src/aes128.c · aes128_cifrar_bloco()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 é byte fixo de início, não a string de dois caracteres A e A. n=02 significa dois blocos. A carga cifrada pode conter 0xAA: depois de ler n o receptor segue o comprimento, não procura outro marcador no meio. Cabeçalho não é autenticado.
Fontes locais: Codigo/src/quadro.c; Codigo/src/transmissor.cpp; AES_Trabalho.pdf, p. 1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receptor lê exatamente 16×n bytes, com timeout entre bytes de 100 ms e total de 1 s. B decifra os blocos antes de validar/remover PKCS#7. Neste trecho tamanho já é conhecido. Em caso de padding inválido, o código descarta a mensagem.
Fontes locais: Codigo/src/receptor.cpp · processar_quadro(); Codigo/src/quadro.c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painéis mostram linhas reais selecionadas, com quebras visuais para caber. Não são capturas de tela nem uma nova transmissão. Na aula abrir ambos os monitores antes de enviar. Comparar os dois blocos e a mensagem inteira.
Fontes locais: Codigo/evidencias/aes-dupla-a-2026-10-19.log; aes-dupla-b-2026-10-19.log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Procedimento para executar na aula, não declaração de um novo ensaio. Antes: conferir firmware, identidade física, GND e cruzamento TX/RX. Restaurar as chaves em A e B e mensagem em A. B deve estar pronto antes de ENVIAR. A comparação automática de B é contra a mensagem padrão da dupla: com MSG nova, NAO é esperado e não indica por si só falha na decifragem.
Fontes locais: Codigo/README.md; Codigo/src/transmissor.cpp; Codigo/src/comum.cpp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 verificações no computador não equivalem a 71 ensaios físicos. As placas executaram 11 itens de autoteste cada uma. Os vetores são FIPS-197 2001 B e C.1 conforme enunciado. As capturas AES existentes são A→B; não há evidência de teste AES bidirecional ou sequência AES de mil pacotes.
Fontes locais: Codigo/evidencias/testes-host-dupla-2026-10-19.log; aes-dupla-2026-10-19.json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0 corresponde a 0x80 do primeiro byte. Com bit 0 da chave alterado: 72/128 no bloco 1 e 70/128 no bloco 2, total 142/256=55,47%. Com bit 0 da mensagem: 69/128 no bloco 1, 0/128 no bloco 2; o total é 69/256=26,95%. Isso é esperado no ECB, pois um bloco não afeta o outro. ~50% é uma expectativa estatística, não exigência exata para um ensaio.
Fontes locais: Codigo/evidencias/aes-dupla-2026-10-19.json · avalanche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experimento usa a chave fictícia do PDF, 2023100120231002, não a chave real da dupla. São três blocos exatos sem PKCS#7. Não há controle físico de LED implementado: as frases são apenas dados. Ciphertext repetido e0c22a6f02664f487dc9528642203dec; outro 2b4d065ea65478b60696616244cd5070.
Fontes locais: AES_Trabalho.pdf, p. 2; Codigo/src/vetores_pdf.c; logs aes-dupla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teste com chave errada no ensaio de matrículas fictícias levou a padding inválido, mas isso não é garantia de detectar toda corrupção. Cabeçalho e dados não são autenticados. CBC ou CTR exigem IV/nonce adequado e autenticação separada; GCM também autentica. Não trocar ECB exigido no trabalho.
Fontes locais: AES_Trabalho.pdf, p. 2; Codigo/src/receptor.cpp; aes-ensaio-2026-10-19.json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Convidar professor a escolher uma mensagem nova ou um bit da chave. Cada integrante deve explicar trecho escrito pelo colega; autoria de cada arquivo ainda deve ser definida pela dupla. O guia de execução completo e o ensaio formal na sala seguem pendentes.
Fontes locais: Codigo/evidencias/aes-dupla-2026-10-19.json; Apresentacao/roteiro.md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cinco estados são exigidos no relatório. Nesta tabela a saída de cada etapa aparece como sequência de 16 bytes. A matriz 4×4 nos diagramas é preenchida por colunas. Comando ETAPA3 exibe os valores, chave, padding e ciphertext.
Fontes locais: Codigo/evidencias/aes-dupla-2026-10-19.json · etapa3.bloco1_rodada1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InvShiftRows, InvSubBytes e InvMixColumns. AddRoundKey é a própria inversa. A posição da chave em relação a InvMixColumns respeita o algoritmo implementado. Trecho literal do código entregue.
Fontes locais: Codigo/src/aes128.c · aes128_decifrar_bloco()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Execução 5f7a5b57. B registrou 1000 PINGs e envio de 1000 PONGs. A registrou 999 PONGs, faltando sequência 1. Houve RX_ERROR no boot; descarte pelo parser é uma hipótese. RTT médio 5554,28 µs se refere somente a este diagnóstico, não ao AES. Esta atividade é apoio, não substituir a demonstração AES exigida.
Fontes locais: Codigo/evidencias/uart-pingpong-2026-10-19.json; uart-pingpong-a/b-2026-10-19.log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Referência do algoritmo: NIST FIPS PUB 197 (2001), conforme o PDF do professor. README de execução da demonstração: requisito aprovado, documento e ensaio ainda pendentes. Os slides e suas notas são editáveis. Não apresentar este material como um novo ensaio de laboratório.
Fontes locais: AES_Trabalho.pdf; Codigo/src; Codigo/evidencias; Apresentacao/roteiro.md
Estado: slides gerados de código e evidências existentes; não houve execução de firmware nesta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TRABALHO PRÁTICO</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AES-128 entre dois ESP32</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Criptografia, comunicação UART e recuperação da mensagem.</a:t>
            </a:r>
            <a:endParaRPr lang="en-US" sz="1620" dirty="0"/>
          </a:p>
        </p:txBody>
      </p:sp>
      <p:sp>
        <p:nvSpPr>
          <p:cNvPr id="8" name="Text 5"/>
          <p:cNvSpPr/>
          <p:nvPr/>
        </p:nvSpPr>
        <p:spPr>
          <a:xfrm>
            <a:off x="586740" y="2446020"/>
            <a:ext cx="6096000" cy="623621"/>
          </a:xfrm>
          <a:prstGeom prst="rect">
            <a:avLst/>
          </a:prstGeom>
          <a:noFill/>
          <a:ln/>
        </p:spPr>
        <p:txBody>
          <a:bodyPr wrap="square" lIns="0" tIns="0" rIns="0" bIns="0" rtlCol="0" anchor="ctr"/>
          <a:lstStyle/>
          <a:p>
            <a:pPr algn="l" indent="0" marL="0">
              <a:lnSpc>
                <a:spcPct val="100000"/>
              </a:lnSpc>
              <a:buNone/>
            </a:pPr>
            <a:r>
              <a:rPr lang="en-US" sz="3960" b="1" dirty="0">
                <a:solidFill>
                  <a:srgbClr val="182B45"/>
                </a:solidFill>
                <a:latin typeface="Arial" pitchFamily="34" charset="0"/>
                <a:ea typeface="Arial" pitchFamily="34" charset="-122"/>
                <a:cs typeface="Arial" pitchFamily="34" charset="-120"/>
              </a:rPr>
              <a:t>Uma mensagem.</a:t>
            </a:r>
            <a:endParaRPr lang="en-US" sz="3960" dirty="0"/>
          </a:p>
        </p:txBody>
      </p:sp>
      <p:sp>
        <p:nvSpPr>
          <p:cNvPr id="9" name="Text 6"/>
          <p:cNvSpPr/>
          <p:nvPr/>
        </p:nvSpPr>
        <p:spPr>
          <a:xfrm>
            <a:off x="586740" y="3069641"/>
            <a:ext cx="6096000" cy="623621"/>
          </a:xfrm>
          <a:prstGeom prst="rect">
            <a:avLst/>
          </a:prstGeom>
          <a:noFill/>
          <a:ln/>
        </p:spPr>
        <p:txBody>
          <a:bodyPr wrap="square" lIns="0" tIns="0" rIns="0" bIns="0" rtlCol="0" anchor="ctr"/>
          <a:lstStyle/>
          <a:p>
            <a:pPr algn="l" indent="0" marL="0">
              <a:lnSpc>
                <a:spcPct val="100000"/>
              </a:lnSpc>
              <a:buNone/>
            </a:pPr>
            <a:r>
              <a:rPr lang="en-US" sz="3960" b="1" dirty="0">
                <a:solidFill>
                  <a:srgbClr val="182B45"/>
                </a:solidFill>
                <a:latin typeface="Arial" pitchFamily="34" charset="0"/>
                <a:ea typeface="Arial" pitchFamily="34" charset="-122"/>
                <a:cs typeface="Arial" pitchFamily="34" charset="-120"/>
              </a:rPr>
              <a:t>Duas placas.</a:t>
            </a:r>
            <a:endParaRPr lang="en-US" sz="3960" dirty="0"/>
          </a:p>
        </p:txBody>
      </p:sp>
      <p:sp>
        <p:nvSpPr>
          <p:cNvPr id="10" name="Text 7"/>
          <p:cNvSpPr/>
          <p:nvPr/>
        </p:nvSpPr>
        <p:spPr>
          <a:xfrm>
            <a:off x="586740" y="3693262"/>
            <a:ext cx="6096000" cy="623621"/>
          </a:xfrm>
          <a:prstGeom prst="rect">
            <a:avLst/>
          </a:prstGeom>
          <a:noFill/>
          <a:ln/>
        </p:spPr>
        <p:txBody>
          <a:bodyPr wrap="square" lIns="0" tIns="0" rIns="0" bIns="0" rtlCol="0" anchor="ctr"/>
          <a:lstStyle/>
          <a:p>
            <a:pPr algn="l" indent="0" marL="0">
              <a:lnSpc>
                <a:spcPct val="100000"/>
              </a:lnSpc>
              <a:buNone/>
            </a:pPr>
            <a:r>
              <a:rPr lang="en-US" sz="3960" b="1" dirty="0">
                <a:solidFill>
                  <a:srgbClr val="182B45"/>
                </a:solidFill>
                <a:latin typeface="Arial" pitchFamily="34" charset="0"/>
                <a:ea typeface="Arial" pitchFamily="34" charset="-122"/>
                <a:cs typeface="Arial" pitchFamily="34" charset="-120"/>
              </a:rPr>
              <a:t>O mesmo texto no final.</a:t>
            </a:r>
            <a:endParaRPr lang="en-US" sz="3960" dirty="0"/>
          </a:p>
        </p:txBody>
      </p:sp>
      <p:sp>
        <p:nvSpPr>
          <p:cNvPr id="11" name="Shape 8"/>
          <p:cNvSpPr/>
          <p:nvPr/>
        </p:nvSpPr>
        <p:spPr>
          <a:xfrm>
            <a:off x="8001000" y="2354580"/>
            <a:ext cx="2400300" cy="2628900"/>
          </a:xfrm>
          <a:prstGeom prst="roundRect">
            <a:avLst>
              <a:gd name="adj" fmla="val 6984"/>
            </a:avLst>
          </a:prstGeom>
          <a:solidFill>
            <a:srgbClr val="FFFFFF"/>
          </a:solidFill>
          <a:ln w="12700">
            <a:solidFill>
              <a:srgbClr val="D7E1EE"/>
            </a:solidFill>
            <a:prstDash val="solid"/>
          </a:ln>
        </p:spPr>
      </p:sp>
      <p:sp>
        <p:nvSpPr>
          <p:cNvPr id="12" name="Shape 9"/>
          <p:cNvSpPr/>
          <p:nvPr/>
        </p:nvSpPr>
        <p:spPr>
          <a:xfrm>
            <a:off x="8298180" y="2628900"/>
            <a:ext cx="1805940" cy="1798320"/>
          </a:xfrm>
          <a:prstGeom prst="roundRect">
            <a:avLst>
              <a:gd name="adj" fmla="val 6356"/>
            </a:avLst>
          </a:prstGeom>
          <a:solidFill>
            <a:srgbClr val="182B45"/>
          </a:solidFill>
          <a:ln w="12700">
            <a:solidFill>
              <a:srgbClr val="182B45">
                <a:alpha val="0"/>
              </a:srgbClr>
            </a:solidFill>
            <a:prstDash val="solid"/>
          </a:ln>
        </p:spPr>
      </p:sp>
      <p:sp>
        <p:nvSpPr>
          <p:cNvPr id="13" name="Shape 10"/>
          <p:cNvSpPr/>
          <p:nvPr/>
        </p:nvSpPr>
        <p:spPr>
          <a:xfrm>
            <a:off x="8176260" y="2773680"/>
            <a:ext cx="160020" cy="76200"/>
          </a:xfrm>
          <a:prstGeom prst="roundRect">
            <a:avLst>
              <a:gd name="adj" fmla="val 20000"/>
            </a:avLst>
          </a:prstGeom>
          <a:solidFill>
            <a:srgbClr val="A76A12"/>
          </a:solidFill>
          <a:ln w="12700">
            <a:solidFill>
              <a:srgbClr val="A76A12">
                <a:alpha val="0"/>
              </a:srgbClr>
            </a:solidFill>
            <a:prstDash val="solid"/>
          </a:ln>
        </p:spPr>
      </p:sp>
      <p:sp>
        <p:nvSpPr>
          <p:cNvPr id="14" name="Shape 11"/>
          <p:cNvSpPr/>
          <p:nvPr/>
        </p:nvSpPr>
        <p:spPr>
          <a:xfrm>
            <a:off x="10066020" y="2773680"/>
            <a:ext cx="160020" cy="76200"/>
          </a:xfrm>
          <a:prstGeom prst="roundRect">
            <a:avLst>
              <a:gd name="adj" fmla="val 20000"/>
            </a:avLst>
          </a:prstGeom>
          <a:solidFill>
            <a:srgbClr val="A76A12"/>
          </a:solidFill>
          <a:ln w="12700">
            <a:solidFill>
              <a:srgbClr val="A76A12">
                <a:alpha val="0"/>
              </a:srgbClr>
            </a:solidFill>
            <a:prstDash val="solid"/>
          </a:ln>
        </p:spPr>
      </p:sp>
      <p:sp>
        <p:nvSpPr>
          <p:cNvPr id="15" name="Shape 12"/>
          <p:cNvSpPr/>
          <p:nvPr/>
        </p:nvSpPr>
        <p:spPr>
          <a:xfrm>
            <a:off x="8176260" y="2956560"/>
            <a:ext cx="160020" cy="76200"/>
          </a:xfrm>
          <a:prstGeom prst="roundRect">
            <a:avLst>
              <a:gd name="adj" fmla="val 20000"/>
            </a:avLst>
          </a:prstGeom>
          <a:solidFill>
            <a:srgbClr val="A76A12"/>
          </a:solidFill>
          <a:ln w="12700">
            <a:solidFill>
              <a:srgbClr val="A76A12">
                <a:alpha val="0"/>
              </a:srgbClr>
            </a:solidFill>
            <a:prstDash val="solid"/>
          </a:ln>
        </p:spPr>
      </p:sp>
      <p:sp>
        <p:nvSpPr>
          <p:cNvPr id="16" name="Shape 13"/>
          <p:cNvSpPr/>
          <p:nvPr/>
        </p:nvSpPr>
        <p:spPr>
          <a:xfrm>
            <a:off x="10066020" y="2956560"/>
            <a:ext cx="160020" cy="76200"/>
          </a:xfrm>
          <a:prstGeom prst="roundRect">
            <a:avLst>
              <a:gd name="adj" fmla="val 20000"/>
            </a:avLst>
          </a:prstGeom>
          <a:solidFill>
            <a:srgbClr val="A76A12"/>
          </a:solidFill>
          <a:ln w="12700">
            <a:solidFill>
              <a:srgbClr val="A76A12">
                <a:alpha val="0"/>
              </a:srgbClr>
            </a:solidFill>
            <a:prstDash val="solid"/>
          </a:ln>
        </p:spPr>
      </p:sp>
      <p:sp>
        <p:nvSpPr>
          <p:cNvPr id="17" name="Shape 14"/>
          <p:cNvSpPr/>
          <p:nvPr/>
        </p:nvSpPr>
        <p:spPr>
          <a:xfrm>
            <a:off x="8176260" y="3139440"/>
            <a:ext cx="160020" cy="76200"/>
          </a:xfrm>
          <a:prstGeom prst="roundRect">
            <a:avLst>
              <a:gd name="adj" fmla="val 20000"/>
            </a:avLst>
          </a:prstGeom>
          <a:solidFill>
            <a:srgbClr val="A76A12"/>
          </a:solidFill>
          <a:ln w="12700">
            <a:solidFill>
              <a:srgbClr val="A76A12">
                <a:alpha val="0"/>
              </a:srgbClr>
            </a:solidFill>
            <a:prstDash val="solid"/>
          </a:ln>
        </p:spPr>
      </p:sp>
      <p:sp>
        <p:nvSpPr>
          <p:cNvPr id="18" name="Shape 15"/>
          <p:cNvSpPr/>
          <p:nvPr/>
        </p:nvSpPr>
        <p:spPr>
          <a:xfrm>
            <a:off x="10066020" y="3139440"/>
            <a:ext cx="160020" cy="76200"/>
          </a:xfrm>
          <a:prstGeom prst="roundRect">
            <a:avLst>
              <a:gd name="adj" fmla="val 20000"/>
            </a:avLst>
          </a:prstGeom>
          <a:solidFill>
            <a:srgbClr val="A76A12"/>
          </a:solidFill>
          <a:ln w="12700">
            <a:solidFill>
              <a:srgbClr val="A76A12">
                <a:alpha val="0"/>
              </a:srgbClr>
            </a:solidFill>
            <a:prstDash val="solid"/>
          </a:ln>
        </p:spPr>
      </p:sp>
      <p:sp>
        <p:nvSpPr>
          <p:cNvPr id="19" name="Shape 16"/>
          <p:cNvSpPr/>
          <p:nvPr/>
        </p:nvSpPr>
        <p:spPr>
          <a:xfrm>
            <a:off x="8176260" y="3322320"/>
            <a:ext cx="160020" cy="76200"/>
          </a:xfrm>
          <a:prstGeom prst="roundRect">
            <a:avLst>
              <a:gd name="adj" fmla="val 20000"/>
            </a:avLst>
          </a:prstGeom>
          <a:solidFill>
            <a:srgbClr val="A76A12"/>
          </a:solidFill>
          <a:ln w="12700">
            <a:solidFill>
              <a:srgbClr val="A76A12">
                <a:alpha val="0"/>
              </a:srgbClr>
            </a:solidFill>
            <a:prstDash val="solid"/>
          </a:ln>
        </p:spPr>
      </p:sp>
      <p:sp>
        <p:nvSpPr>
          <p:cNvPr id="20" name="Shape 17"/>
          <p:cNvSpPr/>
          <p:nvPr/>
        </p:nvSpPr>
        <p:spPr>
          <a:xfrm>
            <a:off x="10066020" y="3322320"/>
            <a:ext cx="160020" cy="76200"/>
          </a:xfrm>
          <a:prstGeom prst="roundRect">
            <a:avLst>
              <a:gd name="adj" fmla="val 20000"/>
            </a:avLst>
          </a:prstGeom>
          <a:solidFill>
            <a:srgbClr val="A76A12"/>
          </a:solidFill>
          <a:ln w="12700">
            <a:solidFill>
              <a:srgbClr val="A76A12">
                <a:alpha val="0"/>
              </a:srgbClr>
            </a:solidFill>
            <a:prstDash val="solid"/>
          </a:ln>
        </p:spPr>
      </p:sp>
      <p:sp>
        <p:nvSpPr>
          <p:cNvPr id="21" name="Shape 18"/>
          <p:cNvSpPr/>
          <p:nvPr/>
        </p:nvSpPr>
        <p:spPr>
          <a:xfrm>
            <a:off x="8176260" y="3505200"/>
            <a:ext cx="160020" cy="76200"/>
          </a:xfrm>
          <a:prstGeom prst="roundRect">
            <a:avLst>
              <a:gd name="adj" fmla="val 20000"/>
            </a:avLst>
          </a:prstGeom>
          <a:solidFill>
            <a:srgbClr val="A76A12"/>
          </a:solidFill>
          <a:ln w="12700">
            <a:solidFill>
              <a:srgbClr val="A76A12">
                <a:alpha val="0"/>
              </a:srgbClr>
            </a:solidFill>
            <a:prstDash val="solid"/>
          </a:ln>
        </p:spPr>
      </p:sp>
      <p:sp>
        <p:nvSpPr>
          <p:cNvPr id="22" name="Shape 19"/>
          <p:cNvSpPr/>
          <p:nvPr/>
        </p:nvSpPr>
        <p:spPr>
          <a:xfrm>
            <a:off x="10066020" y="3505200"/>
            <a:ext cx="160020" cy="76200"/>
          </a:xfrm>
          <a:prstGeom prst="roundRect">
            <a:avLst>
              <a:gd name="adj" fmla="val 20000"/>
            </a:avLst>
          </a:prstGeom>
          <a:solidFill>
            <a:srgbClr val="A76A12"/>
          </a:solidFill>
          <a:ln w="12700">
            <a:solidFill>
              <a:srgbClr val="A76A12">
                <a:alpha val="0"/>
              </a:srgbClr>
            </a:solidFill>
            <a:prstDash val="solid"/>
          </a:ln>
        </p:spPr>
      </p:sp>
      <p:sp>
        <p:nvSpPr>
          <p:cNvPr id="23" name="Shape 20"/>
          <p:cNvSpPr/>
          <p:nvPr/>
        </p:nvSpPr>
        <p:spPr>
          <a:xfrm>
            <a:off x="8176260" y="3688080"/>
            <a:ext cx="160020" cy="76200"/>
          </a:xfrm>
          <a:prstGeom prst="roundRect">
            <a:avLst>
              <a:gd name="adj" fmla="val 20000"/>
            </a:avLst>
          </a:prstGeom>
          <a:solidFill>
            <a:srgbClr val="A76A12"/>
          </a:solidFill>
          <a:ln w="12700">
            <a:solidFill>
              <a:srgbClr val="A76A12">
                <a:alpha val="0"/>
              </a:srgbClr>
            </a:solidFill>
            <a:prstDash val="solid"/>
          </a:ln>
        </p:spPr>
      </p:sp>
      <p:sp>
        <p:nvSpPr>
          <p:cNvPr id="24" name="Shape 21"/>
          <p:cNvSpPr/>
          <p:nvPr/>
        </p:nvSpPr>
        <p:spPr>
          <a:xfrm>
            <a:off x="10066020" y="3688080"/>
            <a:ext cx="160020" cy="76200"/>
          </a:xfrm>
          <a:prstGeom prst="roundRect">
            <a:avLst>
              <a:gd name="adj" fmla="val 20000"/>
            </a:avLst>
          </a:prstGeom>
          <a:solidFill>
            <a:srgbClr val="A76A12"/>
          </a:solidFill>
          <a:ln w="12700">
            <a:solidFill>
              <a:srgbClr val="A76A12">
                <a:alpha val="0"/>
              </a:srgbClr>
            </a:solidFill>
            <a:prstDash val="solid"/>
          </a:ln>
        </p:spPr>
      </p:sp>
      <p:sp>
        <p:nvSpPr>
          <p:cNvPr id="25" name="Shape 22"/>
          <p:cNvSpPr/>
          <p:nvPr/>
        </p:nvSpPr>
        <p:spPr>
          <a:xfrm>
            <a:off x="8176260" y="3870960"/>
            <a:ext cx="160020" cy="76200"/>
          </a:xfrm>
          <a:prstGeom prst="roundRect">
            <a:avLst>
              <a:gd name="adj" fmla="val 20000"/>
            </a:avLst>
          </a:prstGeom>
          <a:solidFill>
            <a:srgbClr val="A76A12"/>
          </a:solidFill>
          <a:ln w="12700">
            <a:solidFill>
              <a:srgbClr val="A76A12">
                <a:alpha val="0"/>
              </a:srgbClr>
            </a:solidFill>
            <a:prstDash val="solid"/>
          </a:ln>
        </p:spPr>
      </p:sp>
      <p:sp>
        <p:nvSpPr>
          <p:cNvPr id="26" name="Shape 23"/>
          <p:cNvSpPr/>
          <p:nvPr/>
        </p:nvSpPr>
        <p:spPr>
          <a:xfrm>
            <a:off x="10066020" y="3870960"/>
            <a:ext cx="160020" cy="76200"/>
          </a:xfrm>
          <a:prstGeom prst="roundRect">
            <a:avLst>
              <a:gd name="adj" fmla="val 20000"/>
            </a:avLst>
          </a:prstGeom>
          <a:solidFill>
            <a:srgbClr val="A76A12"/>
          </a:solidFill>
          <a:ln w="12700">
            <a:solidFill>
              <a:srgbClr val="A76A12">
                <a:alpha val="0"/>
              </a:srgbClr>
            </a:solidFill>
            <a:prstDash val="solid"/>
          </a:ln>
        </p:spPr>
      </p:sp>
      <p:sp>
        <p:nvSpPr>
          <p:cNvPr id="27" name="Shape 24"/>
          <p:cNvSpPr/>
          <p:nvPr/>
        </p:nvSpPr>
        <p:spPr>
          <a:xfrm>
            <a:off x="8176260" y="4053840"/>
            <a:ext cx="160020" cy="76200"/>
          </a:xfrm>
          <a:prstGeom prst="roundRect">
            <a:avLst>
              <a:gd name="adj" fmla="val 20000"/>
            </a:avLst>
          </a:prstGeom>
          <a:solidFill>
            <a:srgbClr val="A76A12"/>
          </a:solidFill>
          <a:ln w="12700">
            <a:solidFill>
              <a:srgbClr val="A76A12">
                <a:alpha val="0"/>
              </a:srgbClr>
            </a:solidFill>
            <a:prstDash val="solid"/>
          </a:ln>
        </p:spPr>
      </p:sp>
      <p:sp>
        <p:nvSpPr>
          <p:cNvPr id="28" name="Shape 25"/>
          <p:cNvSpPr/>
          <p:nvPr/>
        </p:nvSpPr>
        <p:spPr>
          <a:xfrm>
            <a:off x="10066020" y="4053840"/>
            <a:ext cx="160020" cy="76200"/>
          </a:xfrm>
          <a:prstGeom prst="roundRect">
            <a:avLst>
              <a:gd name="adj" fmla="val 20000"/>
            </a:avLst>
          </a:prstGeom>
          <a:solidFill>
            <a:srgbClr val="A76A12"/>
          </a:solidFill>
          <a:ln w="12700">
            <a:solidFill>
              <a:srgbClr val="A76A12">
                <a:alpha val="0"/>
              </a:srgbClr>
            </a:solidFill>
            <a:prstDash val="solid"/>
          </a:ln>
        </p:spPr>
      </p:sp>
      <p:sp>
        <p:nvSpPr>
          <p:cNvPr id="29" name="Shape 26"/>
          <p:cNvSpPr/>
          <p:nvPr/>
        </p:nvSpPr>
        <p:spPr>
          <a:xfrm>
            <a:off x="8580120" y="2887980"/>
            <a:ext cx="1226820" cy="838200"/>
          </a:xfrm>
          <a:prstGeom prst="roundRect">
            <a:avLst>
              <a:gd name="adj" fmla="val 7273"/>
            </a:avLst>
          </a:prstGeom>
          <a:solidFill>
            <a:srgbClr val="CED8E3"/>
          </a:solidFill>
          <a:ln w="12700">
            <a:solidFill>
              <a:srgbClr val="CED8E3">
                <a:alpha val="0"/>
              </a:srgbClr>
            </a:solidFill>
            <a:prstDash val="solid"/>
          </a:ln>
        </p:spPr>
      </p:sp>
      <p:sp>
        <p:nvSpPr>
          <p:cNvPr id="30" name="Text 27"/>
          <p:cNvSpPr/>
          <p:nvPr/>
        </p:nvSpPr>
        <p:spPr>
          <a:xfrm>
            <a:off x="8648700" y="3093720"/>
            <a:ext cx="1097280" cy="321259"/>
          </a:xfrm>
          <a:prstGeom prst="rect">
            <a:avLst/>
          </a:prstGeom>
          <a:noFill/>
          <a:ln/>
        </p:spPr>
        <p:txBody>
          <a:bodyPr wrap="square" lIns="0" tIns="0" rIns="0" bIns="0" rtlCol="0" anchor="ctr"/>
          <a:lstStyle/>
          <a:p>
            <a:pPr algn="ctr" indent="0" marL="0">
              <a:lnSpc>
                <a:spcPct val="100000"/>
              </a:lnSpc>
              <a:buNone/>
            </a:pPr>
            <a:r>
              <a:rPr lang="en-US" sz="2040" b="1" dirty="0">
                <a:solidFill>
                  <a:srgbClr val="182B45"/>
                </a:solidFill>
                <a:latin typeface="Arial" pitchFamily="34" charset="0"/>
                <a:ea typeface="Arial" pitchFamily="34" charset="-122"/>
                <a:cs typeface="Arial" pitchFamily="34" charset="-120"/>
              </a:rPr>
              <a:t>ESP32</a:t>
            </a:r>
            <a:endParaRPr lang="en-US" sz="2040" dirty="0"/>
          </a:p>
        </p:txBody>
      </p:sp>
      <p:sp>
        <p:nvSpPr>
          <p:cNvPr id="31" name="Shape 28"/>
          <p:cNvSpPr/>
          <p:nvPr/>
        </p:nvSpPr>
        <p:spPr>
          <a:xfrm>
            <a:off x="8961120" y="4107180"/>
            <a:ext cx="480060" cy="449580"/>
          </a:xfrm>
          <a:prstGeom prst="roundRect">
            <a:avLst>
              <a:gd name="adj" fmla="val 10169"/>
            </a:avLst>
          </a:prstGeom>
          <a:solidFill>
            <a:srgbClr val="C0CAD8"/>
          </a:solidFill>
          <a:ln w="12700">
            <a:solidFill>
              <a:srgbClr val="C0CAD8">
                <a:alpha val="0"/>
              </a:srgbClr>
            </a:solidFill>
            <a:prstDash val="solid"/>
          </a:ln>
        </p:spPr>
      </p:sp>
      <p:sp>
        <p:nvSpPr>
          <p:cNvPr id="32" name="Text 29"/>
          <p:cNvSpPr/>
          <p:nvPr/>
        </p:nvSpPr>
        <p:spPr>
          <a:xfrm>
            <a:off x="8938260" y="4213860"/>
            <a:ext cx="533400" cy="179527"/>
          </a:xfrm>
          <a:prstGeom prst="rect">
            <a:avLst/>
          </a:prstGeom>
          <a:noFill/>
          <a:ln/>
        </p:spPr>
        <p:txBody>
          <a:bodyPr wrap="square" lIns="0" tIns="0" rIns="0" bIns="0" rtlCol="0" anchor="ctr"/>
          <a:lstStyle/>
          <a:p>
            <a:pPr algn="ctr" indent="0" marL="0">
              <a:lnSpc>
                <a:spcPct val="100000"/>
              </a:lnSpc>
              <a:buNone/>
            </a:pPr>
            <a:r>
              <a:rPr lang="en-US" sz="1140" b="1" dirty="0">
                <a:solidFill>
                  <a:srgbClr val="182B45"/>
                </a:solidFill>
                <a:latin typeface="Arial" pitchFamily="34" charset="0"/>
                <a:ea typeface="Arial" pitchFamily="34" charset="-122"/>
                <a:cs typeface="Arial" pitchFamily="34" charset="-120"/>
              </a:rPr>
              <a:t>USB</a:t>
            </a:r>
            <a:endParaRPr lang="en-US" sz="1140" dirty="0"/>
          </a:p>
        </p:txBody>
      </p:sp>
      <p:sp>
        <p:nvSpPr>
          <p:cNvPr id="33" name="Text 30"/>
          <p:cNvSpPr/>
          <p:nvPr/>
        </p:nvSpPr>
        <p:spPr>
          <a:xfrm>
            <a:off x="8191500" y="4594860"/>
            <a:ext cx="2019300" cy="283464"/>
          </a:xfrm>
          <a:prstGeom prst="rect">
            <a:avLst/>
          </a:prstGeom>
          <a:noFill/>
          <a:ln/>
        </p:spPr>
        <p:txBody>
          <a:bodyPr wrap="square" lIns="0" tIns="0" rIns="0" bIns="0" rtlCol="0" anchor="ctr"/>
          <a:lstStyle/>
          <a:p>
            <a:pPr algn="ctr" indent="0" marL="0">
              <a:lnSpc>
                <a:spcPct val="100000"/>
              </a:lnSpc>
              <a:buNone/>
            </a:pPr>
            <a:r>
              <a:rPr lang="en-US" sz="1800" b="1" dirty="0">
                <a:solidFill>
                  <a:srgbClr val="2165D6"/>
                </a:solidFill>
                <a:latin typeface="Arial" pitchFamily="34" charset="0"/>
                <a:ea typeface="Arial" pitchFamily="34" charset="-122"/>
                <a:cs typeface="Arial" pitchFamily="34" charset="-120"/>
              </a:rPr>
              <a:t>A envia</a:t>
            </a:r>
            <a:endParaRPr lang="en-US" sz="1800" dirty="0"/>
          </a:p>
        </p:txBody>
      </p:sp>
      <p:sp>
        <p:nvSpPr>
          <p:cNvPr id="34" name="Shape 31"/>
          <p:cNvSpPr/>
          <p:nvPr/>
        </p:nvSpPr>
        <p:spPr>
          <a:xfrm>
            <a:off x="7597140" y="3154680"/>
            <a:ext cx="518160" cy="609600"/>
          </a:xfrm>
          <a:prstGeom prst="ellipse">
            <a:avLst/>
          </a:prstGeom>
          <a:solidFill>
            <a:srgbClr val="FFFFFF"/>
          </a:solidFill>
          <a:ln w="12700">
            <a:solidFill>
              <a:srgbClr val="2165D6"/>
            </a:solidFill>
            <a:prstDash val="solid"/>
          </a:ln>
        </p:spPr>
      </p:sp>
      <p:sp>
        <p:nvSpPr>
          <p:cNvPr id="35" name="Shape 32"/>
          <p:cNvSpPr/>
          <p:nvPr/>
        </p:nvSpPr>
        <p:spPr>
          <a:xfrm>
            <a:off x="7528560" y="3482340"/>
            <a:ext cx="655320" cy="556260"/>
          </a:xfrm>
          <a:prstGeom prst="roundRect">
            <a:avLst>
              <a:gd name="adj" fmla="val 16438"/>
            </a:avLst>
          </a:prstGeom>
          <a:solidFill>
            <a:srgbClr val="FFFFFF"/>
          </a:solidFill>
          <a:ln w="12700">
            <a:solidFill>
              <a:srgbClr val="2165D6"/>
            </a:solidFill>
            <a:prstDash val="solid"/>
          </a:ln>
        </p:spPr>
      </p:sp>
      <p:sp>
        <p:nvSpPr>
          <p:cNvPr id="36" name="Shape 33"/>
          <p:cNvSpPr/>
          <p:nvPr/>
        </p:nvSpPr>
        <p:spPr>
          <a:xfrm>
            <a:off x="7810500" y="3649980"/>
            <a:ext cx="99060" cy="99060"/>
          </a:xfrm>
          <a:prstGeom prst="ellipse">
            <a:avLst/>
          </a:prstGeom>
          <a:solidFill>
            <a:srgbClr val="2165D6"/>
          </a:solidFill>
          <a:ln w="12700">
            <a:solidFill>
              <a:srgbClr val="2165D6">
                <a:alpha val="0"/>
              </a:srgbClr>
            </a:solidFill>
            <a:prstDash val="solid"/>
          </a:ln>
        </p:spPr>
      </p:sp>
      <p:sp>
        <p:nvSpPr>
          <p:cNvPr id="37" name="Shape 34"/>
          <p:cNvSpPr/>
          <p:nvPr/>
        </p:nvSpPr>
        <p:spPr>
          <a:xfrm>
            <a:off x="7840980" y="3726180"/>
            <a:ext cx="38100" cy="121920"/>
          </a:xfrm>
          <a:prstGeom prst="roundRect">
            <a:avLst>
              <a:gd name="adj" fmla="val 20000"/>
            </a:avLst>
          </a:prstGeom>
          <a:solidFill>
            <a:srgbClr val="2165D6"/>
          </a:solidFill>
          <a:ln w="12700">
            <a:solidFill>
              <a:srgbClr val="2165D6">
                <a:alpha val="0"/>
              </a:srgbClr>
            </a:solidFill>
            <a:prstDash val="solid"/>
          </a:ln>
        </p:spPr>
      </p:sp>
      <p:sp>
        <p:nvSpPr>
          <p:cNvPr id="38" name="Shape 35"/>
          <p:cNvSpPr/>
          <p:nvPr/>
        </p:nvSpPr>
        <p:spPr>
          <a:xfrm>
            <a:off x="617220" y="4991100"/>
            <a:ext cx="2286000" cy="289560"/>
          </a:xfrm>
          <a:prstGeom prst="roundRect">
            <a:avLst>
              <a:gd name="adj" fmla="val 26316"/>
            </a:avLst>
          </a:prstGeom>
          <a:solidFill>
            <a:srgbClr val="E4F6F0"/>
          </a:solidFill>
          <a:ln w="12700">
            <a:solidFill>
              <a:srgbClr val="E4F6F0">
                <a:alpha val="0"/>
              </a:srgbClr>
            </a:solidFill>
            <a:prstDash val="solid"/>
          </a:ln>
        </p:spPr>
      </p:sp>
      <p:sp>
        <p:nvSpPr>
          <p:cNvPr id="39" name="Text 36"/>
          <p:cNvSpPr/>
          <p:nvPr/>
        </p:nvSpPr>
        <p:spPr>
          <a:xfrm>
            <a:off x="708660" y="5036820"/>
            <a:ext cx="21031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008774"/>
                </a:solidFill>
                <a:latin typeface="Arial" pitchFamily="34" charset="0"/>
                <a:ea typeface="Arial" pitchFamily="34" charset="-122"/>
                <a:cs typeface="Arial" pitchFamily="34" charset="-120"/>
              </a:rPr>
              <a:t>DADOS REAIS DA DUPLA</a:t>
            </a:r>
            <a:endParaRPr lang="en-US" sz="1080" dirty="0"/>
          </a:p>
        </p:txBody>
      </p:sp>
      <p:sp>
        <p:nvSpPr>
          <p:cNvPr id="40" name="Text 37"/>
          <p:cNvSpPr/>
          <p:nvPr/>
        </p:nvSpPr>
        <p:spPr>
          <a:xfrm>
            <a:off x="624840" y="5402580"/>
            <a:ext cx="6477000" cy="264566"/>
          </a:xfrm>
          <a:prstGeom prst="rect">
            <a:avLst/>
          </a:prstGeom>
          <a:noFill/>
          <a:ln/>
        </p:spPr>
        <p:txBody>
          <a:bodyPr wrap="square" lIns="0" tIns="0" rIns="0" bIns="0" rtlCol="0" anchor="ctr"/>
          <a:lstStyle/>
          <a:p>
            <a:pPr algn="l" indent="0" marL="0">
              <a:lnSpc>
                <a:spcPct val="100000"/>
              </a:lnSpc>
              <a:buNone/>
            </a:pPr>
            <a:r>
              <a:rPr lang="en-US" sz="1680" dirty="0">
                <a:solidFill>
                  <a:srgbClr val="52657B"/>
                </a:solidFill>
                <a:latin typeface="Arial" pitchFamily="34" charset="0"/>
                <a:ea typeface="Arial" pitchFamily="34" charset="-122"/>
                <a:cs typeface="Arial" pitchFamily="34" charset="-120"/>
              </a:rPr>
              <a:t>Augusto · 2023178440013</a:t>
            </a:r>
            <a:endParaRPr lang="en-US" sz="1680" dirty="0"/>
          </a:p>
        </p:txBody>
      </p:sp>
      <p:sp>
        <p:nvSpPr>
          <p:cNvPr id="41" name="Text 38"/>
          <p:cNvSpPr/>
          <p:nvPr/>
        </p:nvSpPr>
        <p:spPr>
          <a:xfrm>
            <a:off x="624840" y="5667146"/>
            <a:ext cx="6477000" cy="264566"/>
          </a:xfrm>
          <a:prstGeom prst="rect">
            <a:avLst/>
          </a:prstGeom>
          <a:noFill/>
          <a:ln/>
        </p:spPr>
        <p:txBody>
          <a:bodyPr wrap="square" lIns="0" tIns="0" rIns="0" bIns="0" rtlCol="0" anchor="ctr"/>
          <a:lstStyle/>
          <a:p>
            <a:pPr algn="l" indent="0" marL="0">
              <a:lnSpc>
                <a:spcPct val="100000"/>
              </a:lnSpc>
              <a:buNone/>
            </a:pPr>
            <a:r>
              <a:rPr lang="en-US" sz="1680" dirty="0">
                <a:solidFill>
                  <a:srgbClr val="52657B"/>
                </a:solidFill>
                <a:latin typeface="Arial" pitchFamily="34" charset="0"/>
                <a:ea typeface="Arial" pitchFamily="34" charset="-122"/>
                <a:cs typeface="Arial" pitchFamily="34" charset="-120"/>
              </a:rPr>
              <a:t>Gustavo · 202127844251</a:t>
            </a:r>
            <a:endParaRPr lang="en-US" sz="1680" dirty="0"/>
          </a:p>
        </p:txBody>
      </p:sp>
      <p:sp>
        <p:nvSpPr>
          <p:cNvPr id="42" name="Shape 39"/>
          <p:cNvSpPr/>
          <p:nvPr/>
        </p:nvSpPr>
        <p:spPr>
          <a:xfrm>
            <a:off x="487680" y="6461760"/>
            <a:ext cx="11216640" cy="0"/>
          </a:xfrm>
          <a:prstGeom prst="line">
            <a:avLst/>
          </a:prstGeom>
          <a:noFill/>
          <a:ln w="7620">
            <a:solidFill>
              <a:srgbClr val="D7E1EE"/>
            </a:solidFill>
            <a:prstDash val="solid"/>
          </a:ln>
        </p:spPr>
      </p:sp>
      <p:sp>
        <p:nvSpPr>
          <p:cNvPr id="43" name="Text 40"/>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44" name="Text 41"/>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01 / 27</a:t>
            </a:r>
            <a:endParaRPr lang="en-US" sz="10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ENTENDA O SISTEMA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O que queremos mostrar?</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 mensagem muda de aparência durante o transporte e volta ao texto original.</a:t>
            </a:r>
            <a:endParaRPr lang="en-US" sz="1620" dirty="0"/>
          </a:p>
        </p:txBody>
      </p:sp>
      <p:sp>
        <p:nvSpPr>
          <p:cNvPr id="8" name="Shape 5"/>
          <p:cNvSpPr/>
          <p:nvPr/>
        </p:nvSpPr>
        <p:spPr>
          <a:xfrm>
            <a:off x="487680" y="2628900"/>
            <a:ext cx="2590800" cy="1813560"/>
          </a:xfrm>
          <a:prstGeom prst="roundRect">
            <a:avLst>
              <a:gd name="adj" fmla="val 7563"/>
            </a:avLst>
          </a:prstGeom>
          <a:solidFill>
            <a:srgbClr val="FFFFFF"/>
          </a:solidFill>
          <a:ln w="12700">
            <a:solidFill>
              <a:srgbClr val="D7E1EE"/>
            </a:solidFill>
            <a:prstDash val="solid"/>
          </a:ln>
        </p:spPr>
      </p:sp>
      <p:sp>
        <p:nvSpPr>
          <p:cNvPr id="9" name="Text 6"/>
          <p:cNvSpPr/>
          <p:nvPr/>
        </p:nvSpPr>
        <p:spPr>
          <a:xfrm>
            <a:off x="670560" y="2865120"/>
            <a:ext cx="2225040" cy="226771"/>
          </a:xfrm>
          <a:prstGeom prst="rect">
            <a:avLst/>
          </a:prstGeom>
          <a:noFill/>
          <a:ln/>
        </p:spPr>
        <p:txBody>
          <a:bodyPr wrap="square" lIns="0" tIns="0" rIns="0" bIns="0" rtlCol="0" anchor="ctr"/>
          <a:lstStyle/>
          <a:p>
            <a:pPr algn="l" indent="0" marL="0">
              <a:lnSpc>
                <a:spcPct val="100000"/>
              </a:lnSpc>
              <a:buNone/>
            </a:pPr>
            <a:r>
              <a:rPr lang="en-US" sz="1440" b="1" dirty="0">
                <a:solidFill>
                  <a:srgbClr val="008774"/>
                </a:solidFill>
                <a:latin typeface="Arial" pitchFamily="34" charset="0"/>
                <a:ea typeface="Arial" pitchFamily="34" charset="-122"/>
                <a:cs typeface="Arial" pitchFamily="34" charset="-120"/>
              </a:rPr>
              <a:t>TEXTO ORIGINAL</a:t>
            </a:r>
            <a:endParaRPr lang="en-US" sz="1440" dirty="0"/>
          </a:p>
        </p:txBody>
      </p:sp>
      <p:sp>
        <p:nvSpPr>
          <p:cNvPr id="10" name="Text 7"/>
          <p:cNvSpPr/>
          <p:nvPr/>
        </p:nvSpPr>
        <p:spPr>
          <a:xfrm>
            <a:off x="670560" y="3543300"/>
            <a:ext cx="222504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182B45"/>
                </a:solidFill>
                <a:latin typeface="Arial" pitchFamily="34" charset="0"/>
                <a:ea typeface="Arial" pitchFamily="34" charset="-122"/>
                <a:cs typeface="Arial" pitchFamily="34" charset="-120"/>
              </a:rPr>
              <a:t>A:2023…</a:t>
            </a:r>
            <a:endParaRPr lang="en-US" sz="1800" dirty="0"/>
          </a:p>
        </p:txBody>
      </p:sp>
      <p:sp>
        <p:nvSpPr>
          <p:cNvPr id="11" name="Shape 8"/>
          <p:cNvSpPr/>
          <p:nvPr/>
        </p:nvSpPr>
        <p:spPr>
          <a:xfrm>
            <a:off x="3116580" y="3543300"/>
            <a:ext cx="190500" cy="0"/>
          </a:xfrm>
          <a:prstGeom prst="line">
            <a:avLst/>
          </a:prstGeom>
          <a:noFill/>
          <a:ln w="30480">
            <a:solidFill>
              <a:srgbClr val="2165D6"/>
            </a:solidFill>
            <a:prstDash val="solid"/>
            <a:tailEnd type="triangle"/>
          </a:ln>
        </p:spPr>
      </p:sp>
      <p:sp>
        <p:nvSpPr>
          <p:cNvPr id="12" name="Shape 9"/>
          <p:cNvSpPr/>
          <p:nvPr/>
        </p:nvSpPr>
        <p:spPr>
          <a:xfrm>
            <a:off x="3368040" y="2628900"/>
            <a:ext cx="2590800" cy="1813560"/>
          </a:xfrm>
          <a:prstGeom prst="roundRect">
            <a:avLst>
              <a:gd name="adj" fmla="val 7563"/>
            </a:avLst>
          </a:prstGeom>
          <a:solidFill>
            <a:srgbClr val="FFFFFF"/>
          </a:solidFill>
          <a:ln w="12700">
            <a:solidFill>
              <a:srgbClr val="D7E1EE"/>
            </a:solidFill>
            <a:prstDash val="solid"/>
          </a:ln>
        </p:spPr>
      </p:sp>
      <p:sp>
        <p:nvSpPr>
          <p:cNvPr id="13" name="Text 10"/>
          <p:cNvSpPr/>
          <p:nvPr/>
        </p:nvSpPr>
        <p:spPr>
          <a:xfrm>
            <a:off x="3550920" y="2865120"/>
            <a:ext cx="2225040" cy="226771"/>
          </a:xfrm>
          <a:prstGeom prst="rect">
            <a:avLst/>
          </a:prstGeom>
          <a:noFill/>
          <a:ln/>
        </p:spPr>
        <p:txBody>
          <a:bodyPr wrap="square" lIns="0" tIns="0" rIns="0" bIns="0" rtlCol="0" anchor="ctr"/>
          <a:lstStyle/>
          <a:p>
            <a:pPr algn="l" indent="0" marL="0">
              <a:lnSpc>
                <a:spcPct val="100000"/>
              </a:lnSpc>
              <a:buNone/>
            </a:pPr>
            <a:r>
              <a:rPr lang="en-US" sz="1440" b="1" dirty="0">
                <a:solidFill>
                  <a:srgbClr val="2165D6"/>
                </a:solidFill>
                <a:latin typeface="Arial" pitchFamily="34" charset="0"/>
                <a:ea typeface="Arial" pitchFamily="34" charset="-122"/>
                <a:cs typeface="Arial" pitchFamily="34" charset="-120"/>
              </a:rPr>
              <a:t>ESP32 A</a:t>
            </a:r>
            <a:endParaRPr lang="en-US" sz="1440" dirty="0"/>
          </a:p>
        </p:txBody>
      </p:sp>
      <p:sp>
        <p:nvSpPr>
          <p:cNvPr id="14" name="Text 11"/>
          <p:cNvSpPr/>
          <p:nvPr/>
        </p:nvSpPr>
        <p:spPr>
          <a:xfrm>
            <a:off x="3550920" y="3543300"/>
            <a:ext cx="222504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182B45"/>
                </a:solidFill>
                <a:latin typeface="Arial" pitchFamily="34" charset="0"/>
                <a:ea typeface="Arial" pitchFamily="34" charset="-122"/>
                <a:cs typeface="Arial" pitchFamily="34" charset="-120"/>
              </a:rPr>
              <a:t>Cifra com a chave</a:t>
            </a:r>
            <a:endParaRPr lang="en-US" sz="1800" dirty="0"/>
          </a:p>
        </p:txBody>
      </p:sp>
      <p:sp>
        <p:nvSpPr>
          <p:cNvPr id="15" name="Shape 12"/>
          <p:cNvSpPr/>
          <p:nvPr/>
        </p:nvSpPr>
        <p:spPr>
          <a:xfrm>
            <a:off x="5996940" y="3543300"/>
            <a:ext cx="190500" cy="0"/>
          </a:xfrm>
          <a:prstGeom prst="line">
            <a:avLst/>
          </a:prstGeom>
          <a:noFill/>
          <a:ln w="30480">
            <a:solidFill>
              <a:srgbClr val="2165D6"/>
            </a:solidFill>
            <a:prstDash val="solid"/>
            <a:tailEnd type="triangle"/>
          </a:ln>
        </p:spPr>
      </p:sp>
      <p:sp>
        <p:nvSpPr>
          <p:cNvPr id="16" name="Shape 13"/>
          <p:cNvSpPr/>
          <p:nvPr/>
        </p:nvSpPr>
        <p:spPr>
          <a:xfrm>
            <a:off x="6248400" y="2628900"/>
            <a:ext cx="2590800" cy="1813560"/>
          </a:xfrm>
          <a:prstGeom prst="roundRect">
            <a:avLst>
              <a:gd name="adj" fmla="val 7563"/>
            </a:avLst>
          </a:prstGeom>
          <a:solidFill>
            <a:srgbClr val="FFFFFF"/>
          </a:solidFill>
          <a:ln w="12700">
            <a:solidFill>
              <a:srgbClr val="D7E1EE"/>
            </a:solidFill>
            <a:prstDash val="solid"/>
          </a:ln>
        </p:spPr>
      </p:sp>
      <p:sp>
        <p:nvSpPr>
          <p:cNvPr id="17" name="Text 14"/>
          <p:cNvSpPr/>
          <p:nvPr/>
        </p:nvSpPr>
        <p:spPr>
          <a:xfrm>
            <a:off x="6431280" y="2865120"/>
            <a:ext cx="2225040" cy="226771"/>
          </a:xfrm>
          <a:prstGeom prst="rect">
            <a:avLst/>
          </a:prstGeom>
          <a:noFill/>
          <a:ln/>
        </p:spPr>
        <p:txBody>
          <a:bodyPr wrap="square" lIns="0" tIns="0" rIns="0" bIns="0" rtlCol="0" anchor="ctr"/>
          <a:lstStyle/>
          <a:p>
            <a:pPr algn="l" indent="0" marL="0">
              <a:lnSpc>
                <a:spcPct val="100000"/>
              </a:lnSpc>
              <a:buNone/>
            </a:pPr>
            <a:r>
              <a:rPr lang="en-US" sz="1440" b="1" dirty="0">
                <a:solidFill>
                  <a:srgbClr val="2165D6"/>
                </a:solidFill>
                <a:latin typeface="Arial" pitchFamily="34" charset="0"/>
                <a:ea typeface="Arial" pitchFamily="34" charset="-122"/>
                <a:cs typeface="Arial" pitchFamily="34" charset="-120"/>
              </a:rPr>
              <a:t>UART</a:t>
            </a:r>
            <a:endParaRPr lang="en-US" sz="1440" dirty="0"/>
          </a:p>
        </p:txBody>
      </p:sp>
      <p:sp>
        <p:nvSpPr>
          <p:cNvPr id="18" name="Text 15"/>
          <p:cNvSpPr/>
          <p:nvPr/>
        </p:nvSpPr>
        <p:spPr>
          <a:xfrm>
            <a:off x="6431280" y="3543300"/>
            <a:ext cx="222504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182B45"/>
                </a:solidFill>
                <a:latin typeface="Arial" pitchFamily="34" charset="0"/>
                <a:ea typeface="Arial" pitchFamily="34" charset="-122"/>
                <a:cs typeface="Arial" pitchFamily="34" charset="-120"/>
              </a:rPr>
              <a:t>2e 3e 46 0e …</a:t>
            </a:r>
            <a:endParaRPr lang="en-US" sz="1800" dirty="0"/>
          </a:p>
        </p:txBody>
      </p:sp>
      <p:sp>
        <p:nvSpPr>
          <p:cNvPr id="19" name="Shape 16"/>
          <p:cNvSpPr/>
          <p:nvPr/>
        </p:nvSpPr>
        <p:spPr>
          <a:xfrm>
            <a:off x="8877300" y="3543300"/>
            <a:ext cx="190500" cy="0"/>
          </a:xfrm>
          <a:prstGeom prst="line">
            <a:avLst/>
          </a:prstGeom>
          <a:noFill/>
          <a:ln w="30480">
            <a:solidFill>
              <a:srgbClr val="2165D6"/>
            </a:solidFill>
            <a:prstDash val="solid"/>
            <a:tailEnd type="triangle"/>
          </a:ln>
        </p:spPr>
      </p:sp>
      <p:sp>
        <p:nvSpPr>
          <p:cNvPr id="20" name="Shape 17"/>
          <p:cNvSpPr/>
          <p:nvPr/>
        </p:nvSpPr>
        <p:spPr>
          <a:xfrm>
            <a:off x="9128760" y="2628900"/>
            <a:ext cx="2590800" cy="1813560"/>
          </a:xfrm>
          <a:prstGeom prst="roundRect">
            <a:avLst>
              <a:gd name="adj" fmla="val 7563"/>
            </a:avLst>
          </a:prstGeom>
          <a:solidFill>
            <a:srgbClr val="FFFFFF"/>
          </a:solidFill>
          <a:ln w="12700">
            <a:solidFill>
              <a:srgbClr val="D7E1EE"/>
            </a:solidFill>
            <a:prstDash val="solid"/>
          </a:ln>
        </p:spPr>
      </p:sp>
      <p:sp>
        <p:nvSpPr>
          <p:cNvPr id="21" name="Text 18"/>
          <p:cNvSpPr/>
          <p:nvPr/>
        </p:nvSpPr>
        <p:spPr>
          <a:xfrm>
            <a:off x="9311640" y="2865120"/>
            <a:ext cx="2225040" cy="226771"/>
          </a:xfrm>
          <a:prstGeom prst="rect">
            <a:avLst/>
          </a:prstGeom>
          <a:noFill/>
          <a:ln/>
        </p:spPr>
        <p:txBody>
          <a:bodyPr wrap="square" lIns="0" tIns="0" rIns="0" bIns="0" rtlCol="0" anchor="ctr"/>
          <a:lstStyle/>
          <a:p>
            <a:pPr algn="l" indent="0" marL="0">
              <a:lnSpc>
                <a:spcPct val="100000"/>
              </a:lnSpc>
              <a:buNone/>
            </a:pPr>
            <a:r>
              <a:rPr lang="en-US" sz="1440" b="1" dirty="0">
                <a:solidFill>
                  <a:srgbClr val="008774"/>
                </a:solidFill>
                <a:latin typeface="Arial" pitchFamily="34" charset="0"/>
                <a:ea typeface="Arial" pitchFamily="34" charset="-122"/>
                <a:cs typeface="Arial" pitchFamily="34" charset="-120"/>
              </a:rPr>
              <a:t>ESP32 B</a:t>
            </a:r>
            <a:endParaRPr lang="en-US" sz="1440" dirty="0"/>
          </a:p>
        </p:txBody>
      </p:sp>
      <p:sp>
        <p:nvSpPr>
          <p:cNvPr id="22" name="Text 19"/>
          <p:cNvSpPr/>
          <p:nvPr/>
        </p:nvSpPr>
        <p:spPr>
          <a:xfrm>
            <a:off x="9311640" y="3543300"/>
            <a:ext cx="222504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182B45"/>
                </a:solidFill>
                <a:latin typeface="Arial" pitchFamily="34" charset="0"/>
                <a:ea typeface="Arial" pitchFamily="34" charset="-122"/>
                <a:cs typeface="Arial" pitchFamily="34" charset="-120"/>
              </a:rPr>
              <a:t>Decifra com a chave</a:t>
            </a:r>
            <a:endParaRPr lang="en-US" sz="1800" dirty="0"/>
          </a:p>
        </p:txBody>
      </p:sp>
      <p:sp>
        <p:nvSpPr>
          <p:cNvPr id="23" name="Shape 20"/>
          <p:cNvSpPr/>
          <p:nvPr/>
        </p:nvSpPr>
        <p:spPr>
          <a:xfrm>
            <a:off x="487680" y="5135880"/>
            <a:ext cx="11216640" cy="502920"/>
          </a:xfrm>
          <a:prstGeom prst="roundRect">
            <a:avLst>
              <a:gd name="adj" fmla="val 21212"/>
            </a:avLst>
          </a:prstGeom>
          <a:solidFill>
            <a:srgbClr val="EAF1FF"/>
          </a:solidFill>
          <a:ln w="12700">
            <a:solidFill>
              <a:srgbClr val="EAF1FF">
                <a:alpha val="0"/>
              </a:srgbClr>
            </a:solidFill>
            <a:prstDash val="solid"/>
          </a:ln>
        </p:spPr>
      </p:sp>
      <p:sp>
        <p:nvSpPr>
          <p:cNvPr id="24" name="Text 21"/>
          <p:cNvSpPr/>
          <p:nvPr/>
        </p:nvSpPr>
        <p:spPr>
          <a:xfrm>
            <a:off x="670560" y="525780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O teste final compara o texto original com o texto recuperado, byte por byte.</a:t>
            </a:r>
            <a:endParaRPr lang="en-US" sz="1560" dirty="0"/>
          </a:p>
        </p:txBody>
      </p:sp>
      <p:sp>
        <p:nvSpPr>
          <p:cNvPr id="25" name="Shape 22"/>
          <p:cNvSpPr/>
          <p:nvPr/>
        </p:nvSpPr>
        <p:spPr>
          <a:xfrm>
            <a:off x="487680" y="6461760"/>
            <a:ext cx="11216640" cy="0"/>
          </a:xfrm>
          <a:prstGeom prst="line">
            <a:avLst/>
          </a:prstGeom>
          <a:noFill/>
          <a:ln w="7620">
            <a:solidFill>
              <a:srgbClr val="D7E1EE"/>
            </a:solidFill>
            <a:prstDash val="solid"/>
          </a:ln>
        </p:spPr>
      </p:sp>
      <p:sp>
        <p:nvSpPr>
          <p:cNvPr id="26" name="Text 23"/>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7" name="Text 24"/>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02 / 27</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MONTAGEM FÍSICA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Dois caminhos: UART para dados, USB para observar</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TX é a saída de dados. RX é a entrada. GND dá uma referência elétrica comum.</a:t>
            </a:r>
            <a:endParaRPr lang="en-US" sz="1620" dirty="0"/>
          </a:p>
        </p:txBody>
      </p:sp>
      <p:sp>
        <p:nvSpPr>
          <p:cNvPr id="8" name="Shape 5"/>
          <p:cNvSpPr/>
          <p:nvPr/>
        </p:nvSpPr>
        <p:spPr>
          <a:xfrm>
            <a:off x="769620" y="2430780"/>
            <a:ext cx="2400300" cy="2628900"/>
          </a:xfrm>
          <a:prstGeom prst="roundRect">
            <a:avLst>
              <a:gd name="adj" fmla="val 6984"/>
            </a:avLst>
          </a:prstGeom>
          <a:solidFill>
            <a:srgbClr val="FFFFFF"/>
          </a:solidFill>
          <a:ln w="12700">
            <a:solidFill>
              <a:srgbClr val="D7E1EE"/>
            </a:solidFill>
            <a:prstDash val="solid"/>
          </a:ln>
        </p:spPr>
      </p:sp>
      <p:sp>
        <p:nvSpPr>
          <p:cNvPr id="9" name="Shape 6"/>
          <p:cNvSpPr/>
          <p:nvPr/>
        </p:nvSpPr>
        <p:spPr>
          <a:xfrm>
            <a:off x="1066800" y="2705100"/>
            <a:ext cx="1805940" cy="1798320"/>
          </a:xfrm>
          <a:prstGeom prst="roundRect">
            <a:avLst>
              <a:gd name="adj" fmla="val 6356"/>
            </a:avLst>
          </a:prstGeom>
          <a:solidFill>
            <a:srgbClr val="182B45"/>
          </a:solidFill>
          <a:ln w="12700">
            <a:solidFill>
              <a:srgbClr val="182B45">
                <a:alpha val="0"/>
              </a:srgbClr>
            </a:solidFill>
            <a:prstDash val="solid"/>
          </a:ln>
        </p:spPr>
      </p:sp>
      <p:sp>
        <p:nvSpPr>
          <p:cNvPr id="10" name="Shape 7"/>
          <p:cNvSpPr/>
          <p:nvPr/>
        </p:nvSpPr>
        <p:spPr>
          <a:xfrm>
            <a:off x="944880" y="2849880"/>
            <a:ext cx="160020" cy="76200"/>
          </a:xfrm>
          <a:prstGeom prst="roundRect">
            <a:avLst>
              <a:gd name="adj" fmla="val 20000"/>
            </a:avLst>
          </a:prstGeom>
          <a:solidFill>
            <a:srgbClr val="A76A12"/>
          </a:solidFill>
          <a:ln w="12700">
            <a:solidFill>
              <a:srgbClr val="A76A12">
                <a:alpha val="0"/>
              </a:srgbClr>
            </a:solidFill>
            <a:prstDash val="solid"/>
          </a:ln>
        </p:spPr>
      </p:sp>
      <p:sp>
        <p:nvSpPr>
          <p:cNvPr id="11" name="Shape 8"/>
          <p:cNvSpPr/>
          <p:nvPr/>
        </p:nvSpPr>
        <p:spPr>
          <a:xfrm>
            <a:off x="2834640" y="2849880"/>
            <a:ext cx="160020" cy="76200"/>
          </a:xfrm>
          <a:prstGeom prst="roundRect">
            <a:avLst>
              <a:gd name="adj" fmla="val 20000"/>
            </a:avLst>
          </a:prstGeom>
          <a:solidFill>
            <a:srgbClr val="A76A12"/>
          </a:solidFill>
          <a:ln w="12700">
            <a:solidFill>
              <a:srgbClr val="A76A12">
                <a:alpha val="0"/>
              </a:srgbClr>
            </a:solidFill>
            <a:prstDash val="solid"/>
          </a:ln>
        </p:spPr>
      </p:sp>
      <p:sp>
        <p:nvSpPr>
          <p:cNvPr id="12" name="Shape 9"/>
          <p:cNvSpPr/>
          <p:nvPr/>
        </p:nvSpPr>
        <p:spPr>
          <a:xfrm>
            <a:off x="944880" y="3032760"/>
            <a:ext cx="160020" cy="76200"/>
          </a:xfrm>
          <a:prstGeom prst="roundRect">
            <a:avLst>
              <a:gd name="adj" fmla="val 20000"/>
            </a:avLst>
          </a:prstGeom>
          <a:solidFill>
            <a:srgbClr val="A76A12"/>
          </a:solidFill>
          <a:ln w="12700">
            <a:solidFill>
              <a:srgbClr val="A76A12">
                <a:alpha val="0"/>
              </a:srgbClr>
            </a:solidFill>
            <a:prstDash val="solid"/>
          </a:ln>
        </p:spPr>
      </p:sp>
      <p:sp>
        <p:nvSpPr>
          <p:cNvPr id="13" name="Shape 10"/>
          <p:cNvSpPr/>
          <p:nvPr/>
        </p:nvSpPr>
        <p:spPr>
          <a:xfrm>
            <a:off x="2834640" y="3032760"/>
            <a:ext cx="160020" cy="76200"/>
          </a:xfrm>
          <a:prstGeom prst="roundRect">
            <a:avLst>
              <a:gd name="adj" fmla="val 20000"/>
            </a:avLst>
          </a:prstGeom>
          <a:solidFill>
            <a:srgbClr val="A76A12"/>
          </a:solidFill>
          <a:ln w="12700">
            <a:solidFill>
              <a:srgbClr val="A76A12">
                <a:alpha val="0"/>
              </a:srgbClr>
            </a:solidFill>
            <a:prstDash val="solid"/>
          </a:ln>
        </p:spPr>
      </p:sp>
      <p:sp>
        <p:nvSpPr>
          <p:cNvPr id="14" name="Shape 11"/>
          <p:cNvSpPr/>
          <p:nvPr/>
        </p:nvSpPr>
        <p:spPr>
          <a:xfrm>
            <a:off x="944880" y="3215640"/>
            <a:ext cx="160020" cy="76200"/>
          </a:xfrm>
          <a:prstGeom prst="roundRect">
            <a:avLst>
              <a:gd name="adj" fmla="val 20000"/>
            </a:avLst>
          </a:prstGeom>
          <a:solidFill>
            <a:srgbClr val="A76A12"/>
          </a:solidFill>
          <a:ln w="12700">
            <a:solidFill>
              <a:srgbClr val="A76A12">
                <a:alpha val="0"/>
              </a:srgbClr>
            </a:solidFill>
            <a:prstDash val="solid"/>
          </a:ln>
        </p:spPr>
      </p:sp>
      <p:sp>
        <p:nvSpPr>
          <p:cNvPr id="15" name="Shape 12"/>
          <p:cNvSpPr/>
          <p:nvPr/>
        </p:nvSpPr>
        <p:spPr>
          <a:xfrm>
            <a:off x="2834640" y="3215640"/>
            <a:ext cx="160020" cy="76200"/>
          </a:xfrm>
          <a:prstGeom prst="roundRect">
            <a:avLst>
              <a:gd name="adj" fmla="val 20000"/>
            </a:avLst>
          </a:prstGeom>
          <a:solidFill>
            <a:srgbClr val="A76A12"/>
          </a:solidFill>
          <a:ln w="12700">
            <a:solidFill>
              <a:srgbClr val="A76A12">
                <a:alpha val="0"/>
              </a:srgbClr>
            </a:solidFill>
            <a:prstDash val="solid"/>
          </a:ln>
        </p:spPr>
      </p:sp>
      <p:sp>
        <p:nvSpPr>
          <p:cNvPr id="16" name="Shape 13"/>
          <p:cNvSpPr/>
          <p:nvPr/>
        </p:nvSpPr>
        <p:spPr>
          <a:xfrm>
            <a:off x="944880" y="3398520"/>
            <a:ext cx="160020" cy="76200"/>
          </a:xfrm>
          <a:prstGeom prst="roundRect">
            <a:avLst>
              <a:gd name="adj" fmla="val 20000"/>
            </a:avLst>
          </a:prstGeom>
          <a:solidFill>
            <a:srgbClr val="A76A12"/>
          </a:solidFill>
          <a:ln w="12700">
            <a:solidFill>
              <a:srgbClr val="A76A12">
                <a:alpha val="0"/>
              </a:srgbClr>
            </a:solidFill>
            <a:prstDash val="solid"/>
          </a:ln>
        </p:spPr>
      </p:sp>
      <p:sp>
        <p:nvSpPr>
          <p:cNvPr id="17" name="Shape 14"/>
          <p:cNvSpPr/>
          <p:nvPr/>
        </p:nvSpPr>
        <p:spPr>
          <a:xfrm>
            <a:off x="2834640" y="3398520"/>
            <a:ext cx="160020" cy="76200"/>
          </a:xfrm>
          <a:prstGeom prst="roundRect">
            <a:avLst>
              <a:gd name="adj" fmla="val 20000"/>
            </a:avLst>
          </a:prstGeom>
          <a:solidFill>
            <a:srgbClr val="A76A12"/>
          </a:solidFill>
          <a:ln w="12700">
            <a:solidFill>
              <a:srgbClr val="A76A12">
                <a:alpha val="0"/>
              </a:srgbClr>
            </a:solidFill>
            <a:prstDash val="solid"/>
          </a:ln>
        </p:spPr>
      </p:sp>
      <p:sp>
        <p:nvSpPr>
          <p:cNvPr id="18" name="Shape 15"/>
          <p:cNvSpPr/>
          <p:nvPr/>
        </p:nvSpPr>
        <p:spPr>
          <a:xfrm>
            <a:off x="944880" y="3581400"/>
            <a:ext cx="160020" cy="76200"/>
          </a:xfrm>
          <a:prstGeom prst="roundRect">
            <a:avLst>
              <a:gd name="adj" fmla="val 20000"/>
            </a:avLst>
          </a:prstGeom>
          <a:solidFill>
            <a:srgbClr val="A76A12"/>
          </a:solidFill>
          <a:ln w="12700">
            <a:solidFill>
              <a:srgbClr val="A76A12">
                <a:alpha val="0"/>
              </a:srgbClr>
            </a:solidFill>
            <a:prstDash val="solid"/>
          </a:ln>
        </p:spPr>
      </p:sp>
      <p:sp>
        <p:nvSpPr>
          <p:cNvPr id="19" name="Shape 16"/>
          <p:cNvSpPr/>
          <p:nvPr/>
        </p:nvSpPr>
        <p:spPr>
          <a:xfrm>
            <a:off x="2834640" y="3581400"/>
            <a:ext cx="160020" cy="76200"/>
          </a:xfrm>
          <a:prstGeom prst="roundRect">
            <a:avLst>
              <a:gd name="adj" fmla="val 20000"/>
            </a:avLst>
          </a:prstGeom>
          <a:solidFill>
            <a:srgbClr val="A76A12"/>
          </a:solidFill>
          <a:ln w="12700">
            <a:solidFill>
              <a:srgbClr val="A76A12">
                <a:alpha val="0"/>
              </a:srgbClr>
            </a:solidFill>
            <a:prstDash val="solid"/>
          </a:ln>
        </p:spPr>
      </p:sp>
      <p:sp>
        <p:nvSpPr>
          <p:cNvPr id="20" name="Shape 17"/>
          <p:cNvSpPr/>
          <p:nvPr/>
        </p:nvSpPr>
        <p:spPr>
          <a:xfrm>
            <a:off x="944880" y="3764280"/>
            <a:ext cx="160020" cy="76200"/>
          </a:xfrm>
          <a:prstGeom prst="roundRect">
            <a:avLst>
              <a:gd name="adj" fmla="val 20000"/>
            </a:avLst>
          </a:prstGeom>
          <a:solidFill>
            <a:srgbClr val="A76A12"/>
          </a:solidFill>
          <a:ln w="12700">
            <a:solidFill>
              <a:srgbClr val="A76A12">
                <a:alpha val="0"/>
              </a:srgbClr>
            </a:solidFill>
            <a:prstDash val="solid"/>
          </a:ln>
        </p:spPr>
      </p:sp>
      <p:sp>
        <p:nvSpPr>
          <p:cNvPr id="21" name="Shape 18"/>
          <p:cNvSpPr/>
          <p:nvPr/>
        </p:nvSpPr>
        <p:spPr>
          <a:xfrm>
            <a:off x="2834640" y="3764280"/>
            <a:ext cx="160020" cy="76200"/>
          </a:xfrm>
          <a:prstGeom prst="roundRect">
            <a:avLst>
              <a:gd name="adj" fmla="val 20000"/>
            </a:avLst>
          </a:prstGeom>
          <a:solidFill>
            <a:srgbClr val="A76A12"/>
          </a:solidFill>
          <a:ln w="12700">
            <a:solidFill>
              <a:srgbClr val="A76A12">
                <a:alpha val="0"/>
              </a:srgbClr>
            </a:solidFill>
            <a:prstDash val="solid"/>
          </a:ln>
        </p:spPr>
      </p:sp>
      <p:sp>
        <p:nvSpPr>
          <p:cNvPr id="22" name="Shape 19"/>
          <p:cNvSpPr/>
          <p:nvPr/>
        </p:nvSpPr>
        <p:spPr>
          <a:xfrm>
            <a:off x="944880" y="3947160"/>
            <a:ext cx="160020" cy="76200"/>
          </a:xfrm>
          <a:prstGeom prst="roundRect">
            <a:avLst>
              <a:gd name="adj" fmla="val 20000"/>
            </a:avLst>
          </a:prstGeom>
          <a:solidFill>
            <a:srgbClr val="A76A12"/>
          </a:solidFill>
          <a:ln w="12700">
            <a:solidFill>
              <a:srgbClr val="A76A12">
                <a:alpha val="0"/>
              </a:srgbClr>
            </a:solidFill>
            <a:prstDash val="solid"/>
          </a:ln>
        </p:spPr>
      </p:sp>
      <p:sp>
        <p:nvSpPr>
          <p:cNvPr id="23" name="Shape 20"/>
          <p:cNvSpPr/>
          <p:nvPr/>
        </p:nvSpPr>
        <p:spPr>
          <a:xfrm>
            <a:off x="2834640" y="3947160"/>
            <a:ext cx="160020" cy="76200"/>
          </a:xfrm>
          <a:prstGeom prst="roundRect">
            <a:avLst>
              <a:gd name="adj" fmla="val 20000"/>
            </a:avLst>
          </a:prstGeom>
          <a:solidFill>
            <a:srgbClr val="A76A12"/>
          </a:solidFill>
          <a:ln w="12700">
            <a:solidFill>
              <a:srgbClr val="A76A12">
                <a:alpha val="0"/>
              </a:srgbClr>
            </a:solidFill>
            <a:prstDash val="solid"/>
          </a:ln>
        </p:spPr>
      </p:sp>
      <p:sp>
        <p:nvSpPr>
          <p:cNvPr id="24" name="Shape 21"/>
          <p:cNvSpPr/>
          <p:nvPr/>
        </p:nvSpPr>
        <p:spPr>
          <a:xfrm>
            <a:off x="944880" y="4130040"/>
            <a:ext cx="160020" cy="76200"/>
          </a:xfrm>
          <a:prstGeom prst="roundRect">
            <a:avLst>
              <a:gd name="adj" fmla="val 20000"/>
            </a:avLst>
          </a:prstGeom>
          <a:solidFill>
            <a:srgbClr val="A76A12"/>
          </a:solidFill>
          <a:ln w="12700">
            <a:solidFill>
              <a:srgbClr val="A76A12">
                <a:alpha val="0"/>
              </a:srgbClr>
            </a:solidFill>
            <a:prstDash val="solid"/>
          </a:ln>
        </p:spPr>
      </p:sp>
      <p:sp>
        <p:nvSpPr>
          <p:cNvPr id="25" name="Shape 22"/>
          <p:cNvSpPr/>
          <p:nvPr/>
        </p:nvSpPr>
        <p:spPr>
          <a:xfrm>
            <a:off x="2834640" y="4130040"/>
            <a:ext cx="160020" cy="76200"/>
          </a:xfrm>
          <a:prstGeom prst="roundRect">
            <a:avLst>
              <a:gd name="adj" fmla="val 20000"/>
            </a:avLst>
          </a:prstGeom>
          <a:solidFill>
            <a:srgbClr val="A76A12"/>
          </a:solidFill>
          <a:ln w="12700">
            <a:solidFill>
              <a:srgbClr val="A76A12">
                <a:alpha val="0"/>
              </a:srgbClr>
            </a:solidFill>
            <a:prstDash val="solid"/>
          </a:ln>
        </p:spPr>
      </p:sp>
      <p:sp>
        <p:nvSpPr>
          <p:cNvPr id="26" name="Shape 23"/>
          <p:cNvSpPr/>
          <p:nvPr/>
        </p:nvSpPr>
        <p:spPr>
          <a:xfrm>
            <a:off x="1348740" y="2964180"/>
            <a:ext cx="1226820" cy="838200"/>
          </a:xfrm>
          <a:prstGeom prst="roundRect">
            <a:avLst>
              <a:gd name="adj" fmla="val 7273"/>
            </a:avLst>
          </a:prstGeom>
          <a:solidFill>
            <a:srgbClr val="CED8E3"/>
          </a:solidFill>
          <a:ln w="12700">
            <a:solidFill>
              <a:srgbClr val="CED8E3">
                <a:alpha val="0"/>
              </a:srgbClr>
            </a:solidFill>
            <a:prstDash val="solid"/>
          </a:ln>
        </p:spPr>
      </p:sp>
      <p:sp>
        <p:nvSpPr>
          <p:cNvPr id="27" name="Text 24"/>
          <p:cNvSpPr/>
          <p:nvPr/>
        </p:nvSpPr>
        <p:spPr>
          <a:xfrm>
            <a:off x="1417320" y="3169920"/>
            <a:ext cx="1097280" cy="321259"/>
          </a:xfrm>
          <a:prstGeom prst="rect">
            <a:avLst/>
          </a:prstGeom>
          <a:noFill/>
          <a:ln/>
        </p:spPr>
        <p:txBody>
          <a:bodyPr wrap="square" lIns="0" tIns="0" rIns="0" bIns="0" rtlCol="0" anchor="ctr"/>
          <a:lstStyle/>
          <a:p>
            <a:pPr algn="ctr" indent="0" marL="0">
              <a:lnSpc>
                <a:spcPct val="100000"/>
              </a:lnSpc>
              <a:buNone/>
            </a:pPr>
            <a:r>
              <a:rPr lang="en-US" sz="2040" b="1" dirty="0">
                <a:solidFill>
                  <a:srgbClr val="182B45"/>
                </a:solidFill>
                <a:latin typeface="Arial" pitchFamily="34" charset="0"/>
                <a:ea typeface="Arial" pitchFamily="34" charset="-122"/>
                <a:cs typeface="Arial" pitchFamily="34" charset="-120"/>
              </a:rPr>
              <a:t>ESP32</a:t>
            </a:r>
            <a:endParaRPr lang="en-US" sz="2040" dirty="0"/>
          </a:p>
        </p:txBody>
      </p:sp>
      <p:sp>
        <p:nvSpPr>
          <p:cNvPr id="28" name="Shape 25"/>
          <p:cNvSpPr/>
          <p:nvPr/>
        </p:nvSpPr>
        <p:spPr>
          <a:xfrm>
            <a:off x="1729740" y="4183380"/>
            <a:ext cx="480060" cy="449580"/>
          </a:xfrm>
          <a:prstGeom prst="roundRect">
            <a:avLst>
              <a:gd name="adj" fmla="val 10169"/>
            </a:avLst>
          </a:prstGeom>
          <a:solidFill>
            <a:srgbClr val="C0CAD8"/>
          </a:solidFill>
          <a:ln w="12700">
            <a:solidFill>
              <a:srgbClr val="C0CAD8">
                <a:alpha val="0"/>
              </a:srgbClr>
            </a:solidFill>
            <a:prstDash val="solid"/>
          </a:ln>
        </p:spPr>
      </p:sp>
      <p:sp>
        <p:nvSpPr>
          <p:cNvPr id="29" name="Text 26"/>
          <p:cNvSpPr/>
          <p:nvPr/>
        </p:nvSpPr>
        <p:spPr>
          <a:xfrm>
            <a:off x="1706880" y="4290060"/>
            <a:ext cx="533400" cy="179527"/>
          </a:xfrm>
          <a:prstGeom prst="rect">
            <a:avLst/>
          </a:prstGeom>
          <a:noFill/>
          <a:ln/>
        </p:spPr>
        <p:txBody>
          <a:bodyPr wrap="square" lIns="0" tIns="0" rIns="0" bIns="0" rtlCol="0" anchor="ctr"/>
          <a:lstStyle/>
          <a:p>
            <a:pPr algn="ctr" indent="0" marL="0">
              <a:lnSpc>
                <a:spcPct val="100000"/>
              </a:lnSpc>
              <a:buNone/>
            </a:pPr>
            <a:r>
              <a:rPr lang="en-US" sz="1140" b="1" dirty="0">
                <a:solidFill>
                  <a:srgbClr val="182B45"/>
                </a:solidFill>
                <a:latin typeface="Arial" pitchFamily="34" charset="0"/>
                <a:ea typeface="Arial" pitchFamily="34" charset="-122"/>
                <a:cs typeface="Arial" pitchFamily="34" charset="-120"/>
              </a:rPr>
              <a:t>USB</a:t>
            </a:r>
            <a:endParaRPr lang="en-US" sz="1140" dirty="0"/>
          </a:p>
        </p:txBody>
      </p:sp>
      <p:sp>
        <p:nvSpPr>
          <p:cNvPr id="30" name="Text 27"/>
          <p:cNvSpPr/>
          <p:nvPr/>
        </p:nvSpPr>
        <p:spPr>
          <a:xfrm>
            <a:off x="960120" y="4671060"/>
            <a:ext cx="2019300" cy="283464"/>
          </a:xfrm>
          <a:prstGeom prst="rect">
            <a:avLst/>
          </a:prstGeom>
          <a:noFill/>
          <a:ln/>
        </p:spPr>
        <p:txBody>
          <a:bodyPr wrap="square" lIns="0" tIns="0" rIns="0" bIns="0" rtlCol="0" anchor="ctr"/>
          <a:lstStyle/>
          <a:p>
            <a:pPr algn="ctr" indent="0" marL="0">
              <a:lnSpc>
                <a:spcPct val="100000"/>
              </a:lnSpc>
              <a:buNone/>
            </a:pPr>
            <a:r>
              <a:rPr lang="en-US" sz="1800" b="1" dirty="0">
                <a:solidFill>
                  <a:srgbClr val="2165D6"/>
                </a:solidFill>
                <a:latin typeface="Arial" pitchFamily="34" charset="0"/>
                <a:ea typeface="Arial" pitchFamily="34" charset="-122"/>
                <a:cs typeface="Arial" pitchFamily="34" charset="-120"/>
              </a:rPr>
              <a:t>A · transmissor</a:t>
            </a:r>
            <a:endParaRPr lang="en-US" sz="1800" dirty="0"/>
          </a:p>
        </p:txBody>
      </p:sp>
      <p:sp>
        <p:nvSpPr>
          <p:cNvPr id="31" name="Shape 28"/>
          <p:cNvSpPr/>
          <p:nvPr/>
        </p:nvSpPr>
        <p:spPr>
          <a:xfrm>
            <a:off x="9029700" y="2430780"/>
            <a:ext cx="2400300" cy="2628900"/>
          </a:xfrm>
          <a:prstGeom prst="roundRect">
            <a:avLst>
              <a:gd name="adj" fmla="val 6984"/>
            </a:avLst>
          </a:prstGeom>
          <a:solidFill>
            <a:srgbClr val="FFFFFF"/>
          </a:solidFill>
          <a:ln w="12700">
            <a:solidFill>
              <a:srgbClr val="D7E1EE"/>
            </a:solidFill>
            <a:prstDash val="solid"/>
          </a:ln>
        </p:spPr>
      </p:sp>
      <p:sp>
        <p:nvSpPr>
          <p:cNvPr id="32" name="Shape 29"/>
          <p:cNvSpPr/>
          <p:nvPr/>
        </p:nvSpPr>
        <p:spPr>
          <a:xfrm>
            <a:off x="9326880" y="2705100"/>
            <a:ext cx="1805940" cy="1798320"/>
          </a:xfrm>
          <a:prstGeom prst="roundRect">
            <a:avLst>
              <a:gd name="adj" fmla="val 6356"/>
            </a:avLst>
          </a:prstGeom>
          <a:solidFill>
            <a:srgbClr val="182B45"/>
          </a:solidFill>
          <a:ln w="12700">
            <a:solidFill>
              <a:srgbClr val="182B45">
                <a:alpha val="0"/>
              </a:srgbClr>
            </a:solidFill>
            <a:prstDash val="solid"/>
          </a:ln>
        </p:spPr>
      </p:sp>
      <p:sp>
        <p:nvSpPr>
          <p:cNvPr id="33" name="Shape 30"/>
          <p:cNvSpPr/>
          <p:nvPr/>
        </p:nvSpPr>
        <p:spPr>
          <a:xfrm>
            <a:off x="9204960" y="2849880"/>
            <a:ext cx="160020" cy="76200"/>
          </a:xfrm>
          <a:prstGeom prst="roundRect">
            <a:avLst>
              <a:gd name="adj" fmla="val 20000"/>
            </a:avLst>
          </a:prstGeom>
          <a:solidFill>
            <a:srgbClr val="A76A12"/>
          </a:solidFill>
          <a:ln w="12700">
            <a:solidFill>
              <a:srgbClr val="A76A12">
                <a:alpha val="0"/>
              </a:srgbClr>
            </a:solidFill>
            <a:prstDash val="solid"/>
          </a:ln>
        </p:spPr>
      </p:sp>
      <p:sp>
        <p:nvSpPr>
          <p:cNvPr id="34" name="Shape 31"/>
          <p:cNvSpPr/>
          <p:nvPr/>
        </p:nvSpPr>
        <p:spPr>
          <a:xfrm>
            <a:off x="11094720" y="2849880"/>
            <a:ext cx="160020" cy="76200"/>
          </a:xfrm>
          <a:prstGeom prst="roundRect">
            <a:avLst>
              <a:gd name="adj" fmla="val 20000"/>
            </a:avLst>
          </a:prstGeom>
          <a:solidFill>
            <a:srgbClr val="A76A12"/>
          </a:solidFill>
          <a:ln w="12700">
            <a:solidFill>
              <a:srgbClr val="A76A12">
                <a:alpha val="0"/>
              </a:srgbClr>
            </a:solidFill>
            <a:prstDash val="solid"/>
          </a:ln>
        </p:spPr>
      </p:sp>
      <p:sp>
        <p:nvSpPr>
          <p:cNvPr id="35" name="Shape 32"/>
          <p:cNvSpPr/>
          <p:nvPr/>
        </p:nvSpPr>
        <p:spPr>
          <a:xfrm>
            <a:off x="9204960" y="3032760"/>
            <a:ext cx="160020" cy="76200"/>
          </a:xfrm>
          <a:prstGeom prst="roundRect">
            <a:avLst>
              <a:gd name="adj" fmla="val 20000"/>
            </a:avLst>
          </a:prstGeom>
          <a:solidFill>
            <a:srgbClr val="A76A12"/>
          </a:solidFill>
          <a:ln w="12700">
            <a:solidFill>
              <a:srgbClr val="A76A12">
                <a:alpha val="0"/>
              </a:srgbClr>
            </a:solidFill>
            <a:prstDash val="solid"/>
          </a:ln>
        </p:spPr>
      </p:sp>
      <p:sp>
        <p:nvSpPr>
          <p:cNvPr id="36" name="Shape 33"/>
          <p:cNvSpPr/>
          <p:nvPr/>
        </p:nvSpPr>
        <p:spPr>
          <a:xfrm>
            <a:off x="11094720" y="3032760"/>
            <a:ext cx="160020" cy="76200"/>
          </a:xfrm>
          <a:prstGeom prst="roundRect">
            <a:avLst>
              <a:gd name="adj" fmla="val 20000"/>
            </a:avLst>
          </a:prstGeom>
          <a:solidFill>
            <a:srgbClr val="A76A12"/>
          </a:solidFill>
          <a:ln w="12700">
            <a:solidFill>
              <a:srgbClr val="A76A12">
                <a:alpha val="0"/>
              </a:srgbClr>
            </a:solidFill>
            <a:prstDash val="solid"/>
          </a:ln>
        </p:spPr>
      </p:sp>
      <p:sp>
        <p:nvSpPr>
          <p:cNvPr id="37" name="Shape 34"/>
          <p:cNvSpPr/>
          <p:nvPr/>
        </p:nvSpPr>
        <p:spPr>
          <a:xfrm>
            <a:off x="9204960" y="3215640"/>
            <a:ext cx="160020" cy="76200"/>
          </a:xfrm>
          <a:prstGeom prst="roundRect">
            <a:avLst>
              <a:gd name="adj" fmla="val 20000"/>
            </a:avLst>
          </a:prstGeom>
          <a:solidFill>
            <a:srgbClr val="A76A12"/>
          </a:solidFill>
          <a:ln w="12700">
            <a:solidFill>
              <a:srgbClr val="A76A12">
                <a:alpha val="0"/>
              </a:srgbClr>
            </a:solidFill>
            <a:prstDash val="solid"/>
          </a:ln>
        </p:spPr>
      </p:sp>
      <p:sp>
        <p:nvSpPr>
          <p:cNvPr id="38" name="Shape 35"/>
          <p:cNvSpPr/>
          <p:nvPr/>
        </p:nvSpPr>
        <p:spPr>
          <a:xfrm>
            <a:off x="11094720" y="3215640"/>
            <a:ext cx="160020" cy="76200"/>
          </a:xfrm>
          <a:prstGeom prst="roundRect">
            <a:avLst>
              <a:gd name="adj" fmla="val 20000"/>
            </a:avLst>
          </a:prstGeom>
          <a:solidFill>
            <a:srgbClr val="A76A12"/>
          </a:solidFill>
          <a:ln w="12700">
            <a:solidFill>
              <a:srgbClr val="A76A12">
                <a:alpha val="0"/>
              </a:srgbClr>
            </a:solidFill>
            <a:prstDash val="solid"/>
          </a:ln>
        </p:spPr>
      </p:sp>
      <p:sp>
        <p:nvSpPr>
          <p:cNvPr id="39" name="Shape 36"/>
          <p:cNvSpPr/>
          <p:nvPr/>
        </p:nvSpPr>
        <p:spPr>
          <a:xfrm>
            <a:off x="9204960" y="3398520"/>
            <a:ext cx="160020" cy="76200"/>
          </a:xfrm>
          <a:prstGeom prst="roundRect">
            <a:avLst>
              <a:gd name="adj" fmla="val 20000"/>
            </a:avLst>
          </a:prstGeom>
          <a:solidFill>
            <a:srgbClr val="A76A12"/>
          </a:solidFill>
          <a:ln w="12700">
            <a:solidFill>
              <a:srgbClr val="A76A12">
                <a:alpha val="0"/>
              </a:srgbClr>
            </a:solidFill>
            <a:prstDash val="solid"/>
          </a:ln>
        </p:spPr>
      </p:sp>
      <p:sp>
        <p:nvSpPr>
          <p:cNvPr id="40" name="Shape 37"/>
          <p:cNvSpPr/>
          <p:nvPr/>
        </p:nvSpPr>
        <p:spPr>
          <a:xfrm>
            <a:off x="11094720" y="3398520"/>
            <a:ext cx="160020" cy="76200"/>
          </a:xfrm>
          <a:prstGeom prst="roundRect">
            <a:avLst>
              <a:gd name="adj" fmla="val 20000"/>
            </a:avLst>
          </a:prstGeom>
          <a:solidFill>
            <a:srgbClr val="A76A12"/>
          </a:solidFill>
          <a:ln w="12700">
            <a:solidFill>
              <a:srgbClr val="A76A12">
                <a:alpha val="0"/>
              </a:srgbClr>
            </a:solidFill>
            <a:prstDash val="solid"/>
          </a:ln>
        </p:spPr>
      </p:sp>
      <p:sp>
        <p:nvSpPr>
          <p:cNvPr id="41" name="Shape 38"/>
          <p:cNvSpPr/>
          <p:nvPr/>
        </p:nvSpPr>
        <p:spPr>
          <a:xfrm>
            <a:off x="9204960" y="3581400"/>
            <a:ext cx="160020" cy="76200"/>
          </a:xfrm>
          <a:prstGeom prst="roundRect">
            <a:avLst>
              <a:gd name="adj" fmla="val 20000"/>
            </a:avLst>
          </a:prstGeom>
          <a:solidFill>
            <a:srgbClr val="A76A12"/>
          </a:solidFill>
          <a:ln w="12700">
            <a:solidFill>
              <a:srgbClr val="A76A12">
                <a:alpha val="0"/>
              </a:srgbClr>
            </a:solidFill>
            <a:prstDash val="solid"/>
          </a:ln>
        </p:spPr>
      </p:sp>
      <p:sp>
        <p:nvSpPr>
          <p:cNvPr id="42" name="Shape 39"/>
          <p:cNvSpPr/>
          <p:nvPr/>
        </p:nvSpPr>
        <p:spPr>
          <a:xfrm>
            <a:off x="11094720" y="3581400"/>
            <a:ext cx="160020" cy="76200"/>
          </a:xfrm>
          <a:prstGeom prst="roundRect">
            <a:avLst>
              <a:gd name="adj" fmla="val 20000"/>
            </a:avLst>
          </a:prstGeom>
          <a:solidFill>
            <a:srgbClr val="A76A12"/>
          </a:solidFill>
          <a:ln w="12700">
            <a:solidFill>
              <a:srgbClr val="A76A12">
                <a:alpha val="0"/>
              </a:srgbClr>
            </a:solidFill>
            <a:prstDash val="solid"/>
          </a:ln>
        </p:spPr>
      </p:sp>
      <p:sp>
        <p:nvSpPr>
          <p:cNvPr id="43" name="Shape 40"/>
          <p:cNvSpPr/>
          <p:nvPr/>
        </p:nvSpPr>
        <p:spPr>
          <a:xfrm>
            <a:off x="9204960" y="3764280"/>
            <a:ext cx="160020" cy="76200"/>
          </a:xfrm>
          <a:prstGeom prst="roundRect">
            <a:avLst>
              <a:gd name="adj" fmla="val 20000"/>
            </a:avLst>
          </a:prstGeom>
          <a:solidFill>
            <a:srgbClr val="A76A12"/>
          </a:solidFill>
          <a:ln w="12700">
            <a:solidFill>
              <a:srgbClr val="A76A12">
                <a:alpha val="0"/>
              </a:srgbClr>
            </a:solidFill>
            <a:prstDash val="solid"/>
          </a:ln>
        </p:spPr>
      </p:sp>
      <p:sp>
        <p:nvSpPr>
          <p:cNvPr id="44" name="Shape 41"/>
          <p:cNvSpPr/>
          <p:nvPr/>
        </p:nvSpPr>
        <p:spPr>
          <a:xfrm>
            <a:off x="11094720" y="3764280"/>
            <a:ext cx="160020" cy="76200"/>
          </a:xfrm>
          <a:prstGeom prst="roundRect">
            <a:avLst>
              <a:gd name="adj" fmla="val 20000"/>
            </a:avLst>
          </a:prstGeom>
          <a:solidFill>
            <a:srgbClr val="A76A12"/>
          </a:solidFill>
          <a:ln w="12700">
            <a:solidFill>
              <a:srgbClr val="A76A12">
                <a:alpha val="0"/>
              </a:srgbClr>
            </a:solidFill>
            <a:prstDash val="solid"/>
          </a:ln>
        </p:spPr>
      </p:sp>
      <p:sp>
        <p:nvSpPr>
          <p:cNvPr id="45" name="Shape 42"/>
          <p:cNvSpPr/>
          <p:nvPr/>
        </p:nvSpPr>
        <p:spPr>
          <a:xfrm>
            <a:off x="9204960" y="3947160"/>
            <a:ext cx="160020" cy="76200"/>
          </a:xfrm>
          <a:prstGeom prst="roundRect">
            <a:avLst>
              <a:gd name="adj" fmla="val 20000"/>
            </a:avLst>
          </a:prstGeom>
          <a:solidFill>
            <a:srgbClr val="A76A12"/>
          </a:solidFill>
          <a:ln w="12700">
            <a:solidFill>
              <a:srgbClr val="A76A12">
                <a:alpha val="0"/>
              </a:srgbClr>
            </a:solidFill>
            <a:prstDash val="solid"/>
          </a:ln>
        </p:spPr>
      </p:sp>
      <p:sp>
        <p:nvSpPr>
          <p:cNvPr id="46" name="Shape 43"/>
          <p:cNvSpPr/>
          <p:nvPr/>
        </p:nvSpPr>
        <p:spPr>
          <a:xfrm>
            <a:off x="11094720" y="3947160"/>
            <a:ext cx="160020" cy="76200"/>
          </a:xfrm>
          <a:prstGeom prst="roundRect">
            <a:avLst>
              <a:gd name="adj" fmla="val 20000"/>
            </a:avLst>
          </a:prstGeom>
          <a:solidFill>
            <a:srgbClr val="A76A12"/>
          </a:solidFill>
          <a:ln w="12700">
            <a:solidFill>
              <a:srgbClr val="A76A12">
                <a:alpha val="0"/>
              </a:srgbClr>
            </a:solidFill>
            <a:prstDash val="solid"/>
          </a:ln>
        </p:spPr>
      </p:sp>
      <p:sp>
        <p:nvSpPr>
          <p:cNvPr id="47" name="Shape 44"/>
          <p:cNvSpPr/>
          <p:nvPr/>
        </p:nvSpPr>
        <p:spPr>
          <a:xfrm>
            <a:off x="9204960" y="4130040"/>
            <a:ext cx="160020" cy="76200"/>
          </a:xfrm>
          <a:prstGeom prst="roundRect">
            <a:avLst>
              <a:gd name="adj" fmla="val 20000"/>
            </a:avLst>
          </a:prstGeom>
          <a:solidFill>
            <a:srgbClr val="A76A12"/>
          </a:solidFill>
          <a:ln w="12700">
            <a:solidFill>
              <a:srgbClr val="A76A12">
                <a:alpha val="0"/>
              </a:srgbClr>
            </a:solidFill>
            <a:prstDash val="solid"/>
          </a:ln>
        </p:spPr>
      </p:sp>
      <p:sp>
        <p:nvSpPr>
          <p:cNvPr id="48" name="Shape 45"/>
          <p:cNvSpPr/>
          <p:nvPr/>
        </p:nvSpPr>
        <p:spPr>
          <a:xfrm>
            <a:off x="11094720" y="4130040"/>
            <a:ext cx="160020" cy="76200"/>
          </a:xfrm>
          <a:prstGeom prst="roundRect">
            <a:avLst>
              <a:gd name="adj" fmla="val 20000"/>
            </a:avLst>
          </a:prstGeom>
          <a:solidFill>
            <a:srgbClr val="A76A12"/>
          </a:solidFill>
          <a:ln w="12700">
            <a:solidFill>
              <a:srgbClr val="A76A12">
                <a:alpha val="0"/>
              </a:srgbClr>
            </a:solidFill>
            <a:prstDash val="solid"/>
          </a:ln>
        </p:spPr>
      </p:sp>
      <p:sp>
        <p:nvSpPr>
          <p:cNvPr id="49" name="Shape 46"/>
          <p:cNvSpPr/>
          <p:nvPr/>
        </p:nvSpPr>
        <p:spPr>
          <a:xfrm>
            <a:off x="9608820" y="2964180"/>
            <a:ext cx="1226820" cy="838200"/>
          </a:xfrm>
          <a:prstGeom prst="roundRect">
            <a:avLst>
              <a:gd name="adj" fmla="val 7273"/>
            </a:avLst>
          </a:prstGeom>
          <a:solidFill>
            <a:srgbClr val="CED8E3"/>
          </a:solidFill>
          <a:ln w="12700">
            <a:solidFill>
              <a:srgbClr val="CED8E3">
                <a:alpha val="0"/>
              </a:srgbClr>
            </a:solidFill>
            <a:prstDash val="solid"/>
          </a:ln>
        </p:spPr>
      </p:sp>
      <p:sp>
        <p:nvSpPr>
          <p:cNvPr id="50" name="Text 47"/>
          <p:cNvSpPr/>
          <p:nvPr/>
        </p:nvSpPr>
        <p:spPr>
          <a:xfrm>
            <a:off x="9677400" y="3169920"/>
            <a:ext cx="1097280" cy="321259"/>
          </a:xfrm>
          <a:prstGeom prst="rect">
            <a:avLst/>
          </a:prstGeom>
          <a:noFill/>
          <a:ln/>
        </p:spPr>
        <p:txBody>
          <a:bodyPr wrap="square" lIns="0" tIns="0" rIns="0" bIns="0" rtlCol="0" anchor="ctr"/>
          <a:lstStyle/>
          <a:p>
            <a:pPr algn="ctr" indent="0" marL="0">
              <a:lnSpc>
                <a:spcPct val="100000"/>
              </a:lnSpc>
              <a:buNone/>
            </a:pPr>
            <a:r>
              <a:rPr lang="en-US" sz="2040" b="1" dirty="0">
                <a:solidFill>
                  <a:srgbClr val="182B45"/>
                </a:solidFill>
                <a:latin typeface="Arial" pitchFamily="34" charset="0"/>
                <a:ea typeface="Arial" pitchFamily="34" charset="-122"/>
                <a:cs typeface="Arial" pitchFamily="34" charset="-120"/>
              </a:rPr>
              <a:t>ESP32</a:t>
            </a:r>
            <a:endParaRPr lang="en-US" sz="2040" dirty="0"/>
          </a:p>
        </p:txBody>
      </p:sp>
      <p:sp>
        <p:nvSpPr>
          <p:cNvPr id="51" name="Shape 48"/>
          <p:cNvSpPr/>
          <p:nvPr/>
        </p:nvSpPr>
        <p:spPr>
          <a:xfrm>
            <a:off x="9989820" y="4183380"/>
            <a:ext cx="480060" cy="449580"/>
          </a:xfrm>
          <a:prstGeom prst="roundRect">
            <a:avLst>
              <a:gd name="adj" fmla="val 10169"/>
            </a:avLst>
          </a:prstGeom>
          <a:solidFill>
            <a:srgbClr val="C0CAD8"/>
          </a:solidFill>
          <a:ln w="12700">
            <a:solidFill>
              <a:srgbClr val="C0CAD8">
                <a:alpha val="0"/>
              </a:srgbClr>
            </a:solidFill>
            <a:prstDash val="solid"/>
          </a:ln>
        </p:spPr>
      </p:sp>
      <p:sp>
        <p:nvSpPr>
          <p:cNvPr id="52" name="Text 49"/>
          <p:cNvSpPr/>
          <p:nvPr/>
        </p:nvSpPr>
        <p:spPr>
          <a:xfrm>
            <a:off x="9966960" y="4290060"/>
            <a:ext cx="533400" cy="179527"/>
          </a:xfrm>
          <a:prstGeom prst="rect">
            <a:avLst/>
          </a:prstGeom>
          <a:noFill/>
          <a:ln/>
        </p:spPr>
        <p:txBody>
          <a:bodyPr wrap="square" lIns="0" tIns="0" rIns="0" bIns="0" rtlCol="0" anchor="ctr"/>
          <a:lstStyle/>
          <a:p>
            <a:pPr algn="ctr" indent="0" marL="0">
              <a:lnSpc>
                <a:spcPct val="100000"/>
              </a:lnSpc>
              <a:buNone/>
            </a:pPr>
            <a:r>
              <a:rPr lang="en-US" sz="1140" b="1" dirty="0">
                <a:solidFill>
                  <a:srgbClr val="182B45"/>
                </a:solidFill>
                <a:latin typeface="Arial" pitchFamily="34" charset="0"/>
                <a:ea typeface="Arial" pitchFamily="34" charset="-122"/>
                <a:cs typeface="Arial" pitchFamily="34" charset="-120"/>
              </a:rPr>
              <a:t>USB</a:t>
            </a:r>
            <a:endParaRPr lang="en-US" sz="1140" dirty="0"/>
          </a:p>
        </p:txBody>
      </p:sp>
      <p:sp>
        <p:nvSpPr>
          <p:cNvPr id="53" name="Text 50"/>
          <p:cNvSpPr/>
          <p:nvPr/>
        </p:nvSpPr>
        <p:spPr>
          <a:xfrm>
            <a:off x="9220200" y="4671060"/>
            <a:ext cx="2019300" cy="283464"/>
          </a:xfrm>
          <a:prstGeom prst="rect">
            <a:avLst/>
          </a:prstGeom>
          <a:noFill/>
          <a:ln/>
        </p:spPr>
        <p:txBody>
          <a:bodyPr wrap="square" lIns="0" tIns="0" rIns="0" bIns="0" rtlCol="0" anchor="ctr"/>
          <a:lstStyle/>
          <a:p>
            <a:pPr algn="ctr" indent="0" marL="0">
              <a:lnSpc>
                <a:spcPct val="100000"/>
              </a:lnSpc>
              <a:buNone/>
            </a:pPr>
            <a:r>
              <a:rPr lang="en-US" sz="1800" b="1" dirty="0">
                <a:solidFill>
                  <a:srgbClr val="008774"/>
                </a:solidFill>
                <a:latin typeface="Arial" pitchFamily="34" charset="0"/>
                <a:ea typeface="Arial" pitchFamily="34" charset="-122"/>
                <a:cs typeface="Arial" pitchFamily="34" charset="-120"/>
              </a:rPr>
              <a:t>B · receptor</a:t>
            </a:r>
            <a:endParaRPr lang="en-US" sz="1800" dirty="0"/>
          </a:p>
        </p:txBody>
      </p:sp>
      <p:sp>
        <p:nvSpPr>
          <p:cNvPr id="54" name="Text 51"/>
          <p:cNvSpPr/>
          <p:nvPr/>
        </p:nvSpPr>
        <p:spPr>
          <a:xfrm>
            <a:off x="3467100" y="2590800"/>
            <a:ext cx="1828800" cy="264566"/>
          </a:xfrm>
          <a:prstGeom prst="rect">
            <a:avLst/>
          </a:prstGeom>
          <a:noFill/>
          <a:ln/>
        </p:spPr>
        <p:txBody>
          <a:bodyPr wrap="square" lIns="0" tIns="0" rIns="0" bIns="0" rtlCol="0" anchor="ctr"/>
          <a:lstStyle/>
          <a:p>
            <a:pPr algn="l" indent="0" marL="0">
              <a:lnSpc>
                <a:spcPct val="100000"/>
              </a:lnSpc>
              <a:buNone/>
            </a:pPr>
            <a:r>
              <a:rPr lang="en-US" sz="1680" b="1" dirty="0">
                <a:solidFill>
                  <a:srgbClr val="2165D6"/>
                </a:solidFill>
                <a:latin typeface="Arial" pitchFamily="34" charset="0"/>
                <a:ea typeface="Arial" pitchFamily="34" charset="-122"/>
                <a:cs typeface="Arial" pitchFamily="34" charset="-120"/>
              </a:rPr>
              <a:t>GPIO17 / TX</a:t>
            </a:r>
            <a:endParaRPr lang="en-US" sz="1680" dirty="0"/>
          </a:p>
        </p:txBody>
      </p:sp>
      <p:sp>
        <p:nvSpPr>
          <p:cNvPr id="55" name="Text 52"/>
          <p:cNvSpPr/>
          <p:nvPr/>
        </p:nvSpPr>
        <p:spPr>
          <a:xfrm>
            <a:off x="6934200" y="2590800"/>
            <a:ext cx="1828800" cy="264566"/>
          </a:xfrm>
          <a:prstGeom prst="rect">
            <a:avLst/>
          </a:prstGeom>
          <a:noFill/>
          <a:ln/>
        </p:spPr>
        <p:txBody>
          <a:bodyPr wrap="square" lIns="0" tIns="0" rIns="0" bIns="0" rtlCol="0" anchor="ctr"/>
          <a:lstStyle/>
          <a:p>
            <a:pPr algn="l" indent="0" marL="0">
              <a:lnSpc>
                <a:spcPct val="100000"/>
              </a:lnSpc>
              <a:buNone/>
            </a:pPr>
            <a:r>
              <a:rPr lang="en-US" sz="1680" b="1" dirty="0">
                <a:solidFill>
                  <a:srgbClr val="2165D6"/>
                </a:solidFill>
                <a:latin typeface="Arial" pitchFamily="34" charset="0"/>
                <a:ea typeface="Arial" pitchFamily="34" charset="-122"/>
                <a:cs typeface="Arial" pitchFamily="34" charset="-120"/>
              </a:rPr>
              <a:t>GPIO16 / RX</a:t>
            </a:r>
            <a:endParaRPr lang="en-US" sz="1680" dirty="0"/>
          </a:p>
        </p:txBody>
      </p:sp>
      <p:sp>
        <p:nvSpPr>
          <p:cNvPr id="56" name="Shape 53"/>
          <p:cNvSpPr/>
          <p:nvPr/>
        </p:nvSpPr>
        <p:spPr>
          <a:xfrm>
            <a:off x="3223260" y="3086100"/>
            <a:ext cx="5699760" cy="0"/>
          </a:xfrm>
          <a:prstGeom prst="line">
            <a:avLst/>
          </a:prstGeom>
          <a:noFill/>
          <a:ln w="38100">
            <a:solidFill>
              <a:srgbClr val="2165D6"/>
            </a:solidFill>
            <a:prstDash val="solid"/>
            <a:tailEnd type="triangle"/>
          </a:ln>
        </p:spPr>
      </p:sp>
      <p:sp>
        <p:nvSpPr>
          <p:cNvPr id="57" name="Text 54"/>
          <p:cNvSpPr/>
          <p:nvPr/>
        </p:nvSpPr>
        <p:spPr>
          <a:xfrm>
            <a:off x="3467100" y="3444240"/>
            <a:ext cx="1828800" cy="264566"/>
          </a:xfrm>
          <a:prstGeom prst="rect">
            <a:avLst/>
          </a:prstGeom>
          <a:noFill/>
          <a:ln/>
        </p:spPr>
        <p:txBody>
          <a:bodyPr wrap="square" lIns="0" tIns="0" rIns="0" bIns="0" rtlCol="0" anchor="ctr"/>
          <a:lstStyle/>
          <a:p>
            <a:pPr algn="l" indent="0" marL="0">
              <a:lnSpc>
                <a:spcPct val="100000"/>
              </a:lnSpc>
              <a:buNone/>
            </a:pPr>
            <a:r>
              <a:rPr lang="en-US" sz="1680" b="1" dirty="0">
                <a:solidFill>
                  <a:srgbClr val="008774"/>
                </a:solidFill>
                <a:latin typeface="Arial" pitchFamily="34" charset="0"/>
                <a:ea typeface="Arial" pitchFamily="34" charset="-122"/>
                <a:cs typeface="Arial" pitchFamily="34" charset="-120"/>
              </a:rPr>
              <a:t>GPIO16 / RX</a:t>
            </a:r>
            <a:endParaRPr lang="en-US" sz="1680" dirty="0"/>
          </a:p>
        </p:txBody>
      </p:sp>
      <p:sp>
        <p:nvSpPr>
          <p:cNvPr id="58" name="Text 55"/>
          <p:cNvSpPr/>
          <p:nvPr/>
        </p:nvSpPr>
        <p:spPr>
          <a:xfrm>
            <a:off x="6934200" y="3444240"/>
            <a:ext cx="1828800" cy="264566"/>
          </a:xfrm>
          <a:prstGeom prst="rect">
            <a:avLst/>
          </a:prstGeom>
          <a:noFill/>
          <a:ln/>
        </p:spPr>
        <p:txBody>
          <a:bodyPr wrap="square" lIns="0" tIns="0" rIns="0" bIns="0" rtlCol="0" anchor="ctr"/>
          <a:lstStyle/>
          <a:p>
            <a:pPr algn="l" indent="0" marL="0">
              <a:lnSpc>
                <a:spcPct val="100000"/>
              </a:lnSpc>
              <a:buNone/>
            </a:pPr>
            <a:r>
              <a:rPr lang="en-US" sz="1680" b="1" dirty="0">
                <a:solidFill>
                  <a:srgbClr val="008774"/>
                </a:solidFill>
                <a:latin typeface="Arial" pitchFamily="34" charset="0"/>
                <a:ea typeface="Arial" pitchFamily="34" charset="-122"/>
                <a:cs typeface="Arial" pitchFamily="34" charset="-120"/>
              </a:rPr>
              <a:t>GPIO17 / TX</a:t>
            </a:r>
            <a:endParaRPr lang="en-US" sz="1680" dirty="0"/>
          </a:p>
        </p:txBody>
      </p:sp>
      <p:sp>
        <p:nvSpPr>
          <p:cNvPr id="59" name="Shape 56"/>
          <p:cNvSpPr/>
          <p:nvPr/>
        </p:nvSpPr>
        <p:spPr>
          <a:xfrm flipH="1">
            <a:off x="3223260" y="3962400"/>
            <a:ext cx="5699760" cy="0"/>
          </a:xfrm>
          <a:prstGeom prst="line">
            <a:avLst/>
          </a:prstGeom>
          <a:noFill/>
          <a:ln w="30480">
            <a:solidFill>
              <a:srgbClr val="008774"/>
            </a:solidFill>
            <a:prstDash val="solid"/>
            <a:tailEnd type="triangle"/>
          </a:ln>
        </p:spPr>
      </p:sp>
      <p:sp>
        <p:nvSpPr>
          <p:cNvPr id="60" name="Shape 57"/>
          <p:cNvSpPr/>
          <p:nvPr/>
        </p:nvSpPr>
        <p:spPr>
          <a:xfrm>
            <a:off x="3223260" y="4663440"/>
            <a:ext cx="5699760" cy="0"/>
          </a:xfrm>
          <a:prstGeom prst="line">
            <a:avLst/>
          </a:prstGeom>
          <a:noFill/>
          <a:ln w="30480">
            <a:solidFill>
              <a:srgbClr val="52657B"/>
            </a:solidFill>
            <a:prstDash val="solid"/>
          </a:ln>
        </p:spPr>
      </p:sp>
      <p:sp>
        <p:nvSpPr>
          <p:cNvPr id="61" name="Text 58"/>
          <p:cNvSpPr/>
          <p:nvPr/>
        </p:nvSpPr>
        <p:spPr>
          <a:xfrm>
            <a:off x="5295900" y="4762500"/>
            <a:ext cx="19050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52657B"/>
                </a:solidFill>
                <a:latin typeface="Arial" pitchFamily="34" charset="0"/>
                <a:ea typeface="Arial" pitchFamily="34" charset="-122"/>
                <a:cs typeface="Arial" pitchFamily="34" charset="-120"/>
              </a:rPr>
              <a:t>GND comum</a:t>
            </a:r>
            <a:endParaRPr lang="en-US" sz="1620" dirty="0"/>
          </a:p>
        </p:txBody>
      </p:sp>
      <p:sp>
        <p:nvSpPr>
          <p:cNvPr id="62" name="Shape 59"/>
          <p:cNvSpPr/>
          <p:nvPr/>
        </p:nvSpPr>
        <p:spPr>
          <a:xfrm>
            <a:off x="487680" y="5623560"/>
            <a:ext cx="11216640" cy="502920"/>
          </a:xfrm>
          <a:prstGeom prst="roundRect">
            <a:avLst>
              <a:gd name="adj" fmla="val 21212"/>
            </a:avLst>
          </a:prstGeom>
          <a:solidFill>
            <a:srgbClr val="EAF1FF"/>
          </a:solidFill>
          <a:ln w="12700">
            <a:solidFill>
              <a:srgbClr val="EAF1FF">
                <a:alpha val="0"/>
              </a:srgbClr>
            </a:solidFill>
            <a:prstDash val="solid"/>
          </a:ln>
        </p:spPr>
      </p:sp>
      <p:sp>
        <p:nvSpPr>
          <p:cNvPr id="63" name="Text 60"/>
          <p:cNvSpPr/>
          <p:nvPr/>
        </p:nvSpPr>
        <p:spPr>
          <a:xfrm>
            <a:off x="670560" y="574548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UART2: 115200 bps, 8N1. USB de cada placa: um monitor serial.</a:t>
            </a:r>
            <a:endParaRPr lang="en-US" sz="1560" dirty="0"/>
          </a:p>
        </p:txBody>
      </p:sp>
      <p:sp>
        <p:nvSpPr>
          <p:cNvPr id="64" name="Shape 61"/>
          <p:cNvSpPr/>
          <p:nvPr/>
        </p:nvSpPr>
        <p:spPr>
          <a:xfrm>
            <a:off x="487680" y="6461760"/>
            <a:ext cx="11216640" cy="0"/>
          </a:xfrm>
          <a:prstGeom prst="line">
            <a:avLst/>
          </a:prstGeom>
          <a:noFill/>
          <a:ln w="7620">
            <a:solidFill>
              <a:srgbClr val="D7E1EE"/>
            </a:solidFill>
            <a:prstDash val="solid"/>
          </a:ln>
        </p:spPr>
      </p:sp>
      <p:sp>
        <p:nvSpPr>
          <p:cNvPr id="65" name="Text 62"/>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66" name="Text 63"/>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03 / 27</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ENTENDA O SISTEMA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Um texto também é uma sequência de números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Byte = grupo de 8 bits. Hexadecimal = uma forma curta de escrever esses números.</a:t>
            </a:r>
            <a:endParaRPr lang="en-US" sz="1620" dirty="0"/>
          </a:p>
        </p:txBody>
      </p:sp>
      <p:sp>
        <p:nvSpPr>
          <p:cNvPr id="8" name="Shape 5"/>
          <p:cNvSpPr/>
          <p:nvPr/>
        </p:nvSpPr>
        <p:spPr>
          <a:xfrm>
            <a:off x="487680" y="2514600"/>
            <a:ext cx="3390900" cy="2133600"/>
          </a:xfrm>
          <a:prstGeom prst="roundRect">
            <a:avLst>
              <a:gd name="adj" fmla="val 6429"/>
            </a:avLst>
          </a:prstGeom>
          <a:solidFill>
            <a:srgbClr val="FFFFFF"/>
          </a:solidFill>
          <a:ln w="12700">
            <a:solidFill>
              <a:srgbClr val="D7E1EE"/>
            </a:solidFill>
            <a:prstDash val="solid"/>
          </a:ln>
        </p:spPr>
      </p:sp>
      <p:sp>
        <p:nvSpPr>
          <p:cNvPr id="9" name="Shape 6"/>
          <p:cNvSpPr/>
          <p:nvPr/>
        </p:nvSpPr>
        <p:spPr>
          <a:xfrm>
            <a:off x="487680" y="2514600"/>
            <a:ext cx="53340" cy="2133600"/>
          </a:xfrm>
          <a:prstGeom prst="rect">
            <a:avLst/>
          </a:prstGeom>
          <a:solidFill>
            <a:srgbClr val="2165D6"/>
          </a:solidFill>
          <a:ln w="12700">
            <a:solidFill>
              <a:srgbClr val="2165D6">
                <a:alpha val="0"/>
              </a:srgbClr>
            </a:solidFill>
            <a:prstDash val="solid"/>
          </a:ln>
        </p:spPr>
      </p:sp>
      <p:sp>
        <p:nvSpPr>
          <p:cNvPr id="10" name="Text 7"/>
          <p:cNvSpPr/>
          <p:nvPr/>
        </p:nvSpPr>
        <p:spPr>
          <a:xfrm>
            <a:off x="678180" y="2689860"/>
            <a:ext cx="30099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CARACTERE</a:t>
            </a:r>
            <a:endParaRPr lang="en-US" sz="1920" dirty="0"/>
          </a:p>
        </p:txBody>
      </p:sp>
      <p:sp>
        <p:nvSpPr>
          <p:cNvPr id="11" name="Text 8"/>
          <p:cNvSpPr/>
          <p:nvPr/>
        </p:nvSpPr>
        <p:spPr>
          <a:xfrm>
            <a:off x="678180" y="3276600"/>
            <a:ext cx="30099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O símbolo que lemos:</a:t>
            </a:r>
            <a:endParaRPr lang="en-US" sz="1680" dirty="0"/>
          </a:p>
        </p:txBody>
      </p:sp>
      <p:sp>
        <p:nvSpPr>
          <p:cNvPr id="12" name="Text 9"/>
          <p:cNvSpPr/>
          <p:nvPr/>
        </p:nvSpPr>
        <p:spPr>
          <a:xfrm>
            <a:off x="678180" y="3541166"/>
            <a:ext cx="300990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13" name="Text 10"/>
          <p:cNvSpPr/>
          <p:nvPr/>
        </p:nvSpPr>
        <p:spPr>
          <a:xfrm>
            <a:off x="678180" y="3805733"/>
            <a:ext cx="30099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7</a:t>
            </a:r>
            <a:endParaRPr lang="en-US" sz="1680" dirty="0"/>
          </a:p>
        </p:txBody>
      </p:sp>
      <p:sp>
        <p:nvSpPr>
          <p:cNvPr id="14" name="Shape 11"/>
          <p:cNvSpPr/>
          <p:nvPr/>
        </p:nvSpPr>
        <p:spPr>
          <a:xfrm>
            <a:off x="4404360" y="2514600"/>
            <a:ext cx="3390900" cy="2133600"/>
          </a:xfrm>
          <a:prstGeom prst="roundRect">
            <a:avLst>
              <a:gd name="adj" fmla="val 6429"/>
            </a:avLst>
          </a:prstGeom>
          <a:solidFill>
            <a:srgbClr val="FFFFFF"/>
          </a:solidFill>
          <a:ln w="12700">
            <a:solidFill>
              <a:srgbClr val="D7E1EE"/>
            </a:solidFill>
            <a:prstDash val="solid"/>
          </a:ln>
        </p:spPr>
      </p:sp>
      <p:sp>
        <p:nvSpPr>
          <p:cNvPr id="15" name="Shape 12"/>
          <p:cNvSpPr/>
          <p:nvPr/>
        </p:nvSpPr>
        <p:spPr>
          <a:xfrm>
            <a:off x="4404360" y="2514600"/>
            <a:ext cx="53340" cy="2133600"/>
          </a:xfrm>
          <a:prstGeom prst="rect">
            <a:avLst/>
          </a:prstGeom>
          <a:solidFill>
            <a:srgbClr val="008774"/>
          </a:solidFill>
          <a:ln w="12700">
            <a:solidFill>
              <a:srgbClr val="008774">
                <a:alpha val="0"/>
              </a:srgbClr>
            </a:solidFill>
            <a:prstDash val="solid"/>
          </a:ln>
        </p:spPr>
      </p:sp>
      <p:sp>
        <p:nvSpPr>
          <p:cNvPr id="16" name="Text 13"/>
          <p:cNvSpPr/>
          <p:nvPr/>
        </p:nvSpPr>
        <p:spPr>
          <a:xfrm>
            <a:off x="4594860" y="2689860"/>
            <a:ext cx="30099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BYTE EM HEX</a:t>
            </a:r>
            <a:endParaRPr lang="en-US" sz="1920" dirty="0"/>
          </a:p>
        </p:txBody>
      </p:sp>
      <p:sp>
        <p:nvSpPr>
          <p:cNvPr id="17" name="Text 14"/>
          <p:cNvSpPr/>
          <p:nvPr/>
        </p:nvSpPr>
        <p:spPr>
          <a:xfrm>
            <a:off x="4594860" y="3276600"/>
            <a:ext cx="30099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O código ASCII de “7”:</a:t>
            </a:r>
            <a:endParaRPr lang="en-US" sz="1680" dirty="0"/>
          </a:p>
        </p:txBody>
      </p:sp>
      <p:sp>
        <p:nvSpPr>
          <p:cNvPr id="18" name="Text 15"/>
          <p:cNvSpPr/>
          <p:nvPr/>
        </p:nvSpPr>
        <p:spPr>
          <a:xfrm>
            <a:off x="4594860" y="3541166"/>
            <a:ext cx="300990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19" name="Text 16"/>
          <p:cNvSpPr/>
          <p:nvPr/>
        </p:nvSpPr>
        <p:spPr>
          <a:xfrm>
            <a:off x="4594860" y="3805733"/>
            <a:ext cx="30099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0x37</a:t>
            </a:r>
            <a:endParaRPr lang="en-US" sz="1680" dirty="0"/>
          </a:p>
        </p:txBody>
      </p:sp>
      <p:sp>
        <p:nvSpPr>
          <p:cNvPr id="20" name="Text 17"/>
          <p:cNvSpPr/>
          <p:nvPr/>
        </p:nvSpPr>
        <p:spPr>
          <a:xfrm>
            <a:off x="4023360" y="3398520"/>
            <a:ext cx="266700" cy="377952"/>
          </a:xfrm>
          <a:prstGeom prst="rect">
            <a:avLst/>
          </a:prstGeom>
          <a:noFill/>
          <a:ln/>
        </p:spPr>
        <p:txBody>
          <a:bodyPr wrap="square" lIns="0" tIns="0" rIns="0" bIns="0" rtlCol="0" anchor="ctr"/>
          <a:lstStyle/>
          <a:p>
            <a:pPr algn="l" indent="0" marL="0">
              <a:lnSpc>
                <a:spcPct val="100000"/>
              </a:lnSpc>
              <a:buNone/>
            </a:pPr>
            <a:r>
              <a:rPr lang="en-US" sz="2400" b="1" dirty="0">
                <a:solidFill>
                  <a:srgbClr val="52657B"/>
                </a:solidFill>
                <a:latin typeface="Arial" pitchFamily="34" charset="0"/>
                <a:ea typeface="Arial" pitchFamily="34" charset="-122"/>
                <a:cs typeface="Arial" pitchFamily="34" charset="-120"/>
              </a:rPr>
              <a:t>=</a:t>
            </a:r>
            <a:endParaRPr lang="en-US" sz="2400" dirty="0"/>
          </a:p>
        </p:txBody>
      </p:sp>
      <p:sp>
        <p:nvSpPr>
          <p:cNvPr id="21" name="Shape 18"/>
          <p:cNvSpPr/>
          <p:nvPr/>
        </p:nvSpPr>
        <p:spPr>
          <a:xfrm>
            <a:off x="8321040" y="2514600"/>
            <a:ext cx="3383280" cy="2133600"/>
          </a:xfrm>
          <a:prstGeom prst="roundRect">
            <a:avLst>
              <a:gd name="adj" fmla="val 6429"/>
            </a:avLst>
          </a:prstGeom>
          <a:solidFill>
            <a:srgbClr val="FFFFFF"/>
          </a:solidFill>
          <a:ln w="12700">
            <a:solidFill>
              <a:srgbClr val="D7E1EE"/>
            </a:solidFill>
            <a:prstDash val="solid"/>
          </a:ln>
        </p:spPr>
      </p:sp>
      <p:sp>
        <p:nvSpPr>
          <p:cNvPr id="22" name="Shape 19"/>
          <p:cNvSpPr/>
          <p:nvPr/>
        </p:nvSpPr>
        <p:spPr>
          <a:xfrm>
            <a:off x="8321040" y="2514600"/>
            <a:ext cx="53340" cy="2133600"/>
          </a:xfrm>
          <a:prstGeom prst="rect">
            <a:avLst/>
          </a:prstGeom>
          <a:solidFill>
            <a:srgbClr val="2165D6"/>
          </a:solidFill>
          <a:ln w="12700">
            <a:solidFill>
              <a:srgbClr val="2165D6">
                <a:alpha val="0"/>
              </a:srgbClr>
            </a:solidFill>
            <a:prstDash val="solid"/>
          </a:ln>
        </p:spPr>
      </p:sp>
      <p:sp>
        <p:nvSpPr>
          <p:cNvPr id="23" name="Text 20"/>
          <p:cNvSpPr/>
          <p:nvPr/>
        </p:nvSpPr>
        <p:spPr>
          <a:xfrm>
            <a:off x="8511540" y="2689860"/>
            <a:ext cx="300228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BITS</a:t>
            </a:r>
            <a:endParaRPr lang="en-US" sz="1920" dirty="0"/>
          </a:p>
        </p:txBody>
      </p:sp>
      <p:sp>
        <p:nvSpPr>
          <p:cNvPr id="24" name="Text 21"/>
          <p:cNvSpPr/>
          <p:nvPr/>
        </p:nvSpPr>
        <p:spPr>
          <a:xfrm>
            <a:off x="8511540" y="3276600"/>
            <a:ext cx="300228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O mesmo byte:</a:t>
            </a:r>
            <a:endParaRPr lang="en-US" sz="1680" dirty="0"/>
          </a:p>
        </p:txBody>
      </p:sp>
      <p:sp>
        <p:nvSpPr>
          <p:cNvPr id="25" name="Text 22"/>
          <p:cNvSpPr/>
          <p:nvPr/>
        </p:nvSpPr>
        <p:spPr>
          <a:xfrm>
            <a:off x="8511540" y="3541166"/>
            <a:ext cx="300228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26" name="Text 23"/>
          <p:cNvSpPr/>
          <p:nvPr/>
        </p:nvSpPr>
        <p:spPr>
          <a:xfrm>
            <a:off x="8511540" y="3805733"/>
            <a:ext cx="300228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00110111</a:t>
            </a:r>
            <a:endParaRPr lang="en-US" sz="1680" dirty="0"/>
          </a:p>
        </p:txBody>
      </p:sp>
      <p:sp>
        <p:nvSpPr>
          <p:cNvPr id="27" name="Text 24"/>
          <p:cNvSpPr/>
          <p:nvPr/>
        </p:nvSpPr>
        <p:spPr>
          <a:xfrm>
            <a:off x="7940040" y="3398520"/>
            <a:ext cx="266700" cy="377952"/>
          </a:xfrm>
          <a:prstGeom prst="rect">
            <a:avLst/>
          </a:prstGeom>
          <a:noFill/>
          <a:ln/>
        </p:spPr>
        <p:txBody>
          <a:bodyPr wrap="square" lIns="0" tIns="0" rIns="0" bIns="0" rtlCol="0" anchor="ctr"/>
          <a:lstStyle/>
          <a:p>
            <a:pPr algn="l" indent="0" marL="0">
              <a:lnSpc>
                <a:spcPct val="100000"/>
              </a:lnSpc>
              <a:buNone/>
            </a:pPr>
            <a:r>
              <a:rPr lang="en-US" sz="2400" b="1" dirty="0">
                <a:solidFill>
                  <a:srgbClr val="52657B"/>
                </a:solidFill>
                <a:latin typeface="Arial" pitchFamily="34" charset="0"/>
                <a:ea typeface="Arial" pitchFamily="34" charset="-122"/>
                <a:cs typeface="Arial" pitchFamily="34" charset="-120"/>
              </a:rPr>
              <a:t>=</a:t>
            </a:r>
            <a:endParaRPr lang="en-US" sz="2400" dirty="0"/>
          </a:p>
        </p:txBody>
      </p:sp>
      <p:sp>
        <p:nvSpPr>
          <p:cNvPr id="28" name="Shape 25"/>
          <p:cNvSpPr/>
          <p:nvPr/>
        </p:nvSpPr>
        <p:spPr>
          <a:xfrm>
            <a:off x="487680" y="5280660"/>
            <a:ext cx="11216640" cy="502920"/>
          </a:xfrm>
          <a:prstGeom prst="roundRect">
            <a:avLst>
              <a:gd name="adj" fmla="val 21212"/>
            </a:avLst>
          </a:prstGeom>
          <a:solidFill>
            <a:srgbClr val="EAF1FF"/>
          </a:solidFill>
          <a:ln w="12700">
            <a:solidFill>
              <a:srgbClr val="EAF1FF">
                <a:alpha val="0"/>
              </a:srgbClr>
            </a:solidFill>
            <a:prstDash val="solid"/>
          </a:ln>
        </p:spPr>
      </p:sp>
      <p:sp>
        <p:nvSpPr>
          <p:cNvPr id="29" name="Text 26"/>
          <p:cNvSpPr/>
          <p:nvPr/>
        </p:nvSpPr>
        <p:spPr>
          <a:xfrm>
            <a:off x="670560" y="540258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AES-128 usa uma chave de 128 bits e trabalha com blocos de 16 bytes.</a:t>
            </a:r>
            <a:endParaRPr lang="en-US" sz="1560" dirty="0"/>
          </a:p>
        </p:txBody>
      </p:sp>
      <p:sp>
        <p:nvSpPr>
          <p:cNvPr id="30" name="Shape 27"/>
          <p:cNvSpPr/>
          <p:nvPr/>
        </p:nvSpPr>
        <p:spPr>
          <a:xfrm>
            <a:off x="487680" y="6461760"/>
            <a:ext cx="11216640" cy="0"/>
          </a:xfrm>
          <a:prstGeom prst="line">
            <a:avLst/>
          </a:prstGeom>
          <a:noFill/>
          <a:ln w="7620">
            <a:solidFill>
              <a:srgbClr val="D7E1EE"/>
            </a:solidFill>
            <a:prstDash val="solid"/>
          </a:ln>
        </p:spPr>
      </p:sp>
      <p:sp>
        <p:nvSpPr>
          <p:cNvPr id="31" name="Text 28"/>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32" name="Text 29"/>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04 / 27</a:t>
            </a:r>
            <a:endParaRPr lang="en-US" sz="10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DADOS DA DUPLA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A chave nasce das matrículas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Pegamos os últimos 8 dígitos de A e os últimos 8 de B. Depois juntamos A + B.</a:t>
            </a:r>
            <a:endParaRPr lang="en-US" sz="1620" dirty="0"/>
          </a:p>
        </p:txBody>
      </p:sp>
      <p:sp>
        <p:nvSpPr>
          <p:cNvPr id="8" name="Shape 5"/>
          <p:cNvSpPr/>
          <p:nvPr/>
        </p:nvSpPr>
        <p:spPr>
          <a:xfrm>
            <a:off x="487680" y="2453640"/>
            <a:ext cx="5196840" cy="1447800"/>
          </a:xfrm>
          <a:prstGeom prst="roundRect">
            <a:avLst>
              <a:gd name="adj" fmla="val 9474"/>
            </a:avLst>
          </a:prstGeom>
          <a:solidFill>
            <a:srgbClr val="FFFFFF"/>
          </a:solidFill>
          <a:ln w="12700">
            <a:solidFill>
              <a:srgbClr val="D7E1EE"/>
            </a:solidFill>
            <a:prstDash val="solid"/>
          </a:ln>
        </p:spPr>
      </p:sp>
      <p:sp>
        <p:nvSpPr>
          <p:cNvPr id="9" name="Shape 6"/>
          <p:cNvSpPr/>
          <p:nvPr/>
        </p:nvSpPr>
        <p:spPr>
          <a:xfrm>
            <a:off x="487680" y="2453640"/>
            <a:ext cx="53340" cy="1447800"/>
          </a:xfrm>
          <a:prstGeom prst="rect">
            <a:avLst/>
          </a:prstGeom>
          <a:solidFill>
            <a:srgbClr val="2165D6"/>
          </a:solidFill>
          <a:ln w="12700">
            <a:solidFill>
              <a:srgbClr val="2165D6">
                <a:alpha val="0"/>
              </a:srgbClr>
            </a:solidFill>
            <a:prstDash val="solid"/>
          </a:ln>
        </p:spPr>
      </p:sp>
      <p:sp>
        <p:nvSpPr>
          <p:cNvPr id="10" name="Text 7"/>
          <p:cNvSpPr/>
          <p:nvPr/>
        </p:nvSpPr>
        <p:spPr>
          <a:xfrm>
            <a:off x="678180" y="2628900"/>
            <a:ext cx="481584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A · Augusto</a:t>
            </a:r>
            <a:endParaRPr lang="en-US" sz="1920" dirty="0"/>
          </a:p>
        </p:txBody>
      </p:sp>
      <p:sp>
        <p:nvSpPr>
          <p:cNvPr id="11" name="Text 8"/>
          <p:cNvSpPr/>
          <p:nvPr/>
        </p:nvSpPr>
        <p:spPr>
          <a:xfrm>
            <a:off x="678180" y="3215640"/>
            <a:ext cx="48158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2023178440013 → 78440013</a:t>
            </a:r>
            <a:endParaRPr lang="en-US" sz="1680" dirty="0"/>
          </a:p>
        </p:txBody>
      </p:sp>
      <p:sp>
        <p:nvSpPr>
          <p:cNvPr id="12" name="Shape 9"/>
          <p:cNvSpPr/>
          <p:nvPr/>
        </p:nvSpPr>
        <p:spPr>
          <a:xfrm>
            <a:off x="6507480" y="2453640"/>
            <a:ext cx="5196840" cy="1447800"/>
          </a:xfrm>
          <a:prstGeom prst="roundRect">
            <a:avLst>
              <a:gd name="adj" fmla="val 9474"/>
            </a:avLst>
          </a:prstGeom>
          <a:solidFill>
            <a:srgbClr val="FFFFFF"/>
          </a:solidFill>
          <a:ln w="12700">
            <a:solidFill>
              <a:srgbClr val="D7E1EE"/>
            </a:solidFill>
            <a:prstDash val="solid"/>
          </a:ln>
        </p:spPr>
      </p:sp>
      <p:sp>
        <p:nvSpPr>
          <p:cNvPr id="13" name="Shape 10"/>
          <p:cNvSpPr/>
          <p:nvPr/>
        </p:nvSpPr>
        <p:spPr>
          <a:xfrm>
            <a:off x="6507480" y="2453640"/>
            <a:ext cx="53340" cy="1447800"/>
          </a:xfrm>
          <a:prstGeom prst="rect">
            <a:avLst/>
          </a:prstGeom>
          <a:solidFill>
            <a:srgbClr val="008774"/>
          </a:solidFill>
          <a:ln w="12700">
            <a:solidFill>
              <a:srgbClr val="008774">
                <a:alpha val="0"/>
              </a:srgbClr>
            </a:solidFill>
            <a:prstDash val="solid"/>
          </a:ln>
        </p:spPr>
      </p:sp>
      <p:sp>
        <p:nvSpPr>
          <p:cNvPr id="14" name="Text 11"/>
          <p:cNvSpPr/>
          <p:nvPr/>
        </p:nvSpPr>
        <p:spPr>
          <a:xfrm>
            <a:off x="6697980" y="2628900"/>
            <a:ext cx="481584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B · Gustavo</a:t>
            </a:r>
            <a:endParaRPr lang="en-US" sz="1920" dirty="0"/>
          </a:p>
        </p:txBody>
      </p:sp>
      <p:sp>
        <p:nvSpPr>
          <p:cNvPr id="15" name="Text 12"/>
          <p:cNvSpPr/>
          <p:nvPr/>
        </p:nvSpPr>
        <p:spPr>
          <a:xfrm>
            <a:off x="6697980" y="3215640"/>
            <a:ext cx="48158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202127844251 → 27844251</a:t>
            </a:r>
            <a:endParaRPr lang="en-US" sz="1680" dirty="0"/>
          </a:p>
        </p:txBody>
      </p:sp>
      <p:sp>
        <p:nvSpPr>
          <p:cNvPr id="16" name="Shape 13"/>
          <p:cNvSpPr/>
          <p:nvPr/>
        </p:nvSpPr>
        <p:spPr>
          <a:xfrm>
            <a:off x="2103120" y="4282440"/>
            <a:ext cx="7985760" cy="1097280"/>
          </a:xfrm>
          <a:prstGeom prst="roundRect">
            <a:avLst>
              <a:gd name="adj" fmla="val 12500"/>
            </a:avLst>
          </a:prstGeom>
          <a:solidFill>
            <a:srgbClr val="EAF1FF"/>
          </a:solidFill>
          <a:ln w="12700">
            <a:solidFill>
              <a:srgbClr val="EAF1FF">
                <a:alpha val="0"/>
              </a:srgbClr>
            </a:solidFill>
            <a:prstDash val="solid"/>
          </a:ln>
        </p:spPr>
      </p:sp>
      <p:sp>
        <p:nvSpPr>
          <p:cNvPr id="17" name="Text 14"/>
          <p:cNvSpPr/>
          <p:nvPr/>
        </p:nvSpPr>
        <p:spPr>
          <a:xfrm>
            <a:off x="2331720" y="4450080"/>
            <a:ext cx="74676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CHAVE ASCII · 16 BYTES</a:t>
            </a:r>
            <a:endParaRPr lang="en-US" sz="1320" dirty="0"/>
          </a:p>
        </p:txBody>
      </p:sp>
      <p:sp>
        <p:nvSpPr>
          <p:cNvPr id="18" name="Text 15"/>
          <p:cNvSpPr/>
          <p:nvPr/>
        </p:nvSpPr>
        <p:spPr>
          <a:xfrm>
            <a:off x="2331720" y="4815840"/>
            <a:ext cx="7467600" cy="425196"/>
          </a:xfrm>
          <a:prstGeom prst="rect">
            <a:avLst/>
          </a:prstGeom>
          <a:noFill/>
          <a:ln/>
        </p:spPr>
        <p:txBody>
          <a:bodyPr wrap="square" lIns="0" tIns="0" rIns="0" bIns="0" rtlCol="0" anchor="ctr"/>
          <a:lstStyle/>
          <a:p>
            <a:pPr algn="ctr" indent="0" marL="0">
              <a:lnSpc>
                <a:spcPct val="100000"/>
              </a:lnSpc>
              <a:buNone/>
            </a:pPr>
            <a:r>
              <a:rPr lang="en-US" sz="2700" b="1" dirty="0">
                <a:solidFill>
                  <a:srgbClr val="182B45"/>
                </a:solidFill>
                <a:latin typeface="Consolas" pitchFamily="34" charset="0"/>
                <a:ea typeface="Consolas" pitchFamily="34" charset="-122"/>
                <a:cs typeface="Consolas" pitchFamily="34" charset="-120"/>
              </a:rPr>
              <a:t>7844001327844251</a:t>
            </a:r>
            <a:endParaRPr lang="en-US" sz="2700" dirty="0"/>
          </a:p>
        </p:txBody>
      </p:sp>
      <p:sp>
        <p:nvSpPr>
          <p:cNvPr id="19" name="Text 16"/>
          <p:cNvSpPr/>
          <p:nvPr/>
        </p:nvSpPr>
        <p:spPr>
          <a:xfrm>
            <a:off x="632460" y="5775960"/>
            <a:ext cx="10896600" cy="236220"/>
          </a:xfrm>
          <a:prstGeom prst="rect">
            <a:avLst/>
          </a:prstGeom>
          <a:noFill/>
          <a:ln/>
        </p:spPr>
        <p:txBody>
          <a:bodyPr wrap="square" lIns="0" tIns="0" rIns="0" bIns="0" rtlCol="0" anchor="ctr"/>
          <a:lstStyle/>
          <a:p>
            <a:pPr algn="l" indent="0" marL="0">
              <a:lnSpc>
                <a:spcPct val="100000"/>
              </a:lnSpc>
              <a:buNone/>
            </a:pPr>
            <a:r>
              <a:rPr lang="en-US" sz="1500" dirty="0">
                <a:solidFill>
                  <a:srgbClr val="52657B"/>
                </a:solidFill>
                <a:latin typeface="Arial" pitchFamily="34" charset="0"/>
                <a:ea typeface="Arial" pitchFamily="34" charset="-122"/>
                <a:cs typeface="Arial" pitchFamily="34" charset="-120"/>
              </a:rPr>
              <a:t>Regra do trabalho: dados previsíveis. Em um produto, a chave deve ser secreta e imprevisível.</a:t>
            </a:r>
            <a:endParaRPr lang="en-US" sz="1500" dirty="0"/>
          </a:p>
        </p:txBody>
      </p:sp>
      <p:sp>
        <p:nvSpPr>
          <p:cNvPr id="20" name="Shape 17"/>
          <p:cNvSpPr/>
          <p:nvPr/>
        </p:nvSpPr>
        <p:spPr>
          <a:xfrm>
            <a:off x="487680" y="6461760"/>
            <a:ext cx="11216640" cy="0"/>
          </a:xfrm>
          <a:prstGeom prst="line">
            <a:avLst/>
          </a:prstGeom>
          <a:noFill/>
          <a:ln w="7620">
            <a:solidFill>
              <a:srgbClr val="D7E1EE"/>
            </a:solidFill>
            <a:prstDash val="solid"/>
          </a:ln>
        </p:spPr>
      </p:sp>
      <p:sp>
        <p:nvSpPr>
          <p:cNvPr id="21" name="Text 18"/>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2" name="Text 19"/>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05 / 27</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PREPARAR A MENSAGEM</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O AES precisa de blocos completos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Nossa mensagem tem 30 bytes. O PKCS#7 acrescenta 02 02 para chegar a 32.</a:t>
            </a:r>
            <a:endParaRPr lang="en-US" sz="1620" dirty="0"/>
          </a:p>
        </p:txBody>
      </p:sp>
      <p:sp>
        <p:nvSpPr>
          <p:cNvPr id="8" name="Text 5"/>
          <p:cNvSpPr/>
          <p:nvPr/>
        </p:nvSpPr>
        <p:spPr>
          <a:xfrm>
            <a:off x="632460" y="2446020"/>
            <a:ext cx="10972800" cy="368503"/>
          </a:xfrm>
          <a:prstGeom prst="rect">
            <a:avLst/>
          </a:prstGeom>
          <a:noFill/>
          <a:ln/>
        </p:spPr>
        <p:txBody>
          <a:bodyPr wrap="square" lIns="0" tIns="0" rIns="0" bIns="0" rtlCol="0" anchor="ctr"/>
          <a:lstStyle/>
          <a:p>
            <a:pPr algn="l" indent="0" marL="0">
              <a:lnSpc>
                <a:spcPct val="100000"/>
              </a:lnSpc>
              <a:buNone/>
            </a:pPr>
            <a:r>
              <a:rPr lang="en-US" sz="2340" b="1" dirty="0">
                <a:solidFill>
                  <a:srgbClr val="182B45"/>
                </a:solidFill>
                <a:latin typeface="Consolas" pitchFamily="34" charset="0"/>
                <a:ea typeface="Consolas" pitchFamily="34" charset="-122"/>
                <a:cs typeface="Consolas" pitchFamily="34" charset="-120"/>
              </a:rPr>
              <a:t>A:2023178440013;B:202127844251</a:t>
            </a:r>
            <a:endParaRPr lang="en-US" sz="2340" dirty="0"/>
          </a:p>
        </p:txBody>
      </p:sp>
      <p:sp>
        <p:nvSpPr>
          <p:cNvPr id="9" name="Text 6"/>
          <p:cNvSpPr/>
          <p:nvPr/>
        </p:nvSpPr>
        <p:spPr>
          <a:xfrm>
            <a:off x="624840" y="3238500"/>
            <a:ext cx="1371600" cy="236220"/>
          </a:xfrm>
          <a:prstGeom prst="rect">
            <a:avLst/>
          </a:prstGeom>
          <a:noFill/>
          <a:ln/>
        </p:spPr>
        <p:txBody>
          <a:bodyPr wrap="square" lIns="0" tIns="0" rIns="0" bIns="0" rtlCol="0" anchor="ctr"/>
          <a:lstStyle/>
          <a:p>
            <a:pPr algn="l" indent="0" marL="0">
              <a:lnSpc>
                <a:spcPct val="100000"/>
              </a:lnSpc>
              <a:buNone/>
            </a:pPr>
            <a:r>
              <a:rPr lang="en-US" sz="1500" b="1" dirty="0">
                <a:solidFill>
                  <a:srgbClr val="52657B"/>
                </a:solidFill>
                <a:latin typeface="Arial" pitchFamily="34" charset="0"/>
                <a:ea typeface="Arial" pitchFamily="34" charset="-122"/>
                <a:cs typeface="Arial" pitchFamily="34" charset="-120"/>
              </a:rPr>
              <a:t>BLOCO 1</a:t>
            </a:r>
            <a:endParaRPr lang="en-US" sz="1500" dirty="0"/>
          </a:p>
        </p:txBody>
      </p:sp>
      <p:sp>
        <p:nvSpPr>
          <p:cNvPr id="10" name="Shape 7"/>
          <p:cNvSpPr/>
          <p:nvPr/>
        </p:nvSpPr>
        <p:spPr>
          <a:xfrm>
            <a:off x="205740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11" name="Text 8"/>
          <p:cNvSpPr/>
          <p:nvPr/>
        </p:nvSpPr>
        <p:spPr>
          <a:xfrm>
            <a:off x="209550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41</a:t>
            </a:r>
            <a:endParaRPr lang="en-US" sz="1500" dirty="0"/>
          </a:p>
        </p:txBody>
      </p:sp>
      <p:sp>
        <p:nvSpPr>
          <p:cNvPr id="12" name="Shape 9"/>
          <p:cNvSpPr/>
          <p:nvPr/>
        </p:nvSpPr>
        <p:spPr>
          <a:xfrm>
            <a:off x="264414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13" name="Text 10"/>
          <p:cNvSpPr/>
          <p:nvPr/>
        </p:nvSpPr>
        <p:spPr>
          <a:xfrm>
            <a:off x="268224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3a</a:t>
            </a:r>
            <a:endParaRPr lang="en-US" sz="1500" dirty="0"/>
          </a:p>
        </p:txBody>
      </p:sp>
      <p:sp>
        <p:nvSpPr>
          <p:cNvPr id="14" name="Shape 11"/>
          <p:cNvSpPr/>
          <p:nvPr/>
        </p:nvSpPr>
        <p:spPr>
          <a:xfrm>
            <a:off x="323088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15" name="Text 12"/>
          <p:cNvSpPr/>
          <p:nvPr/>
        </p:nvSpPr>
        <p:spPr>
          <a:xfrm>
            <a:off x="326898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32</a:t>
            </a:r>
            <a:endParaRPr lang="en-US" sz="1500" dirty="0"/>
          </a:p>
        </p:txBody>
      </p:sp>
      <p:sp>
        <p:nvSpPr>
          <p:cNvPr id="16" name="Shape 13"/>
          <p:cNvSpPr/>
          <p:nvPr/>
        </p:nvSpPr>
        <p:spPr>
          <a:xfrm>
            <a:off x="381762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17" name="Text 14"/>
          <p:cNvSpPr/>
          <p:nvPr/>
        </p:nvSpPr>
        <p:spPr>
          <a:xfrm>
            <a:off x="385572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30</a:t>
            </a:r>
            <a:endParaRPr lang="en-US" sz="1500" dirty="0"/>
          </a:p>
        </p:txBody>
      </p:sp>
      <p:sp>
        <p:nvSpPr>
          <p:cNvPr id="18" name="Shape 15"/>
          <p:cNvSpPr/>
          <p:nvPr/>
        </p:nvSpPr>
        <p:spPr>
          <a:xfrm>
            <a:off x="440436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19" name="Text 16"/>
          <p:cNvSpPr/>
          <p:nvPr/>
        </p:nvSpPr>
        <p:spPr>
          <a:xfrm>
            <a:off x="444246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32</a:t>
            </a:r>
            <a:endParaRPr lang="en-US" sz="1500" dirty="0"/>
          </a:p>
        </p:txBody>
      </p:sp>
      <p:sp>
        <p:nvSpPr>
          <p:cNvPr id="20" name="Shape 17"/>
          <p:cNvSpPr/>
          <p:nvPr/>
        </p:nvSpPr>
        <p:spPr>
          <a:xfrm>
            <a:off x="499110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21" name="Text 18"/>
          <p:cNvSpPr/>
          <p:nvPr/>
        </p:nvSpPr>
        <p:spPr>
          <a:xfrm>
            <a:off x="502920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33</a:t>
            </a:r>
            <a:endParaRPr lang="en-US" sz="1500" dirty="0"/>
          </a:p>
        </p:txBody>
      </p:sp>
      <p:sp>
        <p:nvSpPr>
          <p:cNvPr id="22" name="Shape 19"/>
          <p:cNvSpPr/>
          <p:nvPr/>
        </p:nvSpPr>
        <p:spPr>
          <a:xfrm>
            <a:off x="557784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23" name="Text 20"/>
          <p:cNvSpPr/>
          <p:nvPr/>
        </p:nvSpPr>
        <p:spPr>
          <a:xfrm>
            <a:off x="561594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31</a:t>
            </a:r>
            <a:endParaRPr lang="en-US" sz="1500" dirty="0"/>
          </a:p>
        </p:txBody>
      </p:sp>
      <p:sp>
        <p:nvSpPr>
          <p:cNvPr id="24" name="Shape 21"/>
          <p:cNvSpPr/>
          <p:nvPr/>
        </p:nvSpPr>
        <p:spPr>
          <a:xfrm>
            <a:off x="616458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25" name="Text 22"/>
          <p:cNvSpPr/>
          <p:nvPr/>
        </p:nvSpPr>
        <p:spPr>
          <a:xfrm>
            <a:off x="620268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37</a:t>
            </a:r>
            <a:endParaRPr lang="en-US" sz="1500" dirty="0"/>
          </a:p>
        </p:txBody>
      </p:sp>
      <p:sp>
        <p:nvSpPr>
          <p:cNvPr id="26" name="Shape 23"/>
          <p:cNvSpPr/>
          <p:nvPr/>
        </p:nvSpPr>
        <p:spPr>
          <a:xfrm>
            <a:off x="675132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27" name="Text 24"/>
          <p:cNvSpPr/>
          <p:nvPr/>
        </p:nvSpPr>
        <p:spPr>
          <a:xfrm>
            <a:off x="678942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38</a:t>
            </a:r>
            <a:endParaRPr lang="en-US" sz="1500" dirty="0"/>
          </a:p>
        </p:txBody>
      </p:sp>
      <p:sp>
        <p:nvSpPr>
          <p:cNvPr id="28" name="Shape 25"/>
          <p:cNvSpPr/>
          <p:nvPr/>
        </p:nvSpPr>
        <p:spPr>
          <a:xfrm>
            <a:off x="733806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29" name="Text 26"/>
          <p:cNvSpPr/>
          <p:nvPr/>
        </p:nvSpPr>
        <p:spPr>
          <a:xfrm>
            <a:off x="737616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34</a:t>
            </a:r>
            <a:endParaRPr lang="en-US" sz="1500" dirty="0"/>
          </a:p>
        </p:txBody>
      </p:sp>
      <p:sp>
        <p:nvSpPr>
          <p:cNvPr id="30" name="Shape 27"/>
          <p:cNvSpPr/>
          <p:nvPr/>
        </p:nvSpPr>
        <p:spPr>
          <a:xfrm>
            <a:off x="792480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31" name="Text 28"/>
          <p:cNvSpPr/>
          <p:nvPr/>
        </p:nvSpPr>
        <p:spPr>
          <a:xfrm>
            <a:off x="796290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34</a:t>
            </a:r>
            <a:endParaRPr lang="en-US" sz="1500" dirty="0"/>
          </a:p>
        </p:txBody>
      </p:sp>
      <p:sp>
        <p:nvSpPr>
          <p:cNvPr id="32" name="Shape 29"/>
          <p:cNvSpPr/>
          <p:nvPr/>
        </p:nvSpPr>
        <p:spPr>
          <a:xfrm>
            <a:off x="851154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33" name="Text 30"/>
          <p:cNvSpPr/>
          <p:nvPr/>
        </p:nvSpPr>
        <p:spPr>
          <a:xfrm>
            <a:off x="854964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30</a:t>
            </a:r>
            <a:endParaRPr lang="en-US" sz="1500" dirty="0"/>
          </a:p>
        </p:txBody>
      </p:sp>
      <p:sp>
        <p:nvSpPr>
          <p:cNvPr id="34" name="Shape 31"/>
          <p:cNvSpPr/>
          <p:nvPr/>
        </p:nvSpPr>
        <p:spPr>
          <a:xfrm>
            <a:off x="909828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35" name="Text 32"/>
          <p:cNvSpPr/>
          <p:nvPr/>
        </p:nvSpPr>
        <p:spPr>
          <a:xfrm>
            <a:off x="913638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30</a:t>
            </a:r>
            <a:endParaRPr lang="en-US" sz="1500" dirty="0"/>
          </a:p>
        </p:txBody>
      </p:sp>
      <p:sp>
        <p:nvSpPr>
          <p:cNvPr id="36" name="Shape 33"/>
          <p:cNvSpPr/>
          <p:nvPr/>
        </p:nvSpPr>
        <p:spPr>
          <a:xfrm>
            <a:off x="968502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37" name="Text 34"/>
          <p:cNvSpPr/>
          <p:nvPr/>
        </p:nvSpPr>
        <p:spPr>
          <a:xfrm>
            <a:off x="972312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31</a:t>
            </a:r>
            <a:endParaRPr lang="en-US" sz="1500" dirty="0"/>
          </a:p>
        </p:txBody>
      </p:sp>
      <p:sp>
        <p:nvSpPr>
          <p:cNvPr id="38" name="Shape 35"/>
          <p:cNvSpPr/>
          <p:nvPr/>
        </p:nvSpPr>
        <p:spPr>
          <a:xfrm>
            <a:off x="1027176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39" name="Text 36"/>
          <p:cNvSpPr/>
          <p:nvPr/>
        </p:nvSpPr>
        <p:spPr>
          <a:xfrm>
            <a:off x="1030986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33</a:t>
            </a:r>
            <a:endParaRPr lang="en-US" sz="1500" dirty="0"/>
          </a:p>
        </p:txBody>
      </p:sp>
      <p:sp>
        <p:nvSpPr>
          <p:cNvPr id="40" name="Shape 37"/>
          <p:cNvSpPr/>
          <p:nvPr/>
        </p:nvSpPr>
        <p:spPr>
          <a:xfrm>
            <a:off x="10858500" y="3139440"/>
            <a:ext cx="525780" cy="525780"/>
          </a:xfrm>
          <a:prstGeom prst="roundRect">
            <a:avLst>
              <a:gd name="adj" fmla="val 14493"/>
            </a:avLst>
          </a:prstGeom>
          <a:solidFill>
            <a:srgbClr val="EAF1FF"/>
          </a:solidFill>
          <a:ln w="12700">
            <a:solidFill>
              <a:srgbClr val="EAF1FF">
                <a:alpha val="0"/>
              </a:srgbClr>
            </a:solidFill>
            <a:prstDash val="solid"/>
          </a:ln>
        </p:spPr>
      </p:sp>
      <p:sp>
        <p:nvSpPr>
          <p:cNvPr id="41" name="Text 38"/>
          <p:cNvSpPr/>
          <p:nvPr/>
        </p:nvSpPr>
        <p:spPr>
          <a:xfrm>
            <a:off x="10896600" y="32918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3b</a:t>
            </a:r>
            <a:endParaRPr lang="en-US" sz="1500" dirty="0"/>
          </a:p>
        </p:txBody>
      </p:sp>
      <p:sp>
        <p:nvSpPr>
          <p:cNvPr id="42" name="Text 39"/>
          <p:cNvSpPr/>
          <p:nvPr/>
        </p:nvSpPr>
        <p:spPr>
          <a:xfrm>
            <a:off x="624840" y="4267200"/>
            <a:ext cx="1371600" cy="236220"/>
          </a:xfrm>
          <a:prstGeom prst="rect">
            <a:avLst/>
          </a:prstGeom>
          <a:noFill/>
          <a:ln/>
        </p:spPr>
        <p:txBody>
          <a:bodyPr wrap="square" lIns="0" tIns="0" rIns="0" bIns="0" rtlCol="0" anchor="ctr"/>
          <a:lstStyle/>
          <a:p>
            <a:pPr algn="l" indent="0" marL="0">
              <a:lnSpc>
                <a:spcPct val="100000"/>
              </a:lnSpc>
              <a:buNone/>
            </a:pPr>
            <a:r>
              <a:rPr lang="en-US" sz="1500" b="1" dirty="0">
                <a:solidFill>
                  <a:srgbClr val="52657B"/>
                </a:solidFill>
                <a:latin typeface="Arial" pitchFamily="34" charset="0"/>
                <a:ea typeface="Arial" pitchFamily="34" charset="-122"/>
                <a:cs typeface="Arial" pitchFamily="34" charset="-120"/>
              </a:rPr>
              <a:t>BLOCO 2</a:t>
            </a:r>
            <a:endParaRPr lang="en-US" sz="1500" dirty="0"/>
          </a:p>
        </p:txBody>
      </p:sp>
      <p:sp>
        <p:nvSpPr>
          <p:cNvPr id="43" name="Shape 40"/>
          <p:cNvSpPr/>
          <p:nvPr/>
        </p:nvSpPr>
        <p:spPr>
          <a:xfrm>
            <a:off x="205740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44" name="Text 41"/>
          <p:cNvSpPr/>
          <p:nvPr/>
        </p:nvSpPr>
        <p:spPr>
          <a:xfrm>
            <a:off x="209550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42</a:t>
            </a:r>
            <a:endParaRPr lang="en-US" sz="1500" dirty="0"/>
          </a:p>
        </p:txBody>
      </p:sp>
      <p:sp>
        <p:nvSpPr>
          <p:cNvPr id="45" name="Shape 42"/>
          <p:cNvSpPr/>
          <p:nvPr/>
        </p:nvSpPr>
        <p:spPr>
          <a:xfrm>
            <a:off x="264414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46" name="Text 43"/>
          <p:cNvSpPr/>
          <p:nvPr/>
        </p:nvSpPr>
        <p:spPr>
          <a:xfrm>
            <a:off x="268224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3a</a:t>
            </a:r>
            <a:endParaRPr lang="en-US" sz="1500" dirty="0"/>
          </a:p>
        </p:txBody>
      </p:sp>
      <p:sp>
        <p:nvSpPr>
          <p:cNvPr id="47" name="Shape 44"/>
          <p:cNvSpPr/>
          <p:nvPr/>
        </p:nvSpPr>
        <p:spPr>
          <a:xfrm>
            <a:off x="323088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48" name="Text 45"/>
          <p:cNvSpPr/>
          <p:nvPr/>
        </p:nvSpPr>
        <p:spPr>
          <a:xfrm>
            <a:off x="326898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32</a:t>
            </a:r>
            <a:endParaRPr lang="en-US" sz="1500" dirty="0"/>
          </a:p>
        </p:txBody>
      </p:sp>
      <p:sp>
        <p:nvSpPr>
          <p:cNvPr id="49" name="Shape 46"/>
          <p:cNvSpPr/>
          <p:nvPr/>
        </p:nvSpPr>
        <p:spPr>
          <a:xfrm>
            <a:off x="381762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50" name="Text 47"/>
          <p:cNvSpPr/>
          <p:nvPr/>
        </p:nvSpPr>
        <p:spPr>
          <a:xfrm>
            <a:off x="385572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30</a:t>
            </a:r>
            <a:endParaRPr lang="en-US" sz="1500" dirty="0"/>
          </a:p>
        </p:txBody>
      </p:sp>
      <p:sp>
        <p:nvSpPr>
          <p:cNvPr id="51" name="Shape 48"/>
          <p:cNvSpPr/>
          <p:nvPr/>
        </p:nvSpPr>
        <p:spPr>
          <a:xfrm>
            <a:off x="440436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52" name="Text 49"/>
          <p:cNvSpPr/>
          <p:nvPr/>
        </p:nvSpPr>
        <p:spPr>
          <a:xfrm>
            <a:off x="444246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32</a:t>
            </a:r>
            <a:endParaRPr lang="en-US" sz="1500" dirty="0"/>
          </a:p>
        </p:txBody>
      </p:sp>
      <p:sp>
        <p:nvSpPr>
          <p:cNvPr id="53" name="Shape 50"/>
          <p:cNvSpPr/>
          <p:nvPr/>
        </p:nvSpPr>
        <p:spPr>
          <a:xfrm>
            <a:off x="499110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54" name="Text 51"/>
          <p:cNvSpPr/>
          <p:nvPr/>
        </p:nvSpPr>
        <p:spPr>
          <a:xfrm>
            <a:off x="502920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31</a:t>
            </a:r>
            <a:endParaRPr lang="en-US" sz="1500" dirty="0"/>
          </a:p>
        </p:txBody>
      </p:sp>
      <p:sp>
        <p:nvSpPr>
          <p:cNvPr id="55" name="Shape 52"/>
          <p:cNvSpPr/>
          <p:nvPr/>
        </p:nvSpPr>
        <p:spPr>
          <a:xfrm>
            <a:off x="557784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56" name="Text 53"/>
          <p:cNvSpPr/>
          <p:nvPr/>
        </p:nvSpPr>
        <p:spPr>
          <a:xfrm>
            <a:off x="561594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32</a:t>
            </a:r>
            <a:endParaRPr lang="en-US" sz="1500" dirty="0"/>
          </a:p>
        </p:txBody>
      </p:sp>
      <p:sp>
        <p:nvSpPr>
          <p:cNvPr id="57" name="Shape 54"/>
          <p:cNvSpPr/>
          <p:nvPr/>
        </p:nvSpPr>
        <p:spPr>
          <a:xfrm>
            <a:off x="616458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58" name="Text 55"/>
          <p:cNvSpPr/>
          <p:nvPr/>
        </p:nvSpPr>
        <p:spPr>
          <a:xfrm>
            <a:off x="620268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37</a:t>
            </a:r>
            <a:endParaRPr lang="en-US" sz="1500" dirty="0"/>
          </a:p>
        </p:txBody>
      </p:sp>
      <p:sp>
        <p:nvSpPr>
          <p:cNvPr id="59" name="Shape 56"/>
          <p:cNvSpPr/>
          <p:nvPr/>
        </p:nvSpPr>
        <p:spPr>
          <a:xfrm>
            <a:off x="675132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60" name="Text 57"/>
          <p:cNvSpPr/>
          <p:nvPr/>
        </p:nvSpPr>
        <p:spPr>
          <a:xfrm>
            <a:off x="678942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38</a:t>
            </a:r>
            <a:endParaRPr lang="en-US" sz="1500" dirty="0"/>
          </a:p>
        </p:txBody>
      </p:sp>
      <p:sp>
        <p:nvSpPr>
          <p:cNvPr id="61" name="Shape 58"/>
          <p:cNvSpPr/>
          <p:nvPr/>
        </p:nvSpPr>
        <p:spPr>
          <a:xfrm>
            <a:off x="733806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62" name="Text 59"/>
          <p:cNvSpPr/>
          <p:nvPr/>
        </p:nvSpPr>
        <p:spPr>
          <a:xfrm>
            <a:off x="737616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34</a:t>
            </a:r>
            <a:endParaRPr lang="en-US" sz="1500" dirty="0"/>
          </a:p>
        </p:txBody>
      </p:sp>
      <p:sp>
        <p:nvSpPr>
          <p:cNvPr id="63" name="Shape 60"/>
          <p:cNvSpPr/>
          <p:nvPr/>
        </p:nvSpPr>
        <p:spPr>
          <a:xfrm>
            <a:off x="792480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64" name="Text 61"/>
          <p:cNvSpPr/>
          <p:nvPr/>
        </p:nvSpPr>
        <p:spPr>
          <a:xfrm>
            <a:off x="796290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34</a:t>
            </a:r>
            <a:endParaRPr lang="en-US" sz="1500" dirty="0"/>
          </a:p>
        </p:txBody>
      </p:sp>
      <p:sp>
        <p:nvSpPr>
          <p:cNvPr id="65" name="Shape 62"/>
          <p:cNvSpPr/>
          <p:nvPr/>
        </p:nvSpPr>
        <p:spPr>
          <a:xfrm>
            <a:off x="851154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66" name="Text 63"/>
          <p:cNvSpPr/>
          <p:nvPr/>
        </p:nvSpPr>
        <p:spPr>
          <a:xfrm>
            <a:off x="854964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32</a:t>
            </a:r>
            <a:endParaRPr lang="en-US" sz="1500" dirty="0"/>
          </a:p>
        </p:txBody>
      </p:sp>
      <p:sp>
        <p:nvSpPr>
          <p:cNvPr id="67" name="Shape 64"/>
          <p:cNvSpPr/>
          <p:nvPr/>
        </p:nvSpPr>
        <p:spPr>
          <a:xfrm>
            <a:off x="909828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68" name="Text 65"/>
          <p:cNvSpPr/>
          <p:nvPr/>
        </p:nvSpPr>
        <p:spPr>
          <a:xfrm>
            <a:off x="913638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35</a:t>
            </a:r>
            <a:endParaRPr lang="en-US" sz="1500" dirty="0"/>
          </a:p>
        </p:txBody>
      </p:sp>
      <p:sp>
        <p:nvSpPr>
          <p:cNvPr id="69" name="Shape 66"/>
          <p:cNvSpPr/>
          <p:nvPr/>
        </p:nvSpPr>
        <p:spPr>
          <a:xfrm>
            <a:off x="9685020" y="4168140"/>
            <a:ext cx="525780" cy="525780"/>
          </a:xfrm>
          <a:prstGeom prst="roundRect">
            <a:avLst>
              <a:gd name="adj" fmla="val 14493"/>
            </a:avLst>
          </a:prstGeom>
          <a:solidFill>
            <a:srgbClr val="EAF1FF"/>
          </a:solidFill>
          <a:ln w="12700">
            <a:solidFill>
              <a:srgbClr val="EAF1FF">
                <a:alpha val="0"/>
              </a:srgbClr>
            </a:solidFill>
            <a:prstDash val="solid"/>
          </a:ln>
        </p:spPr>
      </p:sp>
      <p:sp>
        <p:nvSpPr>
          <p:cNvPr id="70" name="Text 67"/>
          <p:cNvSpPr/>
          <p:nvPr/>
        </p:nvSpPr>
        <p:spPr>
          <a:xfrm>
            <a:off x="972312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2165D6"/>
                </a:solidFill>
                <a:latin typeface="Consolas" pitchFamily="34" charset="0"/>
                <a:ea typeface="Consolas" pitchFamily="34" charset="-122"/>
                <a:cs typeface="Consolas" pitchFamily="34" charset="-120"/>
              </a:rPr>
              <a:t>31</a:t>
            </a:r>
            <a:endParaRPr lang="en-US" sz="1500" dirty="0"/>
          </a:p>
        </p:txBody>
      </p:sp>
      <p:sp>
        <p:nvSpPr>
          <p:cNvPr id="71" name="Shape 68"/>
          <p:cNvSpPr/>
          <p:nvPr/>
        </p:nvSpPr>
        <p:spPr>
          <a:xfrm>
            <a:off x="10271760" y="4168140"/>
            <a:ext cx="525780" cy="525780"/>
          </a:xfrm>
          <a:prstGeom prst="roundRect">
            <a:avLst>
              <a:gd name="adj" fmla="val 14493"/>
            </a:avLst>
          </a:prstGeom>
          <a:solidFill>
            <a:srgbClr val="E4F6F0"/>
          </a:solidFill>
          <a:ln w="12700">
            <a:solidFill>
              <a:srgbClr val="E4F6F0">
                <a:alpha val="0"/>
              </a:srgbClr>
            </a:solidFill>
            <a:prstDash val="solid"/>
          </a:ln>
        </p:spPr>
      </p:sp>
      <p:sp>
        <p:nvSpPr>
          <p:cNvPr id="72" name="Text 69"/>
          <p:cNvSpPr/>
          <p:nvPr/>
        </p:nvSpPr>
        <p:spPr>
          <a:xfrm>
            <a:off x="1030986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008774"/>
                </a:solidFill>
                <a:latin typeface="Consolas" pitchFamily="34" charset="0"/>
                <a:ea typeface="Consolas" pitchFamily="34" charset="-122"/>
                <a:cs typeface="Consolas" pitchFamily="34" charset="-120"/>
              </a:rPr>
              <a:t>02</a:t>
            </a:r>
            <a:endParaRPr lang="en-US" sz="1500" dirty="0"/>
          </a:p>
        </p:txBody>
      </p:sp>
      <p:sp>
        <p:nvSpPr>
          <p:cNvPr id="73" name="Shape 70"/>
          <p:cNvSpPr/>
          <p:nvPr/>
        </p:nvSpPr>
        <p:spPr>
          <a:xfrm>
            <a:off x="10858500" y="4168140"/>
            <a:ext cx="525780" cy="525780"/>
          </a:xfrm>
          <a:prstGeom prst="roundRect">
            <a:avLst>
              <a:gd name="adj" fmla="val 14493"/>
            </a:avLst>
          </a:prstGeom>
          <a:solidFill>
            <a:srgbClr val="E4F6F0"/>
          </a:solidFill>
          <a:ln w="12700">
            <a:solidFill>
              <a:srgbClr val="E4F6F0">
                <a:alpha val="0"/>
              </a:srgbClr>
            </a:solidFill>
            <a:prstDash val="solid"/>
          </a:ln>
        </p:spPr>
      </p:sp>
      <p:sp>
        <p:nvSpPr>
          <p:cNvPr id="74" name="Text 71"/>
          <p:cNvSpPr/>
          <p:nvPr/>
        </p:nvSpPr>
        <p:spPr>
          <a:xfrm>
            <a:off x="10896600" y="4320540"/>
            <a:ext cx="449580" cy="236220"/>
          </a:xfrm>
          <a:prstGeom prst="rect">
            <a:avLst/>
          </a:prstGeom>
          <a:noFill/>
          <a:ln/>
        </p:spPr>
        <p:txBody>
          <a:bodyPr wrap="square" lIns="0" tIns="0" rIns="0" bIns="0" rtlCol="0" anchor="ctr"/>
          <a:lstStyle/>
          <a:p>
            <a:pPr algn="ctr" indent="0" marL="0">
              <a:lnSpc>
                <a:spcPct val="100000"/>
              </a:lnSpc>
              <a:buNone/>
            </a:pPr>
            <a:r>
              <a:rPr lang="en-US" sz="1500" b="1" dirty="0">
                <a:solidFill>
                  <a:srgbClr val="008774"/>
                </a:solidFill>
                <a:latin typeface="Consolas" pitchFamily="34" charset="0"/>
                <a:ea typeface="Consolas" pitchFamily="34" charset="-122"/>
                <a:cs typeface="Consolas" pitchFamily="34" charset="-120"/>
              </a:rPr>
              <a:t>02</a:t>
            </a:r>
            <a:endParaRPr lang="en-US" sz="1500" dirty="0"/>
          </a:p>
        </p:txBody>
      </p:sp>
      <p:sp>
        <p:nvSpPr>
          <p:cNvPr id="75" name="Shape 72"/>
          <p:cNvSpPr/>
          <p:nvPr/>
        </p:nvSpPr>
        <p:spPr>
          <a:xfrm>
            <a:off x="487680" y="5547360"/>
            <a:ext cx="11216640" cy="502920"/>
          </a:xfrm>
          <a:prstGeom prst="roundRect">
            <a:avLst>
              <a:gd name="adj" fmla="val 21212"/>
            </a:avLst>
          </a:prstGeom>
          <a:solidFill>
            <a:srgbClr val="EAF1FF"/>
          </a:solidFill>
          <a:ln w="12700">
            <a:solidFill>
              <a:srgbClr val="EAF1FF">
                <a:alpha val="0"/>
              </a:srgbClr>
            </a:solidFill>
            <a:prstDash val="solid"/>
          </a:ln>
        </p:spPr>
      </p:sp>
      <p:sp>
        <p:nvSpPr>
          <p:cNvPr id="76" name="Text 73"/>
          <p:cNvSpPr/>
          <p:nvPr/>
        </p:nvSpPr>
        <p:spPr>
          <a:xfrm>
            <a:off x="670560" y="566928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Se a mensagem já for múltipla de 16, entram 16 bytes de valor 0x10.</a:t>
            </a:r>
            <a:endParaRPr lang="en-US" sz="1560" dirty="0"/>
          </a:p>
        </p:txBody>
      </p:sp>
      <p:sp>
        <p:nvSpPr>
          <p:cNvPr id="77" name="Shape 74"/>
          <p:cNvSpPr/>
          <p:nvPr/>
        </p:nvSpPr>
        <p:spPr>
          <a:xfrm>
            <a:off x="487680" y="6461760"/>
            <a:ext cx="11216640" cy="0"/>
          </a:xfrm>
          <a:prstGeom prst="line">
            <a:avLst/>
          </a:prstGeom>
          <a:noFill/>
          <a:ln w="7620">
            <a:solidFill>
              <a:srgbClr val="D7E1EE"/>
            </a:solidFill>
            <a:prstDash val="solid"/>
          </a:ln>
        </p:spPr>
      </p:sp>
      <p:sp>
        <p:nvSpPr>
          <p:cNvPr id="78" name="Text 75"/>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79" name="Text 76"/>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06 / 27</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CÓDIGO REAL</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No código: completar e cifrar</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 preparação do texto e a cifra são etapas diferentes.</a:t>
            </a:r>
            <a:endParaRPr lang="en-US" sz="1620" dirty="0"/>
          </a:p>
        </p:txBody>
      </p:sp>
      <p:sp>
        <p:nvSpPr>
          <p:cNvPr id="8" name="Shape 5"/>
          <p:cNvSpPr/>
          <p:nvPr/>
        </p:nvSpPr>
        <p:spPr>
          <a:xfrm>
            <a:off x="487680" y="2514600"/>
            <a:ext cx="11216640" cy="1432560"/>
          </a:xfrm>
          <a:prstGeom prst="roundRect">
            <a:avLst>
              <a:gd name="adj" fmla="val 9574"/>
            </a:avLst>
          </a:prstGeom>
          <a:solidFill>
            <a:srgbClr val="F0F4FA"/>
          </a:solidFill>
          <a:ln w="12700">
            <a:solidFill>
              <a:srgbClr val="D7E1EE"/>
            </a:solidFill>
            <a:prstDash val="solid"/>
          </a:ln>
        </p:spPr>
      </p:sp>
      <p:sp>
        <p:nvSpPr>
          <p:cNvPr id="9" name="Shape 6"/>
          <p:cNvSpPr/>
          <p:nvPr/>
        </p:nvSpPr>
        <p:spPr>
          <a:xfrm>
            <a:off x="487680" y="2514600"/>
            <a:ext cx="11216640" cy="327660"/>
          </a:xfrm>
          <a:prstGeom prst="roundRect">
            <a:avLst>
              <a:gd name="adj" fmla="val 32558"/>
            </a:avLst>
          </a:prstGeom>
          <a:solidFill>
            <a:srgbClr val="EAF1FF"/>
          </a:solidFill>
          <a:ln w="12700">
            <a:solidFill>
              <a:srgbClr val="EAF1FF">
                <a:alpha val="0"/>
              </a:srgbClr>
            </a:solidFill>
            <a:prstDash val="solid"/>
          </a:ln>
        </p:spPr>
      </p:sp>
      <p:sp>
        <p:nvSpPr>
          <p:cNvPr id="10" name="Text 7"/>
          <p:cNvSpPr/>
          <p:nvPr/>
        </p:nvSpPr>
        <p:spPr>
          <a:xfrm>
            <a:off x="624840" y="258318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pkcs7_ecb.c · dentro de pkcs7_preencher()</a:t>
            </a:r>
            <a:endParaRPr lang="en-US" sz="1080" dirty="0"/>
          </a:p>
        </p:txBody>
      </p:sp>
      <p:sp>
        <p:nvSpPr>
          <p:cNvPr id="11" name="Text 8"/>
          <p:cNvSpPr/>
          <p:nvPr/>
        </p:nvSpPr>
        <p:spPr>
          <a:xfrm>
            <a:off x="655320" y="2994660"/>
            <a:ext cx="10881360" cy="255118"/>
          </a:xfrm>
          <a:prstGeom prst="rect">
            <a:avLst/>
          </a:prstGeom>
          <a:noFill/>
          <a:ln/>
        </p:spPr>
        <p:txBody>
          <a:bodyPr wrap="square" lIns="0" tIns="0" rIns="0" bIns="0" rtlCol="0" anchor="ctr"/>
          <a:lstStyle/>
          <a:p>
            <a:pPr algn="l" indent="0" marL="0">
              <a:lnSpc>
                <a:spcPct val="100000"/>
              </a:lnSpc>
              <a:buNone/>
            </a:pPr>
            <a:r>
              <a:rPr lang="en-US" sz="1620" dirty="0">
                <a:solidFill>
                  <a:srgbClr val="182B45"/>
                </a:solidFill>
                <a:latin typeface="Consolas" pitchFamily="34" charset="0"/>
                <a:ea typeface="Consolas" pitchFamily="34" charset="-122"/>
                <a:cs typeface="Consolas" pitchFamily="34" charset="-120"/>
              </a:rPr>
              <a:t>  const uint8_t falta = (uint8_t)(total - tamanho);  // 1..16</a:t>
            </a:r>
            <a:endParaRPr lang="en-US" sz="1620" dirty="0"/>
          </a:p>
        </p:txBody>
      </p:sp>
      <p:sp>
        <p:nvSpPr>
          <p:cNvPr id="12" name="Text 9"/>
          <p:cNvSpPr/>
          <p:nvPr/>
        </p:nvSpPr>
        <p:spPr>
          <a:xfrm>
            <a:off x="655320" y="3249778"/>
            <a:ext cx="10881360" cy="255118"/>
          </a:xfrm>
          <a:prstGeom prst="rect">
            <a:avLst/>
          </a:prstGeom>
          <a:noFill/>
          <a:ln/>
        </p:spPr>
        <p:txBody>
          <a:bodyPr wrap="square" lIns="0" tIns="0" rIns="0" bIns="0" rtlCol="0" anchor="ctr"/>
          <a:lstStyle/>
          <a:p>
            <a:pPr algn="l" indent="0" marL="0">
              <a:lnSpc>
                <a:spcPct val="100000"/>
              </a:lnSpc>
              <a:buNone/>
            </a:pPr>
            <a:r>
              <a:rPr lang="en-US" sz="1620" dirty="0">
                <a:solidFill>
                  <a:srgbClr val="182B45"/>
                </a:solidFill>
                <a:latin typeface="Consolas" pitchFamily="34" charset="0"/>
                <a:ea typeface="Consolas" pitchFamily="34" charset="-122"/>
                <a:cs typeface="Consolas" pitchFamily="34" charset="-120"/>
              </a:rPr>
              <a:t>  if (tamanho) memmove(saida, msg, tamanho);</a:t>
            </a:r>
            <a:endParaRPr lang="en-US" sz="1620" dirty="0"/>
          </a:p>
        </p:txBody>
      </p:sp>
      <p:sp>
        <p:nvSpPr>
          <p:cNvPr id="13" name="Text 10"/>
          <p:cNvSpPr/>
          <p:nvPr/>
        </p:nvSpPr>
        <p:spPr>
          <a:xfrm>
            <a:off x="655320" y="3504895"/>
            <a:ext cx="10881360" cy="255118"/>
          </a:xfrm>
          <a:prstGeom prst="rect">
            <a:avLst/>
          </a:prstGeom>
          <a:noFill/>
          <a:ln/>
        </p:spPr>
        <p:txBody>
          <a:bodyPr wrap="square" lIns="0" tIns="0" rIns="0" bIns="0" rtlCol="0" anchor="ctr"/>
          <a:lstStyle/>
          <a:p>
            <a:pPr algn="l" indent="0" marL="0">
              <a:lnSpc>
                <a:spcPct val="100000"/>
              </a:lnSpc>
              <a:buNone/>
            </a:pPr>
            <a:r>
              <a:rPr lang="en-US" sz="1620" dirty="0">
                <a:solidFill>
                  <a:srgbClr val="182B45"/>
                </a:solidFill>
                <a:latin typeface="Consolas" pitchFamily="34" charset="0"/>
                <a:ea typeface="Consolas" pitchFamily="34" charset="-122"/>
                <a:cs typeface="Consolas" pitchFamily="34" charset="-120"/>
              </a:rPr>
              <a:t>  memset(saida + tamanho, falta, falta);</a:t>
            </a:r>
            <a:endParaRPr lang="en-US" sz="1620" dirty="0"/>
          </a:p>
        </p:txBody>
      </p:sp>
      <p:sp>
        <p:nvSpPr>
          <p:cNvPr id="14" name="Shape 11"/>
          <p:cNvSpPr/>
          <p:nvPr/>
        </p:nvSpPr>
        <p:spPr>
          <a:xfrm>
            <a:off x="487680" y="4236720"/>
            <a:ext cx="11216640" cy="1219200"/>
          </a:xfrm>
          <a:prstGeom prst="roundRect">
            <a:avLst>
              <a:gd name="adj" fmla="val 11250"/>
            </a:avLst>
          </a:prstGeom>
          <a:solidFill>
            <a:srgbClr val="F0F4FA"/>
          </a:solidFill>
          <a:ln w="12700">
            <a:solidFill>
              <a:srgbClr val="D7E1EE"/>
            </a:solidFill>
            <a:prstDash val="solid"/>
          </a:ln>
        </p:spPr>
      </p:sp>
      <p:sp>
        <p:nvSpPr>
          <p:cNvPr id="15" name="Shape 12"/>
          <p:cNvSpPr/>
          <p:nvPr/>
        </p:nvSpPr>
        <p:spPr>
          <a:xfrm>
            <a:off x="487680" y="4236720"/>
            <a:ext cx="11216640" cy="327660"/>
          </a:xfrm>
          <a:prstGeom prst="roundRect">
            <a:avLst>
              <a:gd name="adj" fmla="val 32558"/>
            </a:avLst>
          </a:prstGeom>
          <a:solidFill>
            <a:srgbClr val="EAF1FF"/>
          </a:solidFill>
          <a:ln w="12700">
            <a:solidFill>
              <a:srgbClr val="EAF1FF">
                <a:alpha val="0"/>
              </a:srgbClr>
            </a:solidFill>
            <a:prstDash val="solid"/>
          </a:ln>
        </p:spPr>
      </p:sp>
      <p:sp>
        <p:nvSpPr>
          <p:cNvPr id="16" name="Text 13"/>
          <p:cNvSpPr/>
          <p:nvPr/>
        </p:nvSpPr>
        <p:spPr>
          <a:xfrm>
            <a:off x="624840" y="430530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pkcs7_ecb.c · dentro de ecb_cifrar()</a:t>
            </a:r>
            <a:endParaRPr lang="en-US" sz="1080" dirty="0"/>
          </a:p>
        </p:txBody>
      </p:sp>
      <p:sp>
        <p:nvSpPr>
          <p:cNvPr id="17" name="Text 14"/>
          <p:cNvSpPr/>
          <p:nvPr/>
        </p:nvSpPr>
        <p:spPr>
          <a:xfrm>
            <a:off x="655320" y="4716780"/>
            <a:ext cx="10881360" cy="255118"/>
          </a:xfrm>
          <a:prstGeom prst="rect">
            <a:avLst/>
          </a:prstGeom>
          <a:noFill/>
          <a:ln/>
        </p:spPr>
        <p:txBody>
          <a:bodyPr wrap="square" lIns="0" tIns="0" rIns="0" bIns="0" rtlCol="0" anchor="ctr"/>
          <a:lstStyle/>
          <a:p>
            <a:pPr algn="l" indent="0" marL="0">
              <a:lnSpc>
                <a:spcPct val="100000"/>
              </a:lnSpc>
              <a:buNone/>
            </a:pPr>
            <a:r>
              <a:rPr lang="en-US" sz="1620" dirty="0">
                <a:solidFill>
                  <a:srgbClr val="182B45"/>
                </a:solidFill>
                <a:latin typeface="Consolas" pitchFamily="34" charset="0"/>
                <a:ea typeface="Consolas" pitchFamily="34" charset="-122"/>
                <a:cs typeface="Consolas" pitchFamily="34" charset="-120"/>
              </a:rPr>
              <a:t>  for (size_t b = 0; b &lt; blocos; ++b)</a:t>
            </a:r>
            <a:endParaRPr lang="en-US" sz="1620" dirty="0"/>
          </a:p>
        </p:txBody>
      </p:sp>
      <p:sp>
        <p:nvSpPr>
          <p:cNvPr id="18" name="Text 15"/>
          <p:cNvSpPr/>
          <p:nvPr/>
        </p:nvSpPr>
        <p:spPr>
          <a:xfrm>
            <a:off x="655320" y="4971898"/>
            <a:ext cx="10881360" cy="255118"/>
          </a:xfrm>
          <a:prstGeom prst="rect">
            <a:avLst/>
          </a:prstGeom>
          <a:noFill/>
          <a:ln/>
        </p:spPr>
        <p:txBody>
          <a:bodyPr wrap="square" lIns="0" tIns="0" rIns="0" bIns="0" rtlCol="0" anchor="ctr"/>
          <a:lstStyle/>
          <a:p>
            <a:pPr algn="l" indent="0" marL="0">
              <a:lnSpc>
                <a:spcPct val="100000"/>
              </a:lnSpc>
              <a:buNone/>
            </a:pPr>
            <a:r>
              <a:rPr lang="en-US" sz="1620" dirty="0">
                <a:solidFill>
                  <a:srgbClr val="182B45"/>
                </a:solidFill>
                <a:latin typeface="Consolas" pitchFamily="34" charset="0"/>
                <a:ea typeface="Consolas" pitchFamily="34" charset="-122"/>
                <a:cs typeface="Consolas" pitchFamily="34" charset="-120"/>
              </a:rPr>
              <a:t>    aes128_cifrar_bloco(ctx, in + 16 * b, out + 16 * b);</a:t>
            </a:r>
            <a:endParaRPr lang="en-US" sz="1620" dirty="0"/>
          </a:p>
        </p:txBody>
      </p:sp>
      <p:sp>
        <p:nvSpPr>
          <p:cNvPr id="19" name="Text 16"/>
          <p:cNvSpPr/>
          <p:nvPr/>
        </p:nvSpPr>
        <p:spPr>
          <a:xfrm>
            <a:off x="640080" y="5768340"/>
            <a:ext cx="10896600" cy="264566"/>
          </a:xfrm>
          <a:prstGeom prst="rect">
            <a:avLst/>
          </a:prstGeom>
          <a:noFill/>
          <a:ln/>
        </p:spPr>
        <p:txBody>
          <a:bodyPr wrap="square" lIns="0" tIns="0" rIns="0" bIns="0" rtlCol="0" anchor="ctr"/>
          <a:lstStyle/>
          <a:p>
            <a:pPr algn="l" indent="0" marL="0">
              <a:lnSpc>
                <a:spcPct val="100000"/>
              </a:lnSpc>
              <a:buNone/>
            </a:pPr>
            <a:r>
              <a:rPr lang="en-US" sz="1680" dirty="0">
                <a:solidFill>
                  <a:srgbClr val="52657B"/>
                </a:solidFill>
                <a:latin typeface="Arial" pitchFamily="34" charset="0"/>
                <a:ea typeface="Arial" pitchFamily="34" charset="-122"/>
                <a:cs typeface="Arial" pitchFamily="34" charset="-120"/>
              </a:rPr>
              <a:t>Cada chamada trabalha com 16 bytes. A mesma chave é usada nos dois lados.</a:t>
            </a:r>
            <a:endParaRPr lang="en-US" sz="1680" dirty="0"/>
          </a:p>
        </p:txBody>
      </p:sp>
      <p:sp>
        <p:nvSpPr>
          <p:cNvPr id="20" name="Shape 17"/>
          <p:cNvSpPr/>
          <p:nvPr/>
        </p:nvSpPr>
        <p:spPr>
          <a:xfrm>
            <a:off x="487680" y="6461760"/>
            <a:ext cx="11216640" cy="0"/>
          </a:xfrm>
          <a:prstGeom prst="line">
            <a:avLst/>
          </a:prstGeom>
          <a:noFill/>
          <a:ln w="7620">
            <a:solidFill>
              <a:srgbClr val="D7E1EE"/>
            </a:solidFill>
            <a:prstDash val="solid"/>
          </a:ln>
        </p:spPr>
      </p:sp>
      <p:sp>
        <p:nvSpPr>
          <p:cNvPr id="21" name="Text 18"/>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2" name="Text 19"/>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07 / 27</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POR DENTRO DO AES</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O AES transforma um bloco em 10 rodadas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 cada rodada, substituímos, deslocamos, misturamos e combinamos com a chave.</a:t>
            </a:r>
            <a:endParaRPr lang="en-US" sz="1620" dirty="0"/>
          </a:p>
        </p:txBody>
      </p:sp>
      <p:sp>
        <p:nvSpPr>
          <p:cNvPr id="8" name="Shape 5"/>
          <p:cNvSpPr/>
          <p:nvPr/>
        </p:nvSpPr>
        <p:spPr>
          <a:xfrm>
            <a:off x="487680" y="2453640"/>
            <a:ext cx="2286000" cy="289560"/>
          </a:xfrm>
          <a:prstGeom prst="roundRect">
            <a:avLst>
              <a:gd name="adj" fmla="val 26316"/>
            </a:avLst>
          </a:prstGeom>
          <a:solidFill>
            <a:srgbClr val="EAF1FF"/>
          </a:solidFill>
          <a:ln w="12700">
            <a:solidFill>
              <a:srgbClr val="EAF1FF">
                <a:alpha val="0"/>
              </a:srgbClr>
            </a:solidFill>
            <a:prstDash val="solid"/>
          </a:ln>
        </p:spPr>
      </p:sp>
      <p:sp>
        <p:nvSpPr>
          <p:cNvPr id="9" name="Text 6"/>
          <p:cNvSpPr/>
          <p:nvPr/>
        </p:nvSpPr>
        <p:spPr>
          <a:xfrm>
            <a:off x="579120" y="2499360"/>
            <a:ext cx="21031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Arial" pitchFamily="34" charset="0"/>
                <a:ea typeface="Arial" pitchFamily="34" charset="-122"/>
                <a:cs typeface="Arial" pitchFamily="34" charset="-120"/>
              </a:rPr>
              <a:t>ANTES DAS RODADAS</a:t>
            </a:r>
            <a:endParaRPr lang="en-US" sz="1080" dirty="0"/>
          </a:p>
        </p:txBody>
      </p:sp>
      <p:sp>
        <p:nvSpPr>
          <p:cNvPr id="10" name="Text 7"/>
          <p:cNvSpPr/>
          <p:nvPr/>
        </p:nvSpPr>
        <p:spPr>
          <a:xfrm>
            <a:off x="2956560" y="2476500"/>
            <a:ext cx="8001000" cy="292913"/>
          </a:xfrm>
          <a:prstGeom prst="rect">
            <a:avLst/>
          </a:prstGeom>
          <a:noFill/>
          <a:ln/>
        </p:spPr>
        <p:txBody>
          <a:bodyPr wrap="square" lIns="0" tIns="0" rIns="0" bIns="0" rtlCol="0" anchor="ctr"/>
          <a:lstStyle/>
          <a:p>
            <a:pPr algn="l" indent="0" marL="0">
              <a:lnSpc>
                <a:spcPct val="100000"/>
              </a:lnSpc>
              <a:buNone/>
            </a:pPr>
            <a:r>
              <a:rPr lang="en-US" sz="1860" b="1" dirty="0">
                <a:solidFill>
                  <a:srgbClr val="182B45"/>
                </a:solidFill>
                <a:latin typeface="Arial" pitchFamily="34" charset="0"/>
                <a:ea typeface="Arial" pitchFamily="34" charset="-122"/>
                <a:cs typeface="Arial" pitchFamily="34" charset="-120"/>
              </a:rPr>
              <a:t>AddRoundKey com a chave 0</a:t>
            </a:r>
            <a:endParaRPr lang="en-US" sz="1860" dirty="0"/>
          </a:p>
        </p:txBody>
      </p:sp>
      <p:sp>
        <p:nvSpPr>
          <p:cNvPr id="11" name="Shape 8"/>
          <p:cNvSpPr/>
          <p:nvPr/>
        </p:nvSpPr>
        <p:spPr>
          <a:xfrm>
            <a:off x="487680" y="3154680"/>
            <a:ext cx="2590800" cy="1661160"/>
          </a:xfrm>
          <a:prstGeom prst="roundRect">
            <a:avLst>
              <a:gd name="adj" fmla="val 8257"/>
            </a:avLst>
          </a:prstGeom>
          <a:solidFill>
            <a:srgbClr val="FFFFFF"/>
          </a:solidFill>
          <a:ln w="12700">
            <a:solidFill>
              <a:srgbClr val="D7E1EE"/>
            </a:solidFill>
            <a:prstDash val="solid"/>
          </a:ln>
        </p:spPr>
      </p:sp>
      <p:sp>
        <p:nvSpPr>
          <p:cNvPr id="12" name="Shape 9"/>
          <p:cNvSpPr/>
          <p:nvPr/>
        </p:nvSpPr>
        <p:spPr>
          <a:xfrm>
            <a:off x="487680" y="3154680"/>
            <a:ext cx="53340" cy="1661160"/>
          </a:xfrm>
          <a:prstGeom prst="rect">
            <a:avLst/>
          </a:prstGeom>
          <a:solidFill>
            <a:srgbClr val="2165D6"/>
          </a:solidFill>
          <a:ln w="12700">
            <a:solidFill>
              <a:srgbClr val="2165D6">
                <a:alpha val="0"/>
              </a:srgbClr>
            </a:solidFill>
            <a:prstDash val="solid"/>
          </a:ln>
        </p:spPr>
      </p:sp>
      <p:sp>
        <p:nvSpPr>
          <p:cNvPr id="13" name="Text 10"/>
          <p:cNvSpPr/>
          <p:nvPr/>
        </p:nvSpPr>
        <p:spPr>
          <a:xfrm>
            <a:off x="678180" y="3329940"/>
            <a:ext cx="22098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SubBytes</a:t>
            </a:r>
            <a:endParaRPr lang="en-US" sz="1920" dirty="0"/>
          </a:p>
        </p:txBody>
      </p:sp>
      <p:sp>
        <p:nvSpPr>
          <p:cNvPr id="14" name="Text 11"/>
          <p:cNvSpPr/>
          <p:nvPr/>
        </p:nvSpPr>
        <p:spPr>
          <a:xfrm>
            <a:off x="678180" y="3916680"/>
            <a:ext cx="22098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Troca cada byte</a:t>
            </a:r>
            <a:endParaRPr lang="en-US" sz="1680" dirty="0"/>
          </a:p>
        </p:txBody>
      </p:sp>
      <p:sp>
        <p:nvSpPr>
          <p:cNvPr id="15" name="Shape 12"/>
          <p:cNvSpPr/>
          <p:nvPr/>
        </p:nvSpPr>
        <p:spPr>
          <a:xfrm>
            <a:off x="3101340" y="4008120"/>
            <a:ext cx="220980" cy="0"/>
          </a:xfrm>
          <a:prstGeom prst="line">
            <a:avLst/>
          </a:prstGeom>
          <a:noFill/>
          <a:ln w="30480">
            <a:solidFill>
              <a:srgbClr val="2165D6"/>
            </a:solidFill>
            <a:prstDash val="solid"/>
            <a:tailEnd type="triangle"/>
          </a:ln>
        </p:spPr>
      </p:sp>
      <p:sp>
        <p:nvSpPr>
          <p:cNvPr id="16" name="Shape 13"/>
          <p:cNvSpPr/>
          <p:nvPr/>
        </p:nvSpPr>
        <p:spPr>
          <a:xfrm>
            <a:off x="3368040" y="3154680"/>
            <a:ext cx="2590800" cy="1661160"/>
          </a:xfrm>
          <a:prstGeom prst="roundRect">
            <a:avLst>
              <a:gd name="adj" fmla="val 8257"/>
            </a:avLst>
          </a:prstGeom>
          <a:solidFill>
            <a:srgbClr val="FFFFFF"/>
          </a:solidFill>
          <a:ln w="12700">
            <a:solidFill>
              <a:srgbClr val="D7E1EE"/>
            </a:solidFill>
            <a:prstDash val="solid"/>
          </a:ln>
        </p:spPr>
      </p:sp>
      <p:sp>
        <p:nvSpPr>
          <p:cNvPr id="17" name="Shape 14"/>
          <p:cNvSpPr/>
          <p:nvPr/>
        </p:nvSpPr>
        <p:spPr>
          <a:xfrm>
            <a:off x="3368040" y="3154680"/>
            <a:ext cx="53340" cy="1661160"/>
          </a:xfrm>
          <a:prstGeom prst="rect">
            <a:avLst/>
          </a:prstGeom>
          <a:solidFill>
            <a:srgbClr val="008774"/>
          </a:solidFill>
          <a:ln w="12700">
            <a:solidFill>
              <a:srgbClr val="008774">
                <a:alpha val="0"/>
              </a:srgbClr>
            </a:solidFill>
            <a:prstDash val="solid"/>
          </a:ln>
        </p:spPr>
      </p:sp>
      <p:sp>
        <p:nvSpPr>
          <p:cNvPr id="18" name="Text 15"/>
          <p:cNvSpPr/>
          <p:nvPr/>
        </p:nvSpPr>
        <p:spPr>
          <a:xfrm>
            <a:off x="3558540" y="3329940"/>
            <a:ext cx="22098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ShiftRows</a:t>
            </a:r>
            <a:endParaRPr lang="en-US" sz="1920" dirty="0"/>
          </a:p>
        </p:txBody>
      </p:sp>
      <p:sp>
        <p:nvSpPr>
          <p:cNvPr id="19" name="Text 16"/>
          <p:cNvSpPr/>
          <p:nvPr/>
        </p:nvSpPr>
        <p:spPr>
          <a:xfrm>
            <a:off x="3558540" y="3916680"/>
            <a:ext cx="22098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Desloca as linhas</a:t>
            </a:r>
            <a:endParaRPr lang="en-US" sz="1680" dirty="0"/>
          </a:p>
        </p:txBody>
      </p:sp>
      <p:sp>
        <p:nvSpPr>
          <p:cNvPr id="20" name="Shape 17"/>
          <p:cNvSpPr/>
          <p:nvPr/>
        </p:nvSpPr>
        <p:spPr>
          <a:xfrm>
            <a:off x="5981700" y="4008120"/>
            <a:ext cx="220980" cy="0"/>
          </a:xfrm>
          <a:prstGeom prst="line">
            <a:avLst/>
          </a:prstGeom>
          <a:noFill/>
          <a:ln w="30480">
            <a:solidFill>
              <a:srgbClr val="2165D6"/>
            </a:solidFill>
            <a:prstDash val="solid"/>
            <a:tailEnd type="triangle"/>
          </a:ln>
        </p:spPr>
      </p:sp>
      <p:sp>
        <p:nvSpPr>
          <p:cNvPr id="21" name="Shape 18"/>
          <p:cNvSpPr/>
          <p:nvPr/>
        </p:nvSpPr>
        <p:spPr>
          <a:xfrm>
            <a:off x="6248400" y="3154680"/>
            <a:ext cx="2590800" cy="1661160"/>
          </a:xfrm>
          <a:prstGeom prst="roundRect">
            <a:avLst>
              <a:gd name="adj" fmla="val 8257"/>
            </a:avLst>
          </a:prstGeom>
          <a:solidFill>
            <a:srgbClr val="FFFFFF"/>
          </a:solidFill>
          <a:ln w="12700">
            <a:solidFill>
              <a:srgbClr val="D7E1EE"/>
            </a:solidFill>
            <a:prstDash val="solid"/>
          </a:ln>
        </p:spPr>
      </p:sp>
      <p:sp>
        <p:nvSpPr>
          <p:cNvPr id="22" name="Shape 19"/>
          <p:cNvSpPr/>
          <p:nvPr/>
        </p:nvSpPr>
        <p:spPr>
          <a:xfrm>
            <a:off x="6248400" y="3154680"/>
            <a:ext cx="53340" cy="1661160"/>
          </a:xfrm>
          <a:prstGeom prst="rect">
            <a:avLst/>
          </a:prstGeom>
          <a:solidFill>
            <a:srgbClr val="2165D6"/>
          </a:solidFill>
          <a:ln w="12700">
            <a:solidFill>
              <a:srgbClr val="2165D6">
                <a:alpha val="0"/>
              </a:srgbClr>
            </a:solidFill>
            <a:prstDash val="solid"/>
          </a:ln>
        </p:spPr>
      </p:sp>
      <p:sp>
        <p:nvSpPr>
          <p:cNvPr id="23" name="Text 20"/>
          <p:cNvSpPr/>
          <p:nvPr/>
        </p:nvSpPr>
        <p:spPr>
          <a:xfrm>
            <a:off x="6438900" y="3329940"/>
            <a:ext cx="22098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MixColumns</a:t>
            </a:r>
            <a:endParaRPr lang="en-US" sz="1920" dirty="0"/>
          </a:p>
        </p:txBody>
      </p:sp>
      <p:sp>
        <p:nvSpPr>
          <p:cNvPr id="24" name="Text 21"/>
          <p:cNvSpPr/>
          <p:nvPr/>
        </p:nvSpPr>
        <p:spPr>
          <a:xfrm>
            <a:off x="6438900" y="3916680"/>
            <a:ext cx="22098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Mistura as colunas</a:t>
            </a:r>
            <a:endParaRPr lang="en-US" sz="1680" dirty="0"/>
          </a:p>
        </p:txBody>
      </p:sp>
      <p:sp>
        <p:nvSpPr>
          <p:cNvPr id="25" name="Shape 22"/>
          <p:cNvSpPr/>
          <p:nvPr/>
        </p:nvSpPr>
        <p:spPr>
          <a:xfrm>
            <a:off x="8862060" y="4008120"/>
            <a:ext cx="220980" cy="0"/>
          </a:xfrm>
          <a:prstGeom prst="line">
            <a:avLst/>
          </a:prstGeom>
          <a:noFill/>
          <a:ln w="30480">
            <a:solidFill>
              <a:srgbClr val="2165D6"/>
            </a:solidFill>
            <a:prstDash val="solid"/>
            <a:tailEnd type="triangle"/>
          </a:ln>
        </p:spPr>
      </p:sp>
      <p:sp>
        <p:nvSpPr>
          <p:cNvPr id="26" name="Shape 23"/>
          <p:cNvSpPr/>
          <p:nvPr/>
        </p:nvSpPr>
        <p:spPr>
          <a:xfrm>
            <a:off x="9128760" y="3154680"/>
            <a:ext cx="2590800" cy="1661160"/>
          </a:xfrm>
          <a:prstGeom prst="roundRect">
            <a:avLst>
              <a:gd name="adj" fmla="val 8257"/>
            </a:avLst>
          </a:prstGeom>
          <a:solidFill>
            <a:srgbClr val="FFFFFF"/>
          </a:solidFill>
          <a:ln w="12700">
            <a:solidFill>
              <a:srgbClr val="D7E1EE"/>
            </a:solidFill>
            <a:prstDash val="solid"/>
          </a:ln>
        </p:spPr>
      </p:sp>
      <p:sp>
        <p:nvSpPr>
          <p:cNvPr id="27" name="Shape 24"/>
          <p:cNvSpPr/>
          <p:nvPr/>
        </p:nvSpPr>
        <p:spPr>
          <a:xfrm>
            <a:off x="9128760" y="3154680"/>
            <a:ext cx="53340" cy="1661160"/>
          </a:xfrm>
          <a:prstGeom prst="rect">
            <a:avLst/>
          </a:prstGeom>
          <a:solidFill>
            <a:srgbClr val="008774"/>
          </a:solidFill>
          <a:ln w="12700">
            <a:solidFill>
              <a:srgbClr val="008774">
                <a:alpha val="0"/>
              </a:srgbClr>
            </a:solidFill>
            <a:prstDash val="solid"/>
          </a:ln>
        </p:spPr>
      </p:sp>
      <p:sp>
        <p:nvSpPr>
          <p:cNvPr id="28" name="Text 25"/>
          <p:cNvSpPr/>
          <p:nvPr/>
        </p:nvSpPr>
        <p:spPr>
          <a:xfrm>
            <a:off x="9319260" y="3329940"/>
            <a:ext cx="22098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AddRoundKey</a:t>
            </a:r>
            <a:endParaRPr lang="en-US" sz="1920" dirty="0"/>
          </a:p>
        </p:txBody>
      </p:sp>
      <p:sp>
        <p:nvSpPr>
          <p:cNvPr id="29" name="Text 26"/>
          <p:cNvSpPr/>
          <p:nvPr/>
        </p:nvSpPr>
        <p:spPr>
          <a:xfrm>
            <a:off x="9319260" y="3916680"/>
            <a:ext cx="22098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Combina com a chave</a:t>
            </a:r>
            <a:endParaRPr lang="en-US" sz="1680" dirty="0"/>
          </a:p>
        </p:txBody>
      </p:sp>
      <p:sp>
        <p:nvSpPr>
          <p:cNvPr id="30" name="Shape 27"/>
          <p:cNvSpPr/>
          <p:nvPr/>
        </p:nvSpPr>
        <p:spPr>
          <a:xfrm>
            <a:off x="487680" y="5410200"/>
            <a:ext cx="11216640" cy="502920"/>
          </a:xfrm>
          <a:prstGeom prst="roundRect">
            <a:avLst>
              <a:gd name="adj" fmla="val 21212"/>
            </a:avLst>
          </a:prstGeom>
          <a:solidFill>
            <a:srgbClr val="EAF1FF"/>
          </a:solidFill>
          <a:ln w="12700">
            <a:solidFill>
              <a:srgbClr val="EAF1FF">
                <a:alpha val="0"/>
              </a:srgbClr>
            </a:solidFill>
            <a:prstDash val="solid"/>
          </a:ln>
        </p:spPr>
      </p:sp>
      <p:sp>
        <p:nvSpPr>
          <p:cNvPr id="31" name="Text 28"/>
          <p:cNvSpPr/>
          <p:nvPr/>
        </p:nvSpPr>
        <p:spPr>
          <a:xfrm>
            <a:off x="670560" y="553212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Rodadas 1 a 9: as quatro etapas. Rodada 10: sem MixColumns.</a:t>
            </a:r>
            <a:endParaRPr lang="en-US" sz="1560" dirty="0"/>
          </a:p>
        </p:txBody>
      </p:sp>
      <p:sp>
        <p:nvSpPr>
          <p:cNvPr id="32" name="Shape 29"/>
          <p:cNvSpPr/>
          <p:nvPr/>
        </p:nvSpPr>
        <p:spPr>
          <a:xfrm>
            <a:off x="487680" y="6461760"/>
            <a:ext cx="11216640" cy="0"/>
          </a:xfrm>
          <a:prstGeom prst="line">
            <a:avLst/>
          </a:prstGeom>
          <a:noFill/>
          <a:ln w="7620">
            <a:solidFill>
              <a:srgbClr val="D7E1EE"/>
            </a:solidFill>
            <a:prstDash val="solid"/>
          </a:ln>
        </p:spPr>
      </p:sp>
      <p:sp>
        <p:nvSpPr>
          <p:cNvPr id="33" name="Text 30"/>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34" name="Text 31"/>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08 / 27</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TRANSFORMAÇÃO 1</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SubBytes: trocar cada byte por outro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 tabela S-box define a substituição. Isso dificulta relações simples entre entrada e saída.</a:t>
            </a:r>
            <a:endParaRPr lang="en-US" sz="1620" dirty="0"/>
          </a:p>
        </p:txBody>
      </p:sp>
      <p:sp>
        <p:nvSpPr>
          <p:cNvPr id="8" name="Shape 5"/>
          <p:cNvSpPr/>
          <p:nvPr/>
        </p:nvSpPr>
        <p:spPr>
          <a:xfrm>
            <a:off x="609600" y="2628900"/>
            <a:ext cx="1752600" cy="1447800"/>
          </a:xfrm>
          <a:prstGeom prst="roundRect">
            <a:avLst>
              <a:gd name="adj" fmla="val 9474"/>
            </a:avLst>
          </a:prstGeom>
          <a:solidFill>
            <a:srgbClr val="EAF1FF"/>
          </a:solidFill>
          <a:ln w="12700">
            <a:solidFill>
              <a:srgbClr val="EAF1FF">
                <a:alpha val="0"/>
              </a:srgbClr>
            </a:solidFill>
            <a:prstDash val="solid"/>
          </a:ln>
        </p:spPr>
      </p:sp>
      <p:sp>
        <p:nvSpPr>
          <p:cNvPr id="9" name="Text 6"/>
          <p:cNvSpPr/>
          <p:nvPr/>
        </p:nvSpPr>
        <p:spPr>
          <a:xfrm>
            <a:off x="731520" y="3002280"/>
            <a:ext cx="1508760" cy="623621"/>
          </a:xfrm>
          <a:prstGeom prst="rect">
            <a:avLst/>
          </a:prstGeom>
          <a:noFill/>
          <a:ln/>
        </p:spPr>
        <p:txBody>
          <a:bodyPr wrap="square" lIns="0" tIns="0" rIns="0" bIns="0" rtlCol="0" anchor="ctr"/>
          <a:lstStyle/>
          <a:p>
            <a:pPr algn="ctr" indent="0" marL="0">
              <a:lnSpc>
                <a:spcPct val="100000"/>
              </a:lnSpc>
              <a:buNone/>
            </a:pPr>
            <a:r>
              <a:rPr lang="en-US" sz="3960" b="1" dirty="0">
                <a:solidFill>
                  <a:srgbClr val="2165D6"/>
                </a:solidFill>
                <a:latin typeface="Consolas" pitchFamily="34" charset="0"/>
                <a:ea typeface="Consolas" pitchFamily="34" charset="-122"/>
                <a:cs typeface="Consolas" pitchFamily="34" charset="-120"/>
              </a:rPr>
              <a:t>76</a:t>
            </a:r>
            <a:endParaRPr lang="en-US" sz="3960" dirty="0"/>
          </a:p>
        </p:txBody>
      </p:sp>
      <p:sp>
        <p:nvSpPr>
          <p:cNvPr id="10" name="Shape 7"/>
          <p:cNvSpPr/>
          <p:nvPr/>
        </p:nvSpPr>
        <p:spPr>
          <a:xfrm>
            <a:off x="2514600" y="3337560"/>
            <a:ext cx="777240" cy="0"/>
          </a:xfrm>
          <a:prstGeom prst="line">
            <a:avLst/>
          </a:prstGeom>
          <a:noFill/>
          <a:ln w="30480">
            <a:solidFill>
              <a:srgbClr val="2165D6"/>
            </a:solidFill>
            <a:prstDash val="solid"/>
            <a:tailEnd type="triangle"/>
          </a:ln>
        </p:spPr>
      </p:sp>
      <p:sp>
        <p:nvSpPr>
          <p:cNvPr id="11" name="Shape 8"/>
          <p:cNvSpPr/>
          <p:nvPr/>
        </p:nvSpPr>
        <p:spPr>
          <a:xfrm>
            <a:off x="3421380" y="2628900"/>
            <a:ext cx="1920240" cy="1447800"/>
          </a:xfrm>
          <a:prstGeom prst="roundRect">
            <a:avLst>
              <a:gd name="adj" fmla="val 9474"/>
            </a:avLst>
          </a:prstGeom>
          <a:solidFill>
            <a:srgbClr val="E4F6F0"/>
          </a:solidFill>
          <a:ln w="12700">
            <a:solidFill>
              <a:srgbClr val="E4F6F0">
                <a:alpha val="0"/>
              </a:srgbClr>
            </a:solidFill>
            <a:prstDash val="solid"/>
          </a:ln>
        </p:spPr>
      </p:sp>
      <p:sp>
        <p:nvSpPr>
          <p:cNvPr id="12" name="Text 9"/>
          <p:cNvSpPr/>
          <p:nvPr/>
        </p:nvSpPr>
        <p:spPr>
          <a:xfrm>
            <a:off x="3611880" y="3147060"/>
            <a:ext cx="1524000" cy="377952"/>
          </a:xfrm>
          <a:prstGeom prst="rect">
            <a:avLst/>
          </a:prstGeom>
          <a:noFill/>
          <a:ln/>
        </p:spPr>
        <p:txBody>
          <a:bodyPr wrap="square" lIns="0" tIns="0" rIns="0" bIns="0" rtlCol="0" anchor="ctr"/>
          <a:lstStyle/>
          <a:p>
            <a:pPr algn="ctr" indent="0" marL="0">
              <a:lnSpc>
                <a:spcPct val="100000"/>
              </a:lnSpc>
              <a:buNone/>
            </a:pPr>
            <a:r>
              <a:rPr lang="en-US" sz="2400" b="1" dirty="0">
                <a:solidFill>
                  <a:srgbClr val="008774"/>
                </a:solidFill>
                <a:latin typeface="Arial" pitchFamily="34" charset="0"/>
                <a:ea typeface="Arial" pitchFamily="34" charset="-122"/>
                <a:cs typeface="Arial" pitchFamily="34" charset="-120"/>
              </a:rPr>
              <a:t>S-box</a:t>
            </a:r>
            <a:endParaRPr lang="en-US" sz="2400" dirty="0"/>
          </a:p>
        </p:txBody>
      </p:sp>
      <p:sp>
        <p:nvSpPr>
          <p:cNvPr id="13" name="Shape 10"/>
          <p:cNvSpPr/>
          <p:nvPr/>
        </p:nvSpPr>
        <p:spPr>
          <a:xfrm>
            <a:off x="5448300" y="3337560"/>
            <a:ext cx="777240" cy="0"/>
          </a:xfrm>
          <a:prstGeom prst="line">
            <a:avLst/>
          </a:prstGeom>
          <a:noFill/>
          <a:ln w="30480">
            <a:solidFill>
              <a:srgbClr val="2165D6"/>
            </a:solidFill>
            <a:prstDash val="solid"/>
            <a:tailEnd type="triangle"/>
          </a:ln>
        </p:spPr>
      </p:sp>
      <p:sp>
        <p:nvSpPr>
          <p:cNvPr id="14" name="Shape 11"/>
          <p:cNvSpPr/>
          <p:nvPr/>
        </p:nvSpPr>
        <p:spPr>
          <a:xfrm>
            <a:off x="6347460" y="2628900"/>
            <a:ext cx="1752600" cy="1447800"/>
          </a:xfrm>
          <a:prstGeom prst="roundRect">
            <a:avLst>
              <a:gd name="adj" fmla="val 9474"/>
            </a:avLst>
          </a:prstGeom>
          <a:solidFill>
            <a:srgbClr val="EAF1FF"/>
          </a:solidFill>
          <a:ln w="12700">
            <a:solidFill>
              <a:srgbClr val="EAF1FF">
                <a:alpha val="0"/>
              </a:srgbClr>
            </a:solidFill>
            <a:prstDash val="solid"/>
          </a:ln>
        </p:spPr>
      </p:sp>
      <p:sp>
        <p:nvSpPr>
          <p:cNvPr id="15" name="Text 12"/>
          <p:cNvSpPr/>
          <p:nvPr/>
        </p:nvSpPr>
        <p:spPr>
          <a:xfrm>
            <a:off x="6469380" y="3002280"/>
            <a:ext cx="1508760" cy="623621"/>
          </a:xfrm>
          <a:prstGeom prst="rect">
            <a:avLst/>
          </a:prstGeom>
          <a:noFill/>
          <a:ln/>
        </p:spPr>
        <p:txBody>
          <a:bodyPr wrap="square" lIns="0" tIns="0" rIns="0" bIns="0" rtlCol="0" anchor="ctr"/>
          <a:lstStyle/>
          <a:p>
            <a:pPr algn="ctr" indent="0" marL="0">
              <a:lnSpc>
                <a:spcPct val="100000"/>
              </a:lnSpc>
              <a:buNone/>
            </a:pPr>
            <a:r>
              <a:rPr lang="en-US" sz="3960" b="1" dirty="0">
                <a:solidFill>
                  <a:srgbClr val="2165D6"/>
                </a:solidFill>
                <a:latin typeface="Consolas" pitchFamily="34" charset="0"/>
                <a:ea typeface="Consolas" pitchFamily="34" charset="-122"/>
                <a:cs typeface="Consolas" pitchFamily="34" charset="-120"/>
              </a:rPr>
              <a:t>38</a:t>
            </a:r>
            <a:endParaRPr lang="en-US" sz="3960" dirty="0"/>
          </a:p>
        </p:txBody>
      </p:sp>
      <p:sp>
        <p:nvSpPr>
          <p:cNvPr id="16" name="Text 13"/>
          <p:cNvSpPr/>
          <p:nvPr/>
        </p:nvSpPr>
        <p:spPr>
          <a:xfrm>
            <a:off x="8763000" y="2781300"/>
            <a:ext cx="2667000" cy="283464"/>
          </a:xfrm>
          <a:prstGeom prst="rect">
            <a:avLst/>
          </a:prstGeom>
          <a:noFill/>
          <a:ln/>
        </p:spPr>
        <p:txBody>
          <a:bodyPr wrap="square" lIns="0" tIns="0" rIns="0" bIns="0" rtlCol="0" anchor="ctr"/>
          <a:lstStyle/>
          <a:p>
            <a:pPr algn="l" indent="0" marL="0">
              <a:lnSpc>
                <a:spcPct val="100000"/>
              </a:lnSpc>
              <a:buNone/>
            </a:pPr>
            <a:r>
              <a:rPr lang="en-US" sz="1800" dirty="0">
                <a:solidFill>
                  <a:srgbClr val="52657B"/>
                </a:solidFill>
                <a:latin typeface="Arial" pitchFamily="34" charset="0"/>
                <a:ea typeface="Arial" pitchFamily="34" charset="-122"/>
                <a:cs typeface="Arial" pitchFamily="34" charset="-120"/>
              </a:rPr>
              <a:t>Exemplo do</a:t>
            </a:r>
            <a:endParaRPr lang="en-US" sz="1800" dirty="0"/>
          </a:p>
        </p:txBody>
      </p:sp>
      <p:sp>
        <p:nvSpPr>
          <p:cNvPr id="17" name="Text 14"/>
          <p:cNvSpPr/>
          <p:nvPr/>
        </p:nvSpPr>
        <p:spPr>
          <a:xfrm>
            <a:off x="8763000" y="3064764"/>
            <a:ext cx="2667000" cy="283464"/>
          </a:xfrm>
          <a:prstGeom prst="rect">
            <a:avLst/>
          </a:prstGeom>
          <a:noFill/>
          <a:ln/>
        </p:spPr>
        <p:txBody>
          <a:bodyPr wrap="square" lIns="0" tIns="0" rIns="0" bIns="0" rtlCol="0" anchor="ctr"/>
          <a:lstStyle/>
          <a:p>
            <a:pPr algn="l" indent="0" marL="0">
              <a:lnSpc>
                <a:spcPct val="100000"/>
              </a:lnSpc>
              <a:buNone/>
            </a:pPr>
            <a:r>
              <a:rPr lang="en-US" sz="1800" dirty="0">
                <a:solidFill>
                  <a:srgbClr val="52657B"/>
                </a:solidFill>
                <a:latin typeface="Arial" pitchFamily="34" charset="0"/>
                <a:ea typeface="Arial" pitchFamily="34" charset="-122"/>
                <a:cs typeface="Arial" pitchFamily="34" charset="-120"/>
              </a:rPr>
              <a:t>primeiro bloco</a:t>
            </a:r>
            <a:endParaRPr lang="en-US" sz="1800" dirty="0"/>
          </a:p>
        </p:txBody>
      </p:sp>
      <p:sp>
        <p:nvSpPr>
          <p:cNvPr id="18" name="Text 15"/>
          <p:cNvSpPr/>
          <p:nvPr/>
        </p:nvSpPr>
        <p:spPr>
          <a:xfrm>
            <a:off x="8763000" y="3348228"/>
            <a:ext cx="2667000" cy="283464"/>
          </a:xfrm>
          <a:prstGeom prst="rect">
            <a:avLst/>
          </a:prstGeom>
          <a:noFill/>
          <a:ln/>
        </p:spPr>
        <p:txBody>
          <a:bodyPr wrap="square" lIns="0" tIns="0" rIns="0" bIns="0" rtlCol="0" anchor="ctr"/>
          <a:lstStyle/>
          <a:p>
            <a:pPr algn="l" indent="0" marL="0">
              <a:lnSpc>
                <a:spcPct val="100000"/>
              </a:lnSpc>
              <a:buNone/>
            </a:pPr>
            <a:r>
              <a:rPr lang="en-US" sz="1800" dirty="0">
                <a:solidFill>
                  <a:srgbClr val="52657B"/>
                </a:solidFill>
                <a:latin typeface="Arial" pitchFamily="34" charset="0"/>
                <a:ea typeface="Arial" pitchFamily="34" charset="-122"/>
                <a:cs typeface="Arial" pitchFamily="34" charset="-120"/>
              </a:rPr>
              <a:t>da dupla.</a:t>
            </a:r>
            <a:endParaRPr lang="en-US" sz="1800" dirty="0"/>
          </a:p>
        </p:txBody>
      </p:sp>
      <p:sp>
        <p:nvSpPr>
          <p:cNvPr id="19" name="Shape 16"/>
          <p:cNvSpPr/>
          <p:nvPr/>
        </p:nvSpPr>
        <p:spPr>
          <a:xfrm>
            <a:off x="487680" y="4579620"/>
            <a:ext cx="11216640" cy="1242060"/>
          </a:xfrm>
          <a:prstGeom prst="roundRect">
            <a:avLst>
              <a:gd name="adj" fmla="val 11043"/>
            </a:avLst>
          </a:prstGeom>
          <a:solidFill>
            <a:srgbClr val="F0F4FA"/>
          </a:solidFill>
          <a:ln w="12700">
            <a:solidFill>
              <a:srgbClr val="D7E1EE"/>
            </a:solidFill>
            <a:prstDash val="solid"/>
          </a:ln>
        </p:spPr>
      </p:sp>
      <p:sp>
        <p:nvSpPr>
          <p:cNvPr id="20" name="Shape 17"/>
          <p:cNvSpPr/>
          <p:nvPr/>
        </p:nvSpPr>
        <p:spPr>
          <a:xfrm>
            <a:off x="487680" y="4579620"/>
            <a:ext cx="11216640" cy="327660"/>
          </a:xfrm>
          <a:prstGeom prst="roundRect">
            <a:avLst>
              <a:gd name="adj" fmla="val 32558"/>
            </a:avLst>
          </a:prstGeom>
          <a:solidFill>
            <a:srgbClr val="EAF1FF"/>
          </a:solidFill>
          <a:ln w="12700">
            <a:solidFill>
              <a:srgbClr val="EAF1FF">
                <a:alpha val="0"/>
              </a:srgbClr>
            </a:solidFill>
            <a:prstDash val="solid"/>
          </a:ln>
        </p:spPr>
      </p:sp>
      <p:sp>
        <p:nvSpPr>
          <p:cNvPr id="21" name="Text 18"/>
          <p:cNvSpPr/>
          <p:nvPr/>
        </p:nvSpPr>
        <p:spPr>
          <a:xfrm>
            <a:off x="624840" y="464820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aes128.c · código real</a:t>
            </a:r>
            <a:endParaRPr lang="en-US" sz="1080" dirty="0"/>
          </a:p>
        </p:txBody>
      </p:sp>
      <p:sp>
        <p:nvSpPr>
          <p:cNvPr id="22" name="Text 19"/>
          <p:cNvSpPr/>
          <p:nvPr/>
        </p:nvSpPr>
        <p:spPr>
          <a:xfrm>
            <a:off x="655320" y="5059680"/>
            <a:ext cx="10881360" cy="217322"/>
          </a:xfrm>
          <a:prstGeom prst="rect">
            <a:avLst/>
          </a:prstGeom>
          <a:noFill/>
          <a:ln/>
        </p:spPr>
        <p:txBody>
          <a:bodyPr wrap="square" lIns="0" tIns="0" rIns="0" bIns="0" rtlCol="0" anchor="ctr"/>
          <a:lstStyle/>
          <a:p>
            <a:pPr algn="l" indent="0" marL="0">
              <a:lnSpc>
                <a:spcPct val="100000"/>
              </a:lnSpc>
              <a:buNone/>
            </a:pPr>
            <a:r>
              <a:rPr lang="en-US" sz="1380" dirty="0">
                <a:solidFill>
                  <a:srgbClr val="182B45"/>
                </a:solidFill>
                <a:latin typeface="Consolas" pitchFamily="34" charset="0"/>
                <a:ea typeface="Consolas" pitchFamily="34" charset="-122"/>
                <a:cs typeface="Consolas" pitchFamily="34" charset="-120"/>
              </a:rPr>
              <a:t>void aes_sub_bytes(uint8_t s[16]) {</a:t>
            </a:r>
            <a:endParaRPr lang="en-US" sz="1380" dirty="0"/>
          </a:p>
        </p:txBody>
      </p:sp>
      <p:sp>
        <p:nvSpPr>
          <p:cNvPr id="23" name="Text 20"/>
          <p:cNvSpPr/>
          <p:nvPr/>
        </p:nvSpPr>
        <p:spPr>
          <a:xfrm>
            <a:off x="655320" y="5277002"/>
            <a:ext cx="10881360" cy="217322"/>
          </a:xfrm>
          <a:prstGeom prst="rect">
            <a:avLst/>
          </a:prstGeom>
          <a:noFill/>
          <a:ln/>
        </p:spPr>
        <p:txBody>
          <a:bodyPr wrap="square" lIns="0" tIns="0" rIns="0" bIns="0" rtlCol="0" anchor="ctr"/>
          <a:lstStyle/>
          <a:p>
            <a:pPr algn="l" indent="0" marL="0">
              <a:lnSpc>
                <a:spcPct val="100000"/>
              </a:lnSpc>
              <a:buNone/>
            </a:pPr>
            <a:r>
              <a:rPr lang="en-US" sz="1380" dirty="0">
                <a:solidFill>
                  <a:srgbClr val="182B45"/>
                </a:solidFill>
                <a:latin typeface="Consolas" pitchFamily="34" charset="0"/>
                <a:ea typeface="Consolas" pitchFamily="34" charset="-122"/>
                <a:cs typeface="Consolas" pitchFamily="34" charset="-120"/>
              </a:rPr>
              <a:t>  for (int i = 0; i &lt; 16; ++i) s[i] = AES_SBOX[s[i]];</a:t>
            </a:r>
            <a:endParaRPr lang="en-US" sz="1380" dirty="0"/>
          </a:p>
        </p:txBody>
      </p:sp>
      <p:sp>
        <p:nvSpPr>
          <p:cNvPr id="24" name="Text 21"/>
          <p:cNvSpPr/>
          <p:nvPr/>
        </p:nvSpPr>
        <p:spPr>
          <a:xfrm>
            <a:off x="655320" y="5494325"/>
            <a:ext cx="10881360" cy="217322"/>
          </a:xfrm>
          <a:prstGeom prst="rect">
            <a:avLst/>
          </a:prstGeom>
          <a:noFill/>
          <a:ln/>
        </p:spPr>
        <p:txBody>
          <a:bodyPr wrap="square" lIns="0" tIns="0" rIns="0" bIns="0" rtlCol="0" anchor="ctr"/>
          <a:lstStyle/>
          <a:p>
            <a:pPr algn="l" indent="0" marL="0">
              <a:lnSpc>
                <a:spcPct val="100000"/>
              </a:lnSpc>
              <a:buNone/>
            </a:pPr>
            <a:r>
              <a:rPr lang="en-US" sz="1380" dirty="0">
                <a:solidFill>
                  <a:srgbClr val="182B45"/>
                </a:solidFill>
                <a:latin typeface="Consolas" pitchFamily="34" charset="0"/>
                <a:ea typeface="Consolas" pitchFamily="34" charset="-122"/>
                <a:cs typeface="Consolas" pitchFamily="34" charset="-120"/>
              </a:rPr>
              <a:t>}</a:t>
            </a:r>
            <a:endParaRPr lang="en-US" sz="1380" dirty="0"/>
          </a:p>
        </p:txBody>
      </p:sp>
      <p:sp>
        <p:nvSpPr>
          <p:cNvPr id="25" name="Shape 22"/>
          <p:cNvSpPr/>
          <p:nvPr/>
        </p:nvSpPr>
        <p:spPr>
          <a:xfrm>
            <a:off x="487680" y="6461760"/>
            <a:ext cx="11216640" cy="0"/>
          </a:xfrm>
          <a:prstGeom prst="line">
            <a:avLst/>
          </a:prstGeom>
          <a:noFill/>
          <a:ln w="7620">
            <a:solidFill>
              <a:srgbClr val="D7E1EE"/>
            </a:solidFill>
            <a:prstDash val="solid"/>
          </a:ln>
        </p:spPr>
      </p:sp>
      <p:sp>
        <p:nvSpPr>
          <p:cNvPr id="26" name="Text 23"/>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7" name="Text 24"/>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09 / 27</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TRANSFORMAÇÃO 2</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ShiftRows: cada linha anda um pouco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Linha 0 fica. As outras giram 1, 2 e 3 posições para a esquerda.</a:t>
            </a:r>
            <a:endParaRPr lang="en-US" sz="1620" dirty="0"/>
          </a:p>
        </p:txBody>
      </p:sp>
      <p:sp>
        <p:nvSpPr>
          <p:cNvPr id="8" name="Shape 5"/>
          <p:cNvSpPr/>
          <p:nvPr/>
        </p:nvSpPr>
        <p:spPr>
          <a:xfrm>
            <a:off x="9144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9" name="Text 6"/>
          <p:cNvSpPr/>
          <p:nvPr/>
        </p:nvSpPr>
        <p:spPr>
          <a:xfrm>
            <a:off x="9448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38</a:t>
            </a:r>
            <a:endParaRPr lang="en-US" sz="1560" dirty="0"/>
          </a:p>
        </p:txBody>
      </p:sp>
      <p:sp>
        <p:nvSpPr>
          <p:cNvPr id="10" name="Shape 7"/>
          <p:cNvSpPr/>
          <p:nvPr/>
        </p:nvSpPr>
        <p:spPr>
          <a:xfrm>
            <a:off x="14859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11" name="Text 8"/>
          <p:cNvSpPr/>
          <p:nvPr/>
        </p:nvSpPr>
        <p:spPr>
          <a:xfrm>
            <a:off x="15163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77</a:t>
            </a:r>
            <a:endParaRPr lang="en-US" sz="1560" dirty="0"/>
          </a:p>
        </p:txBody>
      </p:sp>
      <p:sp>
        <p:nvSpPr>
          <p:cNvPr id="12" name="Shape 9"/>
          <p:cNvSpPr/>
          <p:nvPr/>
        </p:nvSpPr>
        <p:spPr>
          <a:xfrm>
            <a:off x="20574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13" name="Text 10"/>
          <p:cNvSpPr/>
          <p:nvPr/>
        </p:nvSpPr>
        <p:spPr>
          <a:xfrm>
            <a:off x="20878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67</a:t>
            </a:r>
            <a:endParaRPr lang="en-US" sz="1560" dirty="0"/>
          </a:p>
        </p:txBody>
      </p:sp>
      <p:sp>
        <p:nvSpPr>
          <p:cNvPr id="14" name="Shape 11"/>
          <p:cNvSpPr/>
          <p:nvPr/>
        </p:nvSpPr>
        <p:spPr>
          <a:xfrm>
            <a:off x="26289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15" name="Text 12"/>
          <p:cNvSpPr/>
          <p:nvPr/>
        </p:nvSpPr>
        <p:spPr>
          <a:xfrm>
            <a:off x="26593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16" name="Shape 13"/>
          <p:cNvSpPr/>
          <p:nvPr/>
        </p:nvSpPr>
        <p:spPr>
          <a:xfrm>
            <a:off x="9144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17" name="Text 14"/>
          <p:cNvSpPr/>
          <p:nvPr/>
        </p:nvSpPr>
        <p:spPr>
          <a:xfrm>
            <a:off x="9448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77</a:t>
            </a:r>
            <a:endParaRPr lang="en-US" sz="1560" dirty="0"/>
          </a:p>
        </p:txBody>
      </p:sp>
      <p:sp>
        <p:nvSpPr>
          <p:cNvPr id="18" name="Shape 15"/>
          <p:cNvSpPr/>
          <p:nvPr/>
        </p:nvSpPr>
        <p:spPr>
          <a:xfrm>
            <a:off x="14859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19" name="Text 16"/>
          <p:cNvSpPr/>
          <p:nvPr/>
        </p:nvSpPr>
        <p:spPr>
          <a:xfrm>
            <a:off x="15163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7b</a:t>
            </a:r>
            <a:endParaRPr lang="en-US" sz="1560" dirty="0"/>
          </a:p>
        </p:txBody>
      </p:sp>
      <p:sp>
        <p:nvSpPr>
          <p:cNvPr id="20" name="Shape 17"/>
          <p:cNvSpPr/>
          <p:nvPr/>
        </p:nvSpPr>
        <p:spPr>
          <a:xfrm>
            <a:off x="20574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21" name="Text 18"/>
          <p:cNvSpPr/>
          <p:nvPr/>
        </p:nvSpPr>
        <p:spPr>
          <a:xfrm>
            <a:off x="20878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7b</a:t>
            </a:r>
            <a:endParaRPr lang="en-US" sz="1560" dirty="0"/>
          </a:p>
        </p:txBody>
      </p:sp>
      <p:sp>
        <p:nvSpPr>
          <p:cNvPr id="22" name="Shape 19"/>
          <p:cNvSpPr/>
          <p:nvPr/>
        </p:nvSpPr>
        <p:spPr>
          <a:xfrm>
            <a:off x="26289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23" name="Text 20"/>
          <p:cNvSpPr/>
          <p:nvPr/>
        </p:nvSpPr>
        <p:spPr>
          <a:xfrm>
            <a:off x="26593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7b</a:t>
            </a:r>
            <a:endParaRPr lang="en-US" sz="1560" dirty="0"/>
          </a:p>
        </p:txBody>
      </p:sp>
      <p:sp>
        <p:nvSpPr>
          <p:cNvPr id="24" name="Shape 21"/>
          <p:cNvSpPr/>
          <p:nvPr/>
        </p:nvSpPr>
        <p:spPr>
          <a:xfrm>
            <a:off x="9144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25" name="Text 22"/>
          <p:cNvSpPr/>
          <p:nvPr/>
        </p:nvSpPr>
        <p:spPr>
          <a:xfrm>
            <a:off x="9448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6f</a:t>
            </a:r>
            <a:endParaRPr lang="en-US" sz="1560" dirty="0"/>
          </a:p>
        </p:txBody>
      </p:sp>
      <p:sp>
        <p:nvSpPr>
          <p:cNvPr id="26" name="Shape 23"/>
          <p:cNvSpPr/>
          <p:nvPr/>
        </p:nvSpPr>
        <p:spPr>
          <a:xfrm>
            <a:off x="14859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27" name="Text 24"/>
          <p:cNvSpPr/>
          <p:nvPr/>
        </p:nvSpPr>
        <p:spPr>
          <a:xfrm>
            <a:off x="15163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63</a:t>
            </a:r>
            <a:endParaRPr lang="en-US" sz="1560" dirty="0"/>
          </a:p>
        </p:txBody>
      </p:sp>
      <p:sp>
        <p:nvSpPr>
          <p:cNvPr id="28" name="Shape 25"/>
          <p:cNvSpPr/>
          <p:nvPr/>
        </p:nvSpPr>
        <p:spPr>
          <a:xfrm>
            <a:off x="20574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29" name="Text 26"/>
          <p:cNvSpPr/>
          <p:nvPr/>
        </p:nvSpPr>
        <p:spPr>
          <a:xfrm>
            <a:off x="20878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fe</a:t>
            </a:r>
            <a:endParaRPr lang="en-US" sz="1560" dirty="0"/>
          </a:p>
        </p:txBody>
      </p:sp>
      <p:sp>
        <p:nvSpPr>
          <p:cNvPr id="30" name="Shape 27"/>
          <p:cNvSpPr/>
          <p:nvPr/>
        </p:nvSpPr>
        <p:spPr>
          <a:xfrm>
            <a:off x="26289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31" name="Text 28"/>
          <p:cNvSpPr/>
          <p:nvPr/>
        </p:nvSpPr>
        <p:spPr>
          <a:xfrm>
            <a:off x="26593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6f</a:t>
            </a:r>
            <a:endParaRPr lang="en-US" sz="1560" dirty="0"/>
          </a:p>
        </p:txBody>
      </p:sp>
      <p:sp>
        <p:nvSpPr>
          <p:cNvPr id="32" name="Shape 29"/>
          <p:cNvSpPr/>
          <p:nvPr/>
        </p:nvSpPr>
        <p:spPr>
          <a:xfrm>
            <a:off x="9144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33" name="Text 30"/>
          <p:cNvSpPr/>
          <p:nvPr/>
        </p:nvSpPr>
        <p:spPr>
          <a:xfrm>
            <a:off x="9448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34" name="Shape 31"/>
          <p:cNvSpPr/>
          <p:nvPr/>
        </p:nvSpPr>
        <p:spPr>
          <a:xfrm>
            <a:off x="14859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35" name="Text 32"/>
          <p:cNvSpPr/>
          <p:nvPr/>
        </p:nvSpPr>
        <p:spPr>
          <a:xfrm>
            <a:off x="15163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36" name="Shape 33"/>
          <p:cNvSpPr/>
          <p:nvPr/>
        </p:nvSpPr>
        <p:spPr>
          <a:xfrm>
            <a:off x="20574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37" name="Text 34"/>
          <p:cNvSpPr/>
          <p:nvPr/>
        </p:nvSpPr>
        <p:spPr>
          <a:xfrm>
            <a:off x="20878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38" name="Shape 35"/>
          <p:cNvSpPr/>
          <p:nvPr/>
        </p:nvSpPr>
        <p:spPr>
          <a:xfrm>
            <a:off x="26289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39" name="Text 36"/>
          <p:cNvSpPr/>
          <p:nvPr/>
        </p:nvSpPr>
        <p:spPr>
          <a:xfrm>
            <a:off x="26593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67</a:t>
            </a:r>
            <a:endParaRPr lang="en-US" sz="1560" dirty="0"/>
          </a:p>
        </p:txBody>
      </p:sp>
      <p:sp>
        <p:nvSpPr>
          <p:cNvPr id="40" name="Text 37"/>
          <p:cNvSpPr/>
          <p:nvPr/>
        </p:nvSpPr>
        <p:spPr>
          <a:xfrm>
            <a:off x="960120" y="5143500"/>
            <a:ext cx="2362200" cy="226771"/>
          </a:xfrm>
          <a:prstGeom prst="rect">
            <a:avLst/>
          </a:prstGeom>
          <a:noFill/>
          <a:ln/>
        </p:spPr>
        <p:txBody>
          <a:bodyPr wrap="square" lIns="0" tIns="0" rIns="0" bIns="0" rtlCol="0" anchor="ctr"/>
          <a:lstStyle/>
          <a:p>
            <a:pPr algn="l" indent="0" marL="0">
              <a:lnSpc>
                <a:spcPct val="100000"/>
              </a:lnSpc>
              <a:buNone/>
            </a:pPr>
            <a:r>
              <a:rPr lang="en-US" sz="1440" b="1" dirty="0">
                <a:solidFill>
                  <a:srgbClr val="2165D6"/>
                </a:solidFill>
                <a:latin typeface="Arial" pitchFamily="34" charset="0"/>
                <a:ea typeface="Arial" pitchFamily="34" charset="-122"/>
                <a:cs typeface="Arial" pitchFamily="34" charset="-120"/>
              </a:rPr>
              <a:t>ANTES</a:t>
            </a:r>
            <a:endParaRPr lang="en-US" sz="1440" dirty="0"/>
          </a:p>
        </p:txBody>
      </p:sp>
      <p:sp>
        <p:nvSpPr>
          <p:cNvPr id="41" name="Shape 38"/>
          <p:cNvSpPr/>
          <p:nvPr/>
        </p:nvSpPr>
        <p:spPr>
          <a:xfrm>
            <a:off x="88392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42" name="Text 39"/>
          <p:cNvSpPr/>
          <p:nvPr/>
        </p:nvSpPr>
        <p:spPr>
          <a:xfrm>
            <a:off x="88696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38</a:t>
            </a:r>
            <a:endParaRPr lang="en-US" sz="1560" dirty="0"/>
          </a:p>
        </p:txBody>
      </p:sp>
      <p:sp>
        <p:nvSpPr>
          <p:cNvPr id="43" name="Shape 40"/>
          <p:cNvSpPr/>
          <p:nvPr/>
        </p:nvSpPr>
        <p:spPr>
          <a:xfrm>
            <a:off x="94107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44" name="Text 41"/>
          <p:cNvSpPr/>
          <p:nvPr/>
        </p:nvSpPr>
        <p:spPr>
          <a:xfrm>
            <a:off x="94411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77</a:t>
            </a:r>
            <a:endParaRPr lang="en-US" sz="1560" dirty="0"/>
          </a:p>
        </p:txBody>
      </p:sp>
      <p:sp>
        <p:nvSpPr>
          <p:cNvPr id="45" name="Shape 42"/>
          <p:cNvSpPr/>
          <p:nvPr/>
        </p:nvSpPr>
        <p:spPr>
          <a:xfrm>
            <a:off x="99822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46" name="Text 43"/>
          <p:cNvSpPr/>
          <p:nvPr/>
        </p:nvSpPr>
        <p:spPr>
          <a:xfrm>
            <a:off x="100126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67</a:t>
            </a:r>
            <a:endParaRPr lang="en-US" sz="1560" dirty="0"/>
          </a:p>
        </p:txBody>
      </p:sp>
      <p:sp>
        <p:nvSpPr>
          <p:cNvPr id="47" name="Shape 44"/>
          <p:cNvSpPr/>
          <p:nvPr/>
        </p:nvSpPr>
        <p:spPr>
          <a:xfrm>
            <a:off x="10553700" y="2636520"/>
            <a:ext cx="533400" cy="533400"/>
          </a:xfrm>
          <a:prstGeom prst="roundRect">
            <a:avLst>
              <a:gd name="adj" fmla="val 11429"/>
            </a:avLst>
          </a:prstGeom>
          <a:solidFill>
            <a:srgbClr val="EAF1FF"/>
          </a:solidFill>
          <a:ln w="12700">
            <a:solidFill>
              <a:srgbClr val="EAF1FF">
                <a:alpha val="0"/>
              </a:srgbClr>
            </a:solidFill>
            <a:prstDash val="solid"/>
          </a:ln>
        </p:spPr>
      </p:sp>
      <p:sp>
        <p:nvSpPr>
          <p:cNvPr id="48" name="Text 45"/>
          <p:cNvSpPr/>
          <p:nvPr/>
        </p:nvSpPr>
        <p:spPr>
          <a:xfrm>
            <a:off x="10584180" y="2743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49" name="Shape 46"/>
          <p:cNvSpPr/>
          <p:nvPr/>
        </p:nvSpPr>
        <p:spPr>
          <a:xfrm>
            <a:off x="88392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50" name="Text 47"/>
          <p:cNvSpPr/>
          <p:nvPr/>
        </p:nvSpPr>
        <p:spPr>
          <a:xfrm>
            <a:off x="88696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7b</a:t>
            </a:r>
            <a:endParaRPr lang="en-US" sz="1560" dirty="0"/>
          </a:p>
        </p:txBody>
      </p:sp>
      <p:sp>
        <p:nvSpPr>
          <p:cNvPr id="51" name="Shape 48"/>
          <p:cNvSpPr/>
          <p:nvPr/>
        </p:nvSpPr>
        <p:spPr>
          <a:xfrm>
            <a:off x="94107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52" name="Text 49"/>
          <p:cNvSpPr/>
          <p:nvPr/>
        </p:nvSpPr>
        <p:spPr>
          <a:xfrm>
            <a:off x="94411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7b</a:t>
            </a:r>
            <a:endParaRPr lang="en-US" sz="1560" dirty="0"/>
          </a:p>
        </p:txBody>
      </p:sp>
      <p:sp>
        <p:nvSpPr>
          <p:cNvPr id="53" name="Shape 50"/>
          <p:cNvSpPr/>
          <p:nvPr/>
        </p:nvSpPr>
        <p:spPr>
          <a:xfrm>
            <a:off x="99822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54" name="Text 51"/>
          <p:cNvSpPr/>
          <p:nvPr/>
        </p:nvSpPr>
        <p:spPr>
          <a:xfrm>
            <a:off x="100126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7b</a:t>
            </a:r>
            <a:endParaRPr lang="en-US" sz="1560" dirty="0"/>
          </a:p>
        </p:txBody>
      </p:sp>
      <p:sp>
        <p:nvSpPr>
          <p:cNvPr id="55" name="Shape 52"/>
          <p:cNvSpPr/>
          <p:nvPr/>
        </p:nvSpPr>
        <p:spPr>
          <a:xfrm>
            <a:off x="10553700" y="3208020"/>
            <a:ext cx="533400" cy="533400"/>
          </a:xfrm>
          <a:prstGeom prst="roundRect">
            <a:avLst>
              <a:gd name="adj" fmla="val 11429"/>
            </a:avLst>
          </a:prstGeom>
          <a:solidFill>
            <a:srgbClr val="EAF1FF"/>
          </a:solidFill>
          <a:ln w="12700">
            <a:solidFill>
              <a:srgbClr val="EAF1FF">
                <a:alpha val="0"/>
              </a:srgbClr>
            </a:solidFill>
            <a:prstDash val="solid"/>
          </a:ln>
        </p:spPr>
      </p:sp>
      <p:sp>
        <p:nvSpPr>
          <p:cNvPr id="56" name="Text 53"/>
          <p:cNvSpPr/>
          <p:nvPr/>
        </p:nvSpPr>
        <p:spPr>
          <a:xfrm>
            <a:off x="10584180" y="3314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77</a:t>
            </a:r>
            <a:endParaRPr lang="en-US" sz="1560" dirty="0"/>
          </a:p>
        </p:txBody>
      </p:sp>
      <p:sp>
        <p:nvSpPr>
          <p:cNvPr id="57" name="Shape 54"/>
          <p:cNvSpPr/>
          <p:nvPr/>
        </p:nvSpPr>
        <p:spPr>
          <a:xfrm>
            <a:off x="88392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58" name="Text 55"/>
          <p:cNvSpPr/>
          <p:nvPr/>
        </p:nvSpPr>
        <p:spPr>
          <a:xfrm>
            <a:off x="88696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fe</a:t>
            </a:r>
            <a:endParaRPr lang="en-US" sz="1560" dirty="0"/>
          </a:p>
        </p:txBody>
      </p:sp>
      <p:sp>
        <p:nvSpPr>
          <p:cNvPr id="59" name="Shape 56"/>
          <p:cNvSpPr/>
          <p:nvPr/>
        </p:nvSpPr>
        <p:spPr>
          <a:xfrm>
            <a:off x="94107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60" name="Text 57"/>
          <p:cNvSpPr/>
          <p:nvPr/>
        </p:nvSpPr>
        <p:spPr>
          <a:xfrm>
            <a:off x="94411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6f</a:t>
            </a:r>
            <a:endParaRPr lang="en-US" sz="1560" dirty="0"/>
          </a:p>
        </p:txBody>
      </p:sp>
      <p:sp>
        <p:nvSpPr>
          <p:cNvPr id="61" name="Shape 58"/>
          <p:cNvSpPr/>
          <p:nvPr/>
        </p:nvSpPr>
        <p:spPr>
          <a:xfrm>
            <a:off x="99822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62" name="Text 59"/>
          <p:cNvSpPr/>
          <p:nvPr/>
        </p:nvSpPr>
        <p:spPr>
          <a:xfrm>
            <a:off x="100126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6f</a:t>
            </a:r>
            <a:endParaRPr lang="en-US" sz="1560" dirty="0"/>
          </a:p>
        </p:txBody>
      </p:sp>
      <p:sp>
        <p:nvSpPr>
          <p:cNvPr id="63" name="Shape 60"/>
          <p:cNvSpPr/>
          <p:nvPr/>
        </p:nvSpPr>
        <p:spPr>
          <a:xfrm>
            <a:off x="10553700" y="3779520"/>
            <a:ext cx="533400" cy="533400"/>
          </a:xfrm>
          <a:prstGeom prst="roundRect">
            <a:avLst>
              <a:gd name="adj" fmla="val 11429"/>
            </a:avLst>
          </a:prstGeom>
          <a:solidFill>
            <a:srgbClr val="EAF1FF"/>
          </a:solidFill>
          <a:ln w="12700">
            <a:solidFill>
              <a:srgbClr val="EAF1FF">
                <a:alpha val="0"/>
              </a:srgbClr>
            </a:solidFill>
            <a:prstDash val="solid"/>
          </a:ln>
        </p:spPr>
      </p:sp>
      <p:sp>
        <p:nvSpPr>
          <p:cNvPr id="64" name="Text 61"/>
          <p:cNvSpPr/>
          <p:nvPr/>
        </p:nvSpPr>
        <p:spPr>
          <a:xfrm>
            <a:off x="10584180" y="38862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63</a:t>
            </a:r>
            <a:endParaRPr lang="en-US" sz="1560" dirty="0"/>
          </a:p>
        </p:txBody>
      </p:sp>
      <p:sp>
        <p:nvSpPr>
          <p:cNvPr id="65" name="Shape 62"/>
          <p:cNvSpPr/>
          <p:nvPr/>
        </p:nvSpPr>
        <p:spPr>
          <a:xfrm>
            <a:off x="88392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66" name="Text 63"/>
          <p:cNvSpPr/>
          <p:nvPr/>
        </p:nvSpPr>
        <p:spPr>
          <a:xfrm>
            <a:off x="88696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67</a:t>
            </a:r>
            <a:endParaRPr lang="en-US" sz="1560" dirty="0"/>
          </a:p>
        </p:txBody>
      </p:sp>
      <p:sp>
        <p:nvSpPr>
          <p:cNvPr id="67" name="Shape 64"/>
          <p:cNvSpPr/>
          <p:nvPr/>
        </p:nvSpPr>
        <p:spPr>
          <a:xfrm>
            <a:off x="94107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68" name="Text 65"/>
          <p:cNvSpPr/>
          <p:nvPr/>
        </p:nvSpPr>
        <p:spPr>
          <a:xfrm>
            <a:off x="94411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69" name="Shape 66"/>
          <p:cNvSpPr/>
          <p:nvPr/>
        </p:nvSpPr>
        <p:spPr>
          <a:xfrm>
            <a:off x="99822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70" name="Text 67"/>
          <p:cNvSpPr/>
          <p:nvPr/>
        </p:nvSpPr>
        <p:spPr>
          <a:xfrm>
            <a:off x="100126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71" name="Shape 68"/>
          <p:cNvSpPr/>
          <p:nvPr/>
        </p:nvSpPr>
        <p:spPr>
          <a:xfrm>
            <a:off x="10553700" y="4351020"/>
            <a:ext cx="533400" cy="533400"/>
          </a:xfrm>
          <a:prstGeom prst="roundRect">
            <a:avLst>
              <a:gd name="adj" fmla="val 11429"/>
            </a:avLst>
          </a:prstGeom>
          <a:solidFill>
            <a:srgbClr val="EAF1FF"/>
          </a:solidFill>
          <a:ln w="12700">
            <a:solidFill>
              <a:srgbClr val="EAF1FF">
                <a:alpha val="0"/>
              </a:srgbClr>
            </a:solidFill>
            <a:prstDash val="solid"/>
          </a:ln>
        </p:spPr>
      </p:sp>
      <p:sp>
        <p:nvSpPr>
          <p:cNvPr id="72" name="Text 69"/>
          <p:cNvSpPr/>
          <p:nvPr/>
        </p:nvSpPr>
        <p:spPr>
          <a:xfrm>
            <a:off x="10584180" y="4457700"/>
            <a:ext cx="472440" cy="245669"/>
          </a:xfrm>
          <a:prstGeom prst="rect">
            <a:avLst/>
          </a:prstGeom>
          <a:noFill/>
          <a:ln/>
        </p:spPr>
        <p:txBody>
          <a:bodyPr wrap="square" lIns="0" tIns="0" rIns="0" bIns="0" rtlCol="0" anchor="ctr"/>
          <a:lstStyle/>
          <a:p>
            <a:pPr algn="ctr" indent="0" marL="0">
              <a:lnSpc>
                <a:spcPct val="100000"/>
              </a:lnSpc>
              <a:buNone/>
            </a:pPr>
            <a:r>
              <a:rPr lang="en-US" sz="1560" b="1" dirty="0">
                <a:solidFill>
                  <a:srgbClr val="2165D6"/>
                </a:solidFill>
                <a:latin typeface="Consolas" pitchFamily="34" charset="0"/>
                <a:ea typeface="Consolas" pitchFamily="34" charset="-122"/>
                <a:cs typeface="Consolas" pitchFamily="34" charset="-120"/>
              </a:rPr>
              <a:t>f2</a:t>
            </a:r>
            <a:endParaRPr lang="en-US" sz="1560" dirty="0"/>
          </a:p>
        </p:txBody>
      </p:sp>
      <p:sp>
        <p:nvSpPr>
          <p:cNvPr id="73" name="Text 70"/>
          <p:cNvSpPr/>
          <p:nvPr/>
        </p:nvSpPr>
        <p:spPr>
          <a:xfrm>
            <a:off x="8877300" y="5143500"/>
            <a:ext cx="2438400" cy="226771"/>
          </a:xfrm>
          <a:prstGeom prst="rect">
            <a:avLst/>
          </a:prstGeom>
          <a:noFill/>
          <a:ln/>
        </p:spPr>
        <p:txBody>
          <a:bodyPr wrap="square" lIns="0" tIns="0" rIns="0" bIns="0" rtlCol="0" anchor="ctr"/>
          <a:lstStyle/>
          <a:p>
            <a:pPr algn="l" indent="0" marL="0">
              <a:lnSpc>
                <a:spcPct val="100000"/>
              </a:lnSpc>
              <a:buNone/>
            </a:pPr>
            <a:r>
              <a:rPr lang="en-US" sz="1440" b="1" dirty="0">
                <a:solidFill>
                  <a:srgbClr val="008774"/>
                </a:solidFill>
                <a:latin typeface="Arial" pitchFamily="34" charset="0"/>
                <a:ea typeface="Arial" pitchFamily="34" charset="-122"/>
                <a:cs typeface="Arial" pitchFamily="34" charset="-120"/>
              </a:rPr>
              <a:t>DEPOIS</a:t>
            </a:r>
            <a:endParaRPr lang="en-US" sz="1440" dirty="0"/>
          </a:p>
        </p:txBody>
      </p:sp>
      <p:sp>
        <p:nvSpPr>
          <p:cNvPr id="74" name="Text 71"/>
          <p:cNvSpPr/>
          <p:nvPr/>
        </p:nvSpPr>
        <p:spPr>
          <a:xfrm>
            <a:off x="3733800" y="2689860"/>
            <a:ext cx="12954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Linha 0</a:t>
            </a:r>
            <a:endParaRPr lang="en-US" sz="1620" dirty="0"/>
          </a:p>
        </p:txBody>
      </p:sp>
      <p:sp>
        <p:nvSpPr>
          <p:cNvPr id="75" name="Shape 72"/>
          <p:cNvSpPr/>
          <p:nvPr/>
        </p:nvSpPr>
        <p:spPr>
          <a:xfrm>
            <a:off x="5334000" y="2895600"/>
            <a:ext cx="2971800" cy="0"/>
          </a:xfrm>
          <a:prstGeom prst="line">
            <a:avLst/>
          </a:prstGeom>
          <a:noFill/>
          <a:ln w="22860">
            <a:solidFill>
              <a:srgbClr val="D7E1EE"/>
            </a:solidFill>
            <a:prstDash val="solid"/>
          </a:ln>
        </p:spPr>
      </p:sp>
      <p:sp>
        <p:nvSpPr>
          <p:cNvPr id="76" name="Text 73"/>
          <p:cNvSpPr/>
          <p:nvPr/>
        </p:nvSpPr>
        <p:spPr>
          <a:xfrm>
            <a:off x="5295900" y="2621280"/>
            <a:ext cx="297180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Arial" pitchFamily="34" charset="0"/>
                <a:ea typeface="Arial" pitchFamily="34" charset="-122"/>
                <a:cs typeface="Arial" pitchFamily="34" charset="-120"/>
              </a:rPr>
              <a:t>fica no lugar</a:t>
            </a:r>
            <a:endParaRPr lang="en-US" sz="1440" dirty="0"/>
          </a:p>
        </p:txBody>
      </p:sp>
      <p:sp>
        <p:nvSpPr>
          <p:cNvPr id="77" name="Text 74"/>
          <p:cNvSpPr/>
          <p:nvPr/>
        </p:nvSpPr>
        <p:spPr>
          <a:xfrm>
            <a:off x="3733800" y="3261360"/>
            <a:ext cx="12954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Linha 1</a:t>
            </a:r>
            <a:endParaRPr lang="en-US" sz="1620" dirty="0"/>
          </a:p>
        </p:txBody>
      </p:sp>
      <p:sp>
        <p:nvSpPr>
          <p:cNvPr id="78" name="Shape 75"/>
          <p:cNvSpPr/>
          <p:nvPr/>
        </p:nvSpPr>
        <p:spPr>
          <a:xfrm>
            <a:off x="5334000" y="3467100"/>
            <a:ext cx="2971800" cy="0"/>
          </a:xfrm>
          <a:prstGeom prst="line">
            <a:avLst/>
          </a:prstGeom>
          <a:noFill/>
          <a:ln w="22860">
            <a:solidFill>
              <a:srgbClr val="008774"/>
            </a:solidFill>
            <a:prstDash val="solid"/>
            <a:tailEnd type="triangle"/>
          </a:ln>
        </p:spPr>
      </p:sp>
      <p:sp>
        <p:nvSpPr>
          <p:cNvPr id="79" name="Text 76"/>
          <p:cNvSpPr/>
          <p:nvPr/>
        </p:nvSpPr>
        <p:spPr>
          <a:xfrm>
            <a:off x="5295900" y="3192780"/>
            <a:ext cx="297180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Arial" pitchFamily="34" charset="0"/>
                <a:ea typeface="Arial" pitchFamily="34" charset="-122"/>
                <a:cs typeface="Arial" pitchFamily="34" charset="-120"/>
              </a:rPr>
              <a:t>1 posição à esquerda</a:t>
            </a:r>
            <a:endParaRPr lang="en-US" sz="1440" dirty="0"/>
          </a:p>
        </p:txBody>
      </p:sp>
      <p:sp>
        <p:nvSpPr>
          <p:cNvPr id="80" name="Text 77"/>
          <p:cNvSpPr/>
          <p:nvPr/>
        </p:nvSpPr>
        <p:spPr>
          <a:xfrm>
            <a:off x="3733800" y="3832860"/>
            <a:ext cx="12954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Linha 2</a:t>
            </a:r>
            <a:endParaRPr lang="en-US" sz="1620" dirty="0"/>
          </a:p>
        </p:txBody>
      </p:sp>
      <p:sp>
        <p:nvSpPr>
          <p:cNvPr id="81" name="Shape 78"/>
          <p:cNvSpPr/>
          <p:nvPr/>
        </p:nvSpPr>
        <p:spPr>
          <a:xfrm>
            <a:off x="5334000" y="4038600"/>
            <a:ext cx="2971800" cy="0"/>
          </a:xfrm>
          <a:prstGeom prst="line">
            <a:avLst/>
          </a:prstGeom>
          <a:noFill/>
          <a:ln w="22860">
            <a:solidFill>
              <a:srgbClr val="008774"/>
            </a:solidFill>
            <a:prstDash val="solid"/>
            <a:tailEnd type="triangle"/>
          </a:ln>
        </p:spPr>
      </p:sp>
      <p:sp>
        <p:nvSpPr>
          <p:cNvPr id="82" name="Text 79"/>
          <p:cNvSpPr/>
          <p:nvPr/>
        </p:nvSpPr>
        <p:spPr>
          <a:xfrm>
            <a:off x="5295900" y="3764280"/>
            <a:ext cx="297180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Arial" pitchFamily="34" charset="0"/>
                <a:ea typeface="Arial" pitchFamily="34" charset="-122"/>
                <a:cs typeface="Arial" pitchFamily="34" charset="-120"/>
              </a:rPr>
              <a:t>2 posições à esquerda</a:t>
            </a:r>
            <a:endParaRPr lang="en-US" sz="1440" dirty="0"/>
          </a:p>
        </p:txBody>
      </p:sp>
      <p:sp>
        <p:nvSpPr>
          <p:cNvPr id="83" name="Text 80"/>
          <p:cNvSpPr/>
          <p:nvPr/>
        </p:nvSpPr>
        <p:spPr>
          <a:xfrm>
            <a:off x="3733800" y="4404360"/>
            <a:ext cx="12954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Linha 3</a:t>
            </a:r>
            <a:endParaRPr lang="en-US" sz="1620" dirty="0"/>
          </a:p>
        </p:txBody>
      </p:sp>
      <p:sp>
        <p:nvSpPr>
          <p:cNvPr id="84" name="Shape 81"/>
          <p:cNvSpPr/>
          <p:nvPr/>
        </p:nvSpPr>
        <p:spPr>
          <a:xfrm>
            <a:off x="5334000" y="4610100"/>
            <a:ext cx="2971800" cy="0"/>
          </a:xfrm>
          <a:prstGeom prst="line">
            <a:avLst/>
          </a:prstGeom>
          <a:noFill/>
          <a:ln w="22860">
            <a:solidFill>
              <a:srgbClr val="008774"/>
            </a:solidFill>
            <a:prstDash val="solid"/>
            <a:tailEnd type="triangle"/>
          </a:ln>
        </p:spPr>
      </p:sp>
      <p:sp>
        <p:nvSpPr>
          <p:cNvPr id="85" name="Text 82"/>
          <p:cNvSpPr/>
          <p:nvPr/>
        </p:nvSpPr>
        <p:spPr>
          <a:xfrm>
            <a:off x="5295900" y="4335780"/>
            <a:ext cx="297180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Arial" pitchFamily="34" charset="0"/>
                <a:ea typeface="Arial" pitchFamily="34" charset="-122"/>
                <a:cs typeface="Arial" pitchFamily="34" charset="-120"/>
              </a:rPr>
              <a:t>3 posições à esquerda</a:t>
            </a:r>
            <a:endParaRPr lang="en-US" sz="1440" dirty="0"/>
          </a:p>
        </p:txBody>
      </p:sp>
      <p:sp>
        <p:nvSpPr>
          <p:cNvPr id="86" name="Shape 83"/>
          <p:cNvSpPr/>
          <p:nvPr/>
        </p:nvSpPr>
        <p:spPr>
          <a:xfrm>
            <a:off x="487680" y="6461760"/>
            <a:ext cx="11216640" cy="0"/>
          </a:xfrm>
          <a:prstGeom prst="line">
            <a:avLst/>
          </a:prstGeom>
          <a:noFill/>
          <a:ln w="7620">
            <a:solidFill>
              <a:srgbClr val="D7E1EE"/>
            </a:solidFill>
            <a:prstDash val="solid"/>
          </a:ln>
        </p:spPr>
      </p:sp>
      <p:sp>
        <p:nvSpPr>
          <p:cNvPr id="87" name="Text 84"/>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88" name="Text 85"/>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10 / 27</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TRANSFORMAÇÃO 3</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MixColumns: uma coluna se mistura por dentro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Cada byte de saída depende dos quatro bytes daquela coluna.</a:t>
            </a:r>
            <a:endParaRPr lang="en-US" sz="1620" dirty="0"/>
          </a:p>
        </p:txBody>
      </p:sp>
      <p:sp>
        <p:nvSpPr>
          <p:cNvPr id="8" name="Shape 5"/>
          <p:cNvSpPr/>
          <p:nvPr/>
        </p:nvSpPr>
        <p:spPr>
          <a:xfrm>
            <a:off x="716280" y="2468880"/>
            <a:ext cx="990600" cy="533400"/>
          </a:xfrm>
          <a:prstGeom prst="roundRect">
            <a:avLst>
              <a:gd name="adj" fmla="val 25714"/>
            </a:avLst>
          </a:prstGeom>
          <a:solidFill>
            <a:srgbClr val="EAF1FF"/>
          </a:solidFill>
          <a:ln w="12700">
            <a:solidFill>
              <a:srgbClr val="EAF1FF">
                <a:alpha val="0"/>
              </a:srgbClr>
            </a:solidFill>
            <a:prstDash val="solid"/>
          </a:ln>
        </p:spPr>
      </p:sp>
      <p:sp>
        <p:nvSpPr>
          <p:cNvPr id="9" name="Text 6"/>
          <p:cNvSpPr/>
          <p:nvPr/>
        </p:nvSpPr>
        <p:spPr>
          <a:xfrm>
            <a:off x="792480" y="258318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2165D6"/>
                </a:solidFill>
                <a:latin typeface="Consolas" pitchFamily="34" charset="0"/>
                <a:ea typeface="Consolas" pitchFamily="34" charset="-122"/>
                <a:cs typeface="Consolas" pitchFamily="34" charset="-120"/>
              </a:rPr>
              <a:t>38</a:t>
            </a:r>
            <a:endParaRPr lang="en-US" sz="1980" dirty="0"/>
          </a:p>
        </p:txBody>
      </p:sp>
      <p:sp>
        <p:nvSpPr>
          <p:cNvPr id="10" name="Shape 7"/>
          <p:cNvSpPr/>
          <p:nvPr/>
        </p:nvSpPr>
        <p:spPr>
          <a:xfrm>
            <a:off x="1882140" y="2735580"/>
            <a:ext cx="2232660" cy="1013460"/>
          </a:xfrm>
          <a:prstGeom prst="line">
            <a:avLst/>
          </a:prstGeom>
          <a:noFill/>
          <a:ln w="22860">
            <a:solidFill>
              <a:srgbClr val="2165D6"/>
            </a:solidFill>
            <a:prstDash val="solid"/>
          </a:ln>
        </p:spPr>
      </p:sp>
      <p:sp>
        <p:nvSpPr>
          <p:cNvPr id="11" name="Shape 8"/>
          <p:cNvSpPr/>
          <p:nvPr/>
        </p:nvSpPr>
        <p:spPr>
          <a:xfrm>
            <a:off x="716280" y="3139440"/>
            <a:ext cx="990600" cy="533400"/>
          </a:xfrm>
          <a:prstGeom prst="roundRect">
            <a:avLst>
              <a:gd name="adj" fmla="val 25714"/>
            </a:avLst>
          </a:prstGeom>
          <a:solidFill>
            <a:srgbClr val="EAF1FF"/>
          </a:solidFill>
          <a:ln w="12700">
            <a:solidFill>
              <a:srgbClr val="EAF1FF">
                <a:alpha val="0"/>
              </a:srgbClr>
            </a:solidFill>
            <a:prstDash val="solid"/>
          </a:ln>
        </p:spPr>
      </p:sp>
      <p:sp>
        <p:nvSpPr>
          <p:cNvPr id="12" name="Text 9"/>
          <p:cNvSpPr/>
          <p:nvPr/>
        </p:nvSpPr>
        <p:spPr>
          <a:xfrm>
            <a:off x="792480" y="325374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2165D6"/>
                </a:solidFill>
                <a:latin typeface="Consolas" pitchFamily="34" charset="0"/>
                <a:ea typeface="Consolas" pitchFamily="34" charset="-122"/>
                <a:cs typeface="Consolas" pitchFamily="34" charset="-120"/>
              </a:rPr>
              <a:t>7b</a:t>
            </a:r>
            <a:endParaRPr lang="en-US" sz="1980" dirty="0"/>
          </a:p>
        </p:txBody>
      </p:sp>
      <p:sp>
        <p:nvSpPr>
          <p:cNvPr id="13" name="Shape 10"/>
          <p:cNvSpPr/>
          <p:nvPr/>
        </p:nvSpPr>
        <p:spPr>
          <a:xfrm>
            <a:off x="1882140" y="3406140"/>
            <a:ext cx="2232660" cy="342900"/>
          </a:xfrm>
          <a:prstGeom prst="line">
            <a:avLst/>
          </a:prstGeom>
          <a:noFill/>
          <a:ln w="22860">
            <a:solidFill>
              <a:srgbClr val="2165D6"/>
            </a:solidFill>
            <a:prstDash val="solid"/>
          </a:ln>
        </p:spPr>
      </p:sp>
      <p:sp>
        <p:nvSpPr>
          <p:cNvPr id="14" name="Shape 11"/>
          <p:cNvSpPr/>
          <p:nvPr/>
        </p:nvSpPr>
        <p:spPr>
          <a:xfrm>
            <a:off x="716280" y="3810000"/>
            <a:ext cx="990600" cy="533400"/>
          </a:xfrm>
          <a:prstGeom prst="roundRect">
            <a:avLst>
              <a:gd name="adj" fmla="val 25714"/>
            </a:avLst>
          </a:prstGeom>
          <a:solidFill>
            <a:srgbClr val="EAF1FF"/>
          </a:solidFill>
          <a:ln w="12700">
            <a:solidFill>
              <a:srgbClr val="EAF1FF">
                <a:alpha val="0"/>
              </a:srgbClr>
            </a:solidFill>
            <a:prstDash val="solid"/>
          </a:ln>
        </p:spPr>
      </p:sp>
      <p:sp>
        <p:nvSpPr>
          <p:cNvPr id="15" name="Text 12"/>
          <p:cNvSpPr/>
          <p:nvPr/>
        </p:nvSpPr>
        <p:spPr>
          <a:xfrm>
            <a:off x="792480" y="392430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2165D6"/>
                </a:solidFill>
                <a:latin typeface="Consolas" pitchFamily="34" charset="0"/>
                <a:ea typeface="Consolas" pitchFamily="34" charset="-122"/>
                <a:cs typeface="Consolas" pitchFamily="34" charset="-120"/>
              </a:rPr>
              <a:t>fe</a:t>
            </a:r>
            <a:endParaRPr lang="en-US" sz="1980" dirty="0"/>
          </a:p>
        </p:txBody>
      </p:sp>
      <p:sp>
        <p:nvSpPr>
          <p:cNvPr id="16" name="Shape 13"/>
          <p:cNvSpPr/>
          <p:nvPr/>
        </p:nvSpPr>
        <p:spPr>
          <a:xfrm flipV="1">
            <a:off x="1882140" y="3749040"/>
            <a:ext cx="2232660" cy="327660"/>
          </a:xfrm>
          <a:prstGeom prst="line">
            <a:avLst/>
          </a:prstGeom>
          <a:noFill/>
          <a:ln w="22860">
            <a:solidFill>
              <a:srgbClr val="2165D6"/>
            </a:solidFill>
            <a:prstDash val="solid"/>
          </a:ln>
        </p:spPr>
      </p:sp>
      <p:sp>
        <p:nvSpPr>
          <p:cNvPr id="17" name="Shape 14"/>
          <p:cNvSpPr/>
          <p:nvPr/>
        </p:nvSpPr>
        <p:spPr>
          <a:xfrm>
            <a:off x="716280" y="4480560"/>
            <a:ext cx="990600" cy="533400"/>
          </a:xfrm>
          <a:prstGeom prst="roundRect">
            <a:avLst>
              <a:gd name="adj" fmla="val 25714"/>
            </a:avLst>
          </a:prstGeom>
          <a:solidFill>
            <a:srgbClr val="EAF1FF"/>
          </a:solidFill>
          <a:ln w="12700">
            <a:solidFill>
              <a:srgbClr val="EAF1FF">
                <a:alpha val="0"/>
              </a:srgbClr>
            </a:solidFill>
            <a:prstDash val="solid"/>
          </a:ln>
        </p:spPr>
      </p:sp>
      <p:sp>
        <p:nvSpPr>
          <p:cNvPr id="18" name="Text 15"/>
          <p:cNvSpPr/>
          <p:nvPr/>
        </p:nvSpPr>
        <p:spPr>
          <a:xfrm>
            <a:off x="792480" y="459486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2165D6"/>
                </a:solidFill>
                <a:latin typeface="Consolas" pitchFamily="34" charset="0"/>
                <a:ea typeface="Consolas" pitchFamily="34" charset="-122"/>
                <a:cs typeface="Consolas" pitchFamily="34" charset="-120"/>
              </a:rPr>
              <a:t>67</a:t>
            </a:r>
            <a:endParaRPr lang="en-US" sz="1980" dirty="0"/>
          </a:p>
        </p:txBody>
      </p:sp>
      <p:sp>
        <p:nvSpPr>
          <p:cNvPr id="19" name="Shape 16"/>
          <p:cNvSpPr/>
          <p:nvPr/>
        </p:nvSpPr>
        <p:spPr>
          <a:xfrm flipV="1">
            <a:off x="1882140" y="3749040"/>
            <a:ext cx="2232660" cy="998220"/>
          </a:xfrm>
          <a:prstGeom prst="line">
            <a:avLst/>
          </a:prstGeom>
          <a:noFill/>
          <a:ln w="22860">
            <a:solidFill>
              <a:srgbClr val="2165D6"/>
            </a:solidFill>
            <a:prstDash val="solid"/>
          </a:ln>
        </p:spPr>
      </p:sp>
      <p:sp>
        <p:nvSpPr>
          <p:cNvPr id="20" name="Shape 17"/>
          <p:cNvSpPr/>
          <p:nvPr/>
        </p:nvSpPr>
        <p:spPr>
          <a:xfrm>
            <a:off x="4213860" y="2933700"/>
            <a:ext cx="2743200" cy="1562100"/>
          </a:xfrm>
          <a:prstGeom prst="roundRect">
            <a:avLst>
              <a:gd name="adj" fmla="val 8780"/>
            </a:avLst>
          </a:prstGeom>
          <a:solidFill>
            <a:srgbClr val="E4F6F0"/>
          </a:solidFill>
          <a:ln w="12700">
            <a:solidFill>
              <a:srgbClr val="E4F6F0">
                <a:alpha val="0"/>
              </a:srgbClr>
            </a:solidFill>
            <a:prstDash val="solid"/>
          </a:ln>
        </p:spPr>
      </p:sp>
      <p:sp>
        <p:nvSpPr>
          <p:cNvPr id="21" name="Text 18"/>
          <p:cNvSpPr/>
          <p:nvPr/>
        </p:nvSpPr>
        <p:spPr>
          <a:xfrm>
            <a:off x="4396740" y="3337560"/>
            <a:ext cx="2362200" cy="340157"/>
          </a:xfrm>
          <a:prstGeom prst="rect">
            <a:avLst/>
          </a:prstGeom>
          <a:noFill/>
          <a:ln/>
        </p:spPr>
        <p:txBody>
          <a:bodyPr wrap="square" lIns="0" tIns="0" rIns="0" bIns="0" rtlCol="0" anchor="ctr"/>
          <a:lstStyle/>
          <a:p>
            <a:pPr algn="ctr" indent="0" marL="0">
              <a:lnSpc>
                <a:spcPct val="100000"/>
              </a:lnSpc>
              <a:buNone/>
            </a:pPr>
            <a:r>
              <a:rPr lang="en-US" sz="2160" b="1" dirty="0">
                <a:solidFill>
                  <a:srgbClr val="008774"/>
                </a:solidFill>
                <a:latin typeface="Arial" pitchFamily="34" charset="0"/>
                <a:ea typeface="Arial" pitchFamily="34" charset="-122"/>
                <a:cs typeface="Arial" pitchFamily="34" charset="-120"/>
              </a:rPr>
              <a:t>Misturar com</a:t>
            </a:r>
            <a:endParaRPr lang="en-US" sz="2160" dirty="0"/>
          </a:p>
        </p:txBody>
      </p:sp>
      <p:sp>
        <p:nvSpPr>
          <p:cNvPr id="22" name="Text 19"/>
          <p:cNvSpPr/>
          <p:nvPr/>
        </p:nvSpPr>
        <p:spPr>
          <a:xfrm>
            <a:off x="4396740" y="3677717"/>
            <a:ext cx="2362200" cy="340157"/>
          </a:xfrm>
          <a:prstGeom prst="rect">
            <a:avLst/>
          </a:prstGeom>
          <a:noFill/>
          <a:ln/>
        </p:spPr>
        <p:txBody>
          <a:bodyPr wrap="square" lIns="0" tIns="0" rIns="0" bIns="0" rtlCol="0" anchor="ctr"/>
          <a:lstStyle/>
          <a:p>
            <a:pPr algn="ctr" indent="0" marL="0">
              <a:lnSpc>
                <a:spcPct val="100000"/>
              </a:lnSpc>
              <a:buNone/>
            </a:pPr>
            <a:r>
              <a:rPr lang="en-US" sz="2160" b="1" dirty="0">
                <a:solidFill>
                  <a:srgbClr val="008774"/>
                </a:solidFill>
                <a:latin typeface="Arial" pitchFamily="34" charset="0"/>
                <a:ea typeface="Arial" pitchFamily="34" charset="-122"/>
                <a:cs typeface="Arial" pitchFamily="34" charset="-120"/>
              </a:rPr>
              <a:t>regras do AES</a:t>
            </a:r>
            <a:endParaRPr lang="en-US" sz="2160" dirty="0"/>
          </a:p>
        </p:txBody>
      </p:sp>
      <p:sp>
        <p:nvSpPr>
          <p:cNvPr id="23" name="Shape 20"/>
          <p:cNvSpPr/>
          <p:nvPr/>
        </p:nvSpPr>
        <p:spPr>
          <a:xfrm flipV="1">
            <a:off x="7063740" y="2735580"/>
            <a:ext cx="2308860" cy="1013460"/>
          </a:xfrm>
          <a:prstGeom prst="line">
            <a:avLst/>
          </a:prstGeom>
          <a:noFill/>
          <a:ln w="22860">
            <a:solidFill>
              <a:srgbClr val="008774"/>
            </a:solidFill>
            <a:prstDash val="solid"/>
            <a:tailEnd type="triangle"/>
          </a:ln>
        </p:spPr>
      </p:sp>
      <p:sp>
        <p:nvSpPr>
          <p:cNvPr id="24" name="Shape 21"/>
          <p:cNvSpPr/>
          <p:nvPr/>
        </p:nvSpPr>
        <p:spPr>
          <a:xfrm>
            <a:off x="9525000" y="2468880"/>
            <a:ext cx="990600" cy="533400"/>
          </a:xfrm>
          <a:prstGeom prst="roundRect">
            <a:avLst>
              <a:gd name="adj" fmla="val 25714"/>
            </a:avLst>
          </a:prstGeom>
          <a:solidFill>
            <a:srgbClr val="E4F6F0"/>
          </a:solidFill>
          <a:ln w="12700">
            <a:solidFill>
              <a:srgbClr val="E4F6F0">
                <a:alpha val="0"/>
              </a:srgbClr>
            </a:solidFill>
            <a:prstDash val="solid"/>
          </a:ln>
        </p:spPr>
      </p:sp>
      <p:sp>
        <p:nvSpPr>
          <p:cNvPr id="25" name="Text 22"/>
          <p:cNvSpPr/>
          <p:nvPr/>
        </p:nvSpPr>
        <p:spPr>
          <a:xfrm>
            <a:off x="9601200" y="258318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008774"/>
                </a:solidFill>
                <a:latin typeface="Consolas" pitchFamily="34" charset="0"/>
                <a:ea typeface="Consolas" pitchFamily="34" charset="-122"/>
                <a:cs typeface="Consolas" pitchFamily="34" charset="-120"/>
              </a:rPr>
              <a:t>64</a:t>
            </a:r>
            <a:endParaRPr lang="en-US" sz="1980" dirty="0"/>
          </a:p>
        </p:txBody>
      </p:sp>
      <p:sp>
        <p:nvSpPr>
          <p:cNvPr id="26" name="Shape 23"/>
          <p:cNvSpPr/>
          <p:nvPr/>
        </p:nvSpPr>
        <p:spPr>
          <a:xfrm flipV="1">
            <a:off x="7063740" y="3406140"/>
            <a:ext cx="2308860" cy="342900"/>
          </a:xfrm>
          <a:prstGeom prst="line">
            <a:avLst/>
          </a:prstGeom>
          <a:noFill/>
          <a:ln w="22860">
            <a:solidFill>
              <a:srgbClr val="008774"/>
            </a:solidFill>
            <a:prstDash val="solid"/>
            <a:tailEnd type="triangle"/>
          </a:ln>
        </p:spPr>
      </p:sp>
      <p:sp>
        <p:nvSpPr>
          <p:cNvPr id="27" name="Shape 24"/>
          <p:cNvSpPr/>
          <p:nvPr/>
        </p:nvSpPr>
        <p:spPr>
          <a:xfrm>
            <a:off x="9525000" y="3139440"/>
            <a:ext cx="990600" cy="533400"/>
          </a:xfrm>
          <a:prstGeom prst="roundRect">
            <a:avLst>
              <a:gd name="adj" fmla="val 25714"/>
            </a:avLst>
          </a:prstGeom>
          <a:solidFill>
            <a:srgbClr val="E4F6F0"/>
          </a:solidFill>
          <a:ln w="12700">
            <a:solidFill>
              <a:srgbClr val="E4F6F0">
                <a:alpha val="0"/>
              </a:srgbClr>
            </a:solidFill>
            <a:prstDash val="solid"/>
          </a:ln>
        </p:spPr>
      </p:sp>
      <p:sp>
        <p:nvSpPr>
          <p:cNvPr id="28" name="Text 25"/>
          <p:cNvSpPr/>
          <p:nvPr/>
        </p:nvSpPr>
        <p:spPr>
          <a:xfrm>
            <a:off x="9601200" y="325374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008774"/>
                </a:solidFill>
                <a:latin typeface="Consolas" pitchFamily="34" charset="0"/>
                <a:ea typeface="Consolas" pitchFamily="34" charset="-122"/>
                <a:cs typeface="Consolas" pitchFamily="34" charset="-120"/>
              </a:rPr>
              <a:t>b0</a:t>
            </a:r>
            <a:endParaRPr lang="en-US" sz="1980" dirty="0"/>
          </a:p>
        </p:txBody>
      </p:sp>
      <p:sp>
        <p:nvSpPr>
          <p:cNvPr id="29" name="Shape 26"/>
          <p:cNvSpPr/>
          <p:nvPr/>
        </p:nvSpPr>
        <p:spPr>
          <a:xfrm>
            <a:off x="7063740" y="3749040"/>
            <a:ext cx="2308860" cy="327660"/>
          </a:xfrm>
          <a:prstGeom prst="line">
            <a:avLst/>
          </a:prstGeom>
          <a:noFill/>
          <a:ln w="22860">
            <a:solidFill>
              <a:srgbClr val="008774"/>
            </a:solidFill>
            <a:prstDash val="solid"/>
            <a:tailEnd type="triangle"/>
          </a:ln>
        </p:spPr>
      </p:sp>
      <p:sp>
        <p:nvSpPr>
          <p:cNvPr id="30" name="Shape 27"/>
          <p:cNvSpPr/>
          <p:nvPr/>
        </p:nvSpPr>
        <p:spPr>
          <a:xfrm>
            <a:off x="9525000" y="3810000"/>
            <a:ext cx="990600" cy="533400"/>
          </a:xfrm>
          <a:prstGeom prst="roundRect">
            <a:avLst>
              <a:gd name="adj" fmla="val 25714"/>
            </a:avLst>
          </a:prstGeom>
          <a:solidFill>
            <a:srgbClr val="E4F6F0"/>
          </a:solidFill>
          <a:ln w="12700">
            <a:solidFill>
              <a:srgbClr val="E4F6F0">
                <a:alpha val="0"/>
              </a:srgbClr>
            </a:solidFill>
            <a:prstDash val="solid"/>
          </a:ln>
        </p:spPr>
      </p:sp>
      <p:sp>
        <p:nvSpPr>
          <p:cNvPr id="31" name="Text 28"/>
          <p:cNvSpPr/>
          <p:nvPr/>
        </p:nvSpPr>
        <p:spPr>
          <a:xfrm>
            <a:off x="9601200" y="392430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008774"/>
                </a:solidFill>
                <a:latin typeface="Consolas" pitchFamily="34" charset="0"/>
                <a:ea typeface="Consolas" pitchFamily="34" charset="-122"/>
                <a:cs typeface="Consolas" pitchFamily="34" charset="-120"/>
              </a:rPr>
              <a:t>0d</a:t>
            </a:r>
            <a:endParaRPr lang="en-US" sz="1980" dirty="0"/>
          </a:p>
        </p:txBody>
      </p:sp>
      <p:sp>
        <p:nvSpPr>
          <p:cNvPr id="32" name="Shape 29"/>
          <p:cNvSpPr/>
          <p:nvPr/>
        </p:nvSpPr>
        <p:spPr>
          <a:xfrm>
            <a:off x="7063740" y="3749040"/>
            <a:ext cx="2308860" cy="998220"/>
          </a:xfrm>
          <a:prstGeom prst="line">
            <a:avLst/>
          </a:prstGeom>
          <a:noFill/>
          <a:ln w="22860">
            <a:solidFill>
              <a:srgbClr val="008774"/>
            </a:solidFill>
            <a:prstDash val="solid"/>
            <a:tailEnd type="triangle"/>
          </a:ln>
        </p:spPr>
      </p:sp>
      <p:sp>
        <p:nvSpPr>
          <p:cNvPr id="33" name="Shape 30"/>
          <p:cNvSpPr/>
          <p:nvPr/>
        </p:nvSpPr>
        <p:spPr>
          <a:xfrm>
            <a:off x="9525000" y="4480560"/>
            <a:ext cx="990600" cy="533400"/>
          </a:xfrm>
          <a:prstGeom prst="roundRect">
            <a:avLst>
              <a:gd name="adj" fmla="val 25714"/>
            </a:avLst>
          </a:prstGeom>
          <a:solidFill>
            <a:srgbClr val="E4F6F0"/>
          </a:solidFill>
          <a:ln w="12700">
            <a:solidFill>
              <a:srgbClr val="E4F6F0">
                <a:alpha val="0"/>
              </a:srgbClr>
            </a:solidFill>
            <a:prstDash val="solid"/>
          </a:ln>
        </p:spPr>
      </p:sp>
      <p:sp>
        <p:nvSpPr>
          <p:cNvPr id="34" name="Text 31"/>
          <p:cNvSpPr/>
          <p:nvPr/>
        </p:nvSpPr>
        <p:spPr>
          <a:xfrm>
            <a:off x="9601200" y="4594860"/>
            <a:ext cx="838200" cy="311810"/>
          </a:xfrm>
          <a:prstGeom prst="rect">
            <a:avLst/>
          </a:prstGeom>
          <a:noFill/>
          <a:ln/>
        </p:spPr>
        <p:txBody>
          <a:bodyPr wrap="square" lIns="0" tIns="0" rIns="0" bIns="0" rtlCol="0" anchor="ctr"/>
          <a:lstStyle/>
          <a:p>
            <a:pPr algn="ctr" indent="0" marL="0">
              <a:lnSpc>
                <a:spcPct val="100000"/>
              </a:lnSpc>
              <a:buNone/>
            </a:pPr>
            <a:r>
              <a:rPr lang="en-US" sz="1980" b="1" dirty="0">
                <a:solidFill>
                  <a:srgbClr val="008774"/>
                </a:solidFill>
                <a:latin typeface="Consolas" pitchFamily="34" charset="0"/>
                <a:ea typeface="Consolas" pitchFamily="34" charset="-122"/>
                <a:cs typeface="Consolas" pitchFamily="34" charset="-120"/>
              </a:rPr>
              <a:t>03</a:t>
            </a:r>
            <a:endParaRPr lang="en-US" sz="1980" dirty="0"/>
          </a:p>
        </p:txBody>
      </p:sp>
      <p:sp>
        <p:nvSpPr>
          <p:cNvPr id="35" name="Shape 32"/>
          <p:cNvSpPr/>
          <p:nvPr/>
        </p:nvSpPr>
        <p:spPr>
          <a:xfrm>
            <a:off x="487680" y="5120640"/>
            <a:ext cx="11216640" cy="1249680"/>
          </a:xfrm>
          <a:prstGeom prst="roundRect">
            <a:avLst>
              <a:gd name="adj" fmla="val 10976"/>
            </a:avLst>
          </a:prstGeom>
          <a:solidFill>
            <a:srgbClr val="F0F4FA"/>
          </a:solidFill>
          <a:ln w="12700">
            <a:solidFill>
              <a:srgbClr val="D7E1EE"/>
            </a:solidFill>
            <a:prstDash val="solid"/>
          </a:ln>
        </p:spPr>
      </p:sp>
      <p:sp>
        <p:nvSpPr>
          <p:cNvPr id="36" name="Shape 33"/>
          <p:cNvSpPr/>
          <p:nvPr/>
        </p:nvSpPr>
        <p:spPr>
          <a:xfrm>
            <a:off x="487680" y="5120640"/>
            <a:ext cx="11216640" cy="327660"/>
          </a:xfrm>
          <a:prstGeom prst="roundRect">
            <a:avLst>
              <a:gd name="adj" fmla="val 32558"/>
            </a:avLst>
          </a:prstGeom>
          <a:solidFill>
            <a:srgbClr val="EAF1FF"/>
          </a:solidFill>
          <a:ln w="12700">
            <a:solidFill>
              <a:srgbClr val="EAF1FF">
                <a:alpha val="0"/>
              </a:srgbClr>
            </a:solidFill>
            <a:prstDash val="solid"/>
          </a:ln>
        </p:spPr>
      </p:sp>
      <p:sp>
        <p:nvSpPr>
          <p:cNvPr id="37" name="Text 34"/>
          <p:cNvSpPr/>
          <p:nvPr/>
        </p:nvSpPr>
        <p:spPr>
          <a:xfrm>
            <a:off x="624840" y="518922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aes128.c · multiplicação por 02</a:t>
            </a:r>
            <a:endParaRPr lang="en-US" sz="1080" dirty="0"/>
          </a:p>
        </p:txBody>
      </p:sp>
      <p:sp>
        <p:nvSpPr>
          <p:cNvPr id="38" name="Text 35"/>
          <p:cNvSpPr/>
          <p:nvPr/>
        </p:nvSpPr>
        <p:spPr>
          <a:xfrm>
            <a:off x="655320" y="5600700"/>
            <a:ext cx="10881360" cy="207874"/>
          </a:xfrm>
          <a:prstGeom prst="rect">
            <a:avLst/>
          </a:prstGeom>
          <a:noFill/>
          <a:ln/>
        </p:spPr>
        <p:txBody>
          <a:bodyPr wrap="square" lIns="0" tIns="0" rIns="0" bIns="0" rtlCol="0" anchor="ctr"/>
          <a:lstStyle/>
          <a:p>
            <a:pPr algn="l" indent="0" marL="0">
              <a:lnSpc>
                <a:spcPct val="100000"/>
              </a:lnSpc>
              <a:buNone/>
            </a:pPr>
            <a:r>
              <a:rPr lang="en-US" sz="1320" dirty="0">
                <a:solidFill>
                  <a:srgbClr val="182B45"/>
                </a:solidFill>
                <a:latin typeface="Consolas" pitchFamily="34" charset="0"/>
                <a:ea typeface="Consolas" pitchFamily="34" charset="-122"/>
                <a:cs typeface="Consolas" pitchFamily="34" charset="-120"/>
              </a:rPr>
              <a:t>uint8_t aes_xtime(uint8_t a) {</a:t>
            </a:r>
            <a:endParaRPr lang="en-US" sz="1320" dirty="0"/>
          </a:p>
        </p:txBody>
      </p:sp>
      <p:sp>
        <p:nvSpPr>
          <p:cNvPr id="39" name="Text 36"/>
          <p:cNvSpPr/>
          <p:nvPr/>
        </p:nvSpPr>
        <p:spPr>
          <a:xfrm>
            <a:off x="655320" y="5808574"/>
            <a:ext cx="10881360" cy="207874"/>
          </a:xfrm>
          <a:prstGeom prst="rect">
            <a:avLst/>
          </a:prstGeom>
          <a:noFill/>
          <a:ln/>
        </p:spPr>
        <p:txBody>
          <a:bodyPr wrap="square" lIns="0" tIns="0" rIns="0" bIns="0" rtlCol="0" anchor="ctr"/>
          <a:lstStyle/>
          <a:p>
            <a:pPr algn="l" indent="0" marL="0">
              <a:lnSpc>
                <a:spcPct val="100000"/>
              </a:lnSpc>
              <a:buNone/>
            </a:pPr>
            <a:r>
              <a:rPr lang="en-US" sz="1320" dirty="0">
                <a:solidFill>
                  <a:srgbClr val="182B45"/>
                </a:solidFill>
                <a:latin typeface="Consolas" pitchFamily="34" charset="0"/>
                <a:ea typeface="Consolas" pitchFamily="34" charset="-122"/>
                <a:cs typeface="Consolas" pitchFamily="34" charset="-120"/>
              </a:rPr>
              <a:t>  return (uint8_t)((a &lt;&lt; 1) ^ ((a &amp; 0x80) ? 0x1b : 0x00));</a:t>
            </a:r>
            <a:endParaRPr lang="en-US" sz="1320" dirty="0"/>
          </a:p>
        </p:txBody>
      </p:sp>
      <p:sp>
        <p:nvSpPr>
          <p:cNvPr id="40" name="Text 37"/>
          <p:cNvSpPr/>
          <p:nvPr/>
        </p:nvSpPr>
        <p:spPr>
          <a:xfrm>
            <a:off x="655320" y="6016447"/>
            <a:ext cx="10881360" cy="207874"/>
          </a:xfrm>
          <a:prstGeom prst="rect">
            <a:avLst/>
          </a:prstGeom>
          <a:noFill/>
          <a:ln/>
        </p:spPr>
        <p:txBody>
          <a:bodyPr wrap="square" lIns="0" tIns="0" rIns="0" bIns="0" rtlCol="0" anchor="ctr"/>
          <a:lstStyle/>
          <a:p>
            <a:pPr algn="l" indent="0" marL="0">
              <a:lnSpc>
                <a:spcPct val="100000"/>
              </a:lnSpc>
              <a:buNone/>
            </a:pPr>
            <a:r>
              <a:rPr lang="en-US" sz="1320" dirty="0">
                <a:solidFill>
                  <a:srgbClr val="182B45"/>
                </a:solidFill>
                <a:latin typeface="Consolas" pitchFamily="34" charset="0"/>
                <a:ea typeface="Consolas" pitchFamily="34" charset="-122"/>
                <a:cs typeface="Consolas" pitchFamily="34" charset="-120"/>
              </a:rPr>
              <a:t>}</a:t>
            </a:r>
            <a:endParaRPr lang="en-US" sz="1320" dirty="0"/>
          </a:p>
        </p:txBody>
      </p:sp>
      <p:sp>
        <p:nvSpPr>
          <p:cNvPr id="41" name="Shape 38"/>
          <p:cNvSpPr/>
          <p:nvPr/>
        </p:nvSpPr>
        <p:spPr>
          <a:xfrm>
            <a:off x="487680" y="6461760"/>
            <a:ext cx="11216640" cy="0"/>
          </a:xfrm>
          <a:prstGeom prst="line">
            <a:avLst/>
          </a:prstGeom>
          <a:noFill/>
          <a:ln w="7620">
            <a:solidFill>
              <a:srgbClr val="D7E1EE"/>
            </a:solidFill>
            <a:prstDash val="solid"/>
          </a:ln>
        </p:spPr>
      </p:sp>
      <p:sp>
        <p:nvSpPr>
          <p:cNvPr id="42" name="Text 39"/>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43" name="Text 40"/>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11 / 27</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TRANSFORMAÇÃO 4</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AddRoundKey: a chave entra na transformação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Usamos XOR: bits iguais dão 0; bits diferentes dão 1.</a:t>
            </a:r>
            <a:endParaRPr lang="en-US" sz="1620" dirty="0"/>
          </a:p>
        </p:txBody>
      </p:sp>
      <p:sp>
        <p:nvSpPr>
          <p:cNvPr id="8" name="Text 5"/>
          <p:cNvSpPr/>
          <p:nvPr/>
        </p:nvSpPr>
        <p:spPr>
          <a:xfrm>
            <a:off x="838200" y="2583180"/>
            <a:ext cx="1981200" cy="718109"/>
          </a:xfrm>
          <a:prstGeom prst="rect">
            <a:avLst/>
          </a:prstGeom>
          <a:noFill/>
          <a:ln/>
        </p:spPr>
        <p:txBody>
          <a:bodyPr wrap="square" lIns="0" tIns="0" rIns="0" bIns="0" rtlCol="0" anchor="ctr"/>
          <a:lstStyle/>
          <a:p>
            <a:pPr algn="ctr" indent="0" marL="0">
              <a:lnSpc>
                <a:spcPct val="100000"/>
              </a:lnSpc>
              <a:buNone/>
            </a:pPr>
            <a:r>
              <a:rPr lang="en-US" sz="4560" b="1" dirty="0">
                <a:solidFill>
                  <a:srgbClr val="2165D6"/>
                </a:solidFill>
                <a:latin typeface="Consolas" pitchFamily="34" charset="0"/>
                <a:ea typeface="Consolas" pitchFamily="34" charset="-122"/>
                <a:cs typeface="Consolas" pitchFamily="34" charset="-120"/>
              </a:rPr>
              <a:t>41</a:t>
            </a:r>
            <a:endParaRPr lang="en-US" sz="4560" dirty="0"/>
          </a:p>
        </p:txBody>
      </p:sp>
      <p:sp>
        <p:nvSpPr>
          <p:cNvPr id="9" name="Text 6"/>
          <p:cNvSpPr/>
          <p:nvPr/>
        </p:nvSpPr>
        <p:spPr>
          <a:xfrm>
            <a:off x="3192780" y="2697480"/>
            <a:ext cx="1905000" cy="453542"/>
          </a:xfrm>
          <a:prstGeom prst="rect">
            <a:avLst/>
          </a:prstGeom>
          <a:noFill/>
          <a:ln/>
        </p:spPr>
        <p:txBody>
          <a:bodyPr wrap="square" lIns="0" tIns="0" rIns="0" bIns="0" rtlCol="0" anchor="ctr"/>
          <a:lstStyle/>
          <a:p>
            <a:pPr algn="ctr" indent="0" marL="0">
              <a:lnSpc>
                <a:spcPct val="100000"/>
              </a:lnSpc>
              <a:buNone/>
            </a:pPr>
            <a:r>
              <a:rPr lang="en-US" sz="2880" b="1" dirty="0">
                <a:solidFill>
                  <a:srgbClr val="52657B"/>
                </a:solidFill>
                <a:latin typeface="Arial" pitchFamily="34" charset="0"/>
                <a:ea typeface="Arial" pitchFamily="34" charset="-122"/>
                <a:cs typeface="Arial" pitchFamily="34" charset="-120"/>
              </a:rPr>
              <a:t>XOR</a:t>
            </a:r>
            <a:endParaRPr lang="en-US" sz="2880" dirty="0"/>
          </a:p>
        </p:txBody>
      </p:sp>
      <p:sp>
        <p:nvSpPr>
          <p:cNvPr id="10" name="Text 7"/>
          <p:cNvSpPr/>
          <p:nvPr/>
        </p:nvSpPr>
        <p:spPr>
          <a:xfrm>
            <a:off x="5692140" y="2583180"/>
            <a:ext cx="1981200" cy="718109"/>
          </a:xfrm>
          <a:prstGeom prst="rect">
            <a:avLst/>
          </a:prstGeom>
          <a:noFill/>
          <a:ln/>
        </p:spPr>
        <p:txBody>
          <a:bodyPr wrap="square" lIns="0" tIns="0" rIns="0" bIns="0" rtlCol="0" anchor="ctr"/>
          <a:lstStyle/>
          <a:p>
            <a:pPr algn="ctr" indent="0" marL="0">
              <a:lnSpc>
                <a:spcPct val="100000"/>
              </a:lnSpc>
              <a:buNone/>
            </a:pPr>
            <a:r>
              <a:rPr lang="en-US" sz="4560" b="1" dirty="0">
                <a:solidFill>
                  <a:srgbClr val="008774"/>
                </a:solidFill>
                <a:latin typeface="Consolas" pitchFamily="34" charset="0"/>
                <a:ea typeface="Consolas" pitchFamily="34" charset="-122"/>
                <a:cs typeface="Consolas" pitchFamily="34" charset="-120"/>
              </a:rPr>
              <a:t>37</a:t>
            </a:r>
            <a:endParaRPr lang="en-US" sz="4560" dirty="0"/>
          </a:p>
        </p:txBody>
      </p:sp>
      <p:sp>
        <p:nvSpPr>
          <p:cNvPr id="11" name="Text 8"/>
          <p:cNvSpPr/>
          <p:nvPr/>
        </p:nvSpPr>
        <p:spPr>
          <a:xfrm>
            <a:off x="8031480" y="2697480"/>
            <a:ext cx="762000" cy="519684"/>
          </a:xfrm>
          <a:prstGeom prst="rect">
            <a:avLst/>
          </a:prstGeom>
          <a:noFill/>
          <a:ln/>
        </p:spPr>
        <p:txBody>
          <a:bodyPr wrap="square" lIns="0" tIns="0" rIns="0" bIns="0" rtlCol="0" anchor="ctr"/>
          <a:lstStyle/>
          <a:p>
            <a:pPr algn="l" indent="0" marL="0">
              <a:lnSpc>
                <a:spcPct val="100000"/>
              </a:lnSpc>
              <a:buNone/>
            </a:pPr>
            <a:r>
              <a:rPr lang="en-US" sz="3300" b="1" dirty="0">
                <a:solidFill>
                  <a:srgbClr val="52657B"/>
                </a:solidFill>
                <a:latin typeface="Arial" pitchFamily="34" charset="0"/>
                <a:ea typeface="Arial" pitchFamily="34" charset="-122"/>
                <a:cs typeface="Arial" pitchFamily="34" charset="-120"/>
              </a:rPr>
              <a:t>=</a:t>
            </a:r>
            <a:endParaRPr lang="en-US" sz="3300" dirty="0"/>
          </a:p>
        </p:txBody>
      </p:sp>
      <p:sp>
        <p:nvSpPr>
          <p:cNvPr id="12" name="Text 9"/>
          <p:cNvSpPr/>
          <p:nvPr/>
        </p:nvSpPr>
        <p:spPr>
          <a:xfrm>
            <a:off x="9273540" y="2583180"/>
            <a:ext cx="1981200" cy="718109"/>
          </a:xfrm>
          <a:prstGeom prst="rect">
            <a:avLst/>
          </a:prstGeom>
          <a:noFill/>
          <a:ln/>
        </p:spPr>
        <p:txBody>
          <a:bodyPr wrap="square" lIns="0" tIns="0" rIns="0" bIns="0" rtlCol="0" anchor="ctr"/>
          <a:lstStyle/>
          <a:p>
            <a:pPr algn="ctr" indent="0" marL="0">
              <a:lnSpc>
                <a:spcPct val="100000"/>
              </a:lnSpc>
              <a:buNone/>
            </a:pPr>
            <a:r>
              <a:rPr lang="en-US" sz="4560" b="1" dirty="0">
                <a:solidFill>
                  <a:srgbClr val="2165D6"/>
                </a:solidFill>
                <a:latin typeface="Consolas" pitchFamily="34" charset="0"/>
                <a:ea typeface="Consolas" pitchFamily="34" charset="-122"/>
                <a:cs typeface="Consolas" pitchFamily="34" charset="-120"/>
              </a:rPr>
              <a:t>76</a:t>
            </a:r>
            <a:endParaRPr lang="en-US" sz="4560" dirty="0"/>
          </a:p>
        </p:txBody>
      </p:sp>
      <p:sp>
        <p:nvSpPr>
          <p:cNvPr id="13" name="Text 10"/>
          <p:cNvSpPr/>
          <p:nvPr/>
        </p:nvSpPr>
        <p:spPr>
          <a:xfrm>
            <a:off x="632460" y="3474720"/>
            <a:ext cx="2514600" cy="245669"/>
          </a:xfrm>
          <a:prstGeom prst="rect">
            <a:avLst/>
          </a:prstGeom>
          <a:noFill/>
          <a:ln/>
        </p:spPr>
        <p:txBody>
          <a:bodyPr wrap="square" lIns="0" tIns="0" rIns="0" bIns="0" rtlCol="0" anchor="ctr"/>
          <a:lstStyle/>
          <a:p>
            <a:pPr algn="l" indent="0" marL="0">
              <a:lnSpc>
                <a:spcPct val="100000"/>
              </a:lnSpc>
              <a:buNone/>
            </a:pPr>
            <a:r>
              <a:rPr lang="en-US" sz="1560" dirty="0">
                <a:solidFill>
                  <a:srgbClr val="52657B"/>
                </a:solidFill>
                <a:latin typeface="Arial" pitchFamily="34" charset="0"/>
                <a:ea typeface="Arial" pitchFamily="34" charset="-122"/>
                <a:cs typeface="Arial" pitchFamily="34" charset="-120"/>
              </a:rPr>
              <a:t>byte da mensagem</a:t>
            </a:r>
            <a:endParaRPr lang="en-US" sz="1560" dirty="0"/>
          </a:p>
        </p:txBody>
      </p:sp>
      <p:sp>
        <p:nvSpPr>
          <p:cNvPr id="14" name="Text 11"/>
          <p:cNvSpPr/>
          <p:nvPr/>
        </p:nvSpPr>
        <p:spPr>
          <a:xfrm>
            <a:off x="5486400" y="3474720"/>
            <a:ext cx="2743200" cy="245669"/>
          </a:xfrm>
          <a:prstGeom prst="rect">
            <a:avLst/>
          </a:prstGeom>
          <a:noFill/>
          <a:ln/>
        </p:spPr>
        <p:txBody>
          <a:bodyPr wrap="square" lIns="0" tIns="0" rIns="0" bIns="0" rtlCol="0" anchor="ctr"/>
          <a:lstStyle/>
          <a:p>
            <a:pPr algn="l" indent="0" marL="0">
              <a:lnSpc>
                <a:spcPct val="100000"/>
              </a:lnSpc>
              <a:buNone/>
            </a:pPr>
            <a:r>
              <a:rPr lang="en-US" sz="1560" dirty="0">
                <a:solidFill>
                  <a:srgbClr val="52657B"/>
                </a:solidFill>
                <a:latin typeface="Arial" pitchFamily="34" charset="0"/>
                <a:ea typeface="Arial" pitchFamily="34" charset="-122"/>
                <a:cs typeface="Arial" pitchFamily="34" charset="-120"/>
              </a:rPr>
              <a:t>byte da chave</a:t>
            </a:r>
            <a:endParaRPr lang="en-US" sz="1560" dirty="0"/>
          </a:p>
        </p:txBody>
      </p:sp>
      <p:sp>
        <p:nvSpPr>
          <p:cNvPr id="15" name="Text 12"/>
          <p:cNvSpPr/>
          <p:nvPr/>
        </p:nvSpPr>
        <p:spPr>
          <a:xfrm>
            <a:off x="9144000" y="3474720"/>
            <a:ext cx="2362200" cy="245669"/>
          </a:xfrm>
          <a:prstGeom prst="rect">
            <a:avLst/>
          </a:prstGeom>
          <a:noFill/>
          <a:ln/>
        </p:spPr>
        <p:txBody>
          <a:bodyPr wrap="square" lIns="0" tIns="0" rIns="0" bIns="0" rtlCol="0" anchor="ctr"/>
          <a:lstStyle/>
          <a:p>
            <a:pPr algn="l" indent="0" marL="0">
              <a:lnSpc>
                <a:spcPct val="100000"/>
              </a:lnSpc>
              <a:buNone/>
            </a:pPr>
            <a:r>
              <a:rPr lang="en-US" sz="1560" dirty="0">
                <a:solidFill>
                  <a:srgbClr val="52657B"/>
                </a:solidFill>
                <a:latin typeface="Arial" pitchFamily="34" charset="0"/>
                <a:ea typeface="Arial" pitchFamily="34" charset="-122"/>
                <a:cs typeface="Arial" pitchFamily="34" charset="-120"/>
              </a:rPr>
              <a:t>novo byte</a:t>
            </a:r>
            <a:endParaRPr lang="en-US" sz="1560" dirty="0"/>
          </a:p>
        </p:txBody>
      </p:sp>
      <p:sp>
        <p:nvSpPr>
          <p:cNvPr id="16" name="Shape 13"/>
          <p:cNvSpPr/>
          <p:nvPr/>
        </p:nvSpPr>
        <p:spPr>
          <a:xfrm>
            <a:off x="487680" y="4351020"/>
            <a:ext cx="11216640" cy="1402080"/>
          </a:xfrm>
          <a:prstGeom prst="roundRect">
            <a:avLst>
              <a:gd name="adj" fmla="val 9783"/>
            </a:avLst>
          </a:prstGeom>
          <a:solidFill>
            <a:srgbClr val="F0F4FA"/>
          </a:solidFill>
          <a:ln w="12700">
            <a:solidFill>
              <a:srgbClr val="D7E1EE"/>
            </a:solidFill>
            <a:prstDash val="solid"/>
          </a:ln>
        </p:spPr>
      </p:sp>
      <p:sp>
        <p:nvSpPr>
          <p:cNvPr id="17" name="Shape 14"/>
          <p:cNvSpPr/>
          <p:nvPr/>
        </p:nvSpPr>
        <p:spPr>
          <a:xfrm>
            <a:off x="487680" y="4351020"/>
            <a:ext cx="11216640" cy="327660"/>
          </a:xfrm>
          <a:prstGeom prst="roundRect">
            <a:avLst>
              <a:gd name="adj" fmla="val 32558"/>
            </a:avLst>
          </a:prstGeom>
          <a:solidFill>
            <a:srgbClr val="EAF1FF"/>
          </a:solidFill>
          <a:ln w="12700">
            <a:solidFill>
              <a:srgbClr val="EAF1FF">
                <a:alpha val="0"/>
              </a:srgbClr>
            </a:solidFill>
            <a:prstDash val="solid"/>
          </a:ln>
        </p:spPr>
      </p:sp>
      <p:sp>
        <p:nvSpPr>
          <p:cNvPr id="18" name="Text 15"/>
          <p:cNvSpPr/>
          <p:nvPr/>
        </p:nvSpPr>
        <p:spPr>
          <a:xfrm>
            <a:off x="624840" y="441960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aes128.c · código real</a:t>
            </a:r>
            <a:endParaRPr lang="en-US" sz="1080" dirty="0"/>
          </a:p>
        </p:txBody>
      </p:sp>
      <p:sp>
        <p:nvSpPr>
          <p:cNvPr id="19" name="Text 16"/>
          <p:cNvSpPr/>
          <p:nvPr/>
        </p:nvSpPr>
        <p:spPr>
          <a:xfrm>
            <a:off x="655320" y="4831080"/>
            <a:ext cx="10881360" cy="245669"/>
          </a:xfrm>
          <a:prstGeom prst="rect">
            <a:avLst/>
          </a:prstGeom>
          <a:noFill/>
          <a:ln/>
        </p:spPr>
        <p:txBody>
          <a:bodyPr wrap="square" lIns="0" tIns="0" rIns="0" bIns="0" rtlCol="0" anchor="ctr"/>
          <a:lstStyle/>
          <a:p>
            <a:pPr algn="l" indent="0" marL="0">
              <a:lnSpc>
                <a:spcPct val="100000"/>
              </a:lnSpc>
              <a:buNone/>
            </a:pPr>
            <a:r>
              <a:rPr lang="en-US" sz="1560" dirty="0">
                <a:solidFill>
                  <a:srgbClr val="182B45"/>
                </a:solidFill>
                <a:latin typeface="Consolas" pitchFamily="34" charset="0"/>
                <a:ea typeface="Consolas" pitchFamily="34" charset="-122"/>
                <a:cs typeface="Consolas" pitchFamily="34" charset="-120"/>
              </a:rPr>
              <a:t>void aes_add_round_key(uint8_t s[16], const uint8_t chave_rodada[16]) {</a:t>
            </a:r>
            <a:endParaRPr lang="en-US" sz="1560" dirty="0"/>
          </a:p>
        </p:txBody>
      </p:sp>
      <p:sp>
        <p:nvSpPr>
          <p:cNvPr id="20" name="Text 17"/>
          <p:cNvSpPr/>
          <p:nvPr/>
        </p:nvSpPr>
        <p:spPr>
          <a:xfrm>
            <a:off x="655320" y="5076749"/>
            <a:ext cx="10881360" cy="245669"/>
          </a:xfrm>
          <a:prstGeom prst="rect">
            <a:avLst/>
          </a:prstGeom>
          <a:noFill/>
          <a:ln/>
        </p:spPr>
        <p:txBody>
          <a:bodyPr wrap="square" lIns="0" tIns="0" rIns="0" bIns="0" rtlCol="0" anchor="ctr"/>
          <a:lstStyle/>
          <a:p>
            <a:pPr algn="l" indent="0" marL="0">
              <a:lnSpc>
                <a:spcPct val="100000"/>
              </a:lnSpc>
              <a:buNone/>
            </a:pPr>
            <a:r>
              <a:rPr lang="en-US" sz="1560" dirty="0">
                <a:solidFill>
                  <a:srgbClr val="182B45"/>
                </a:solidFill>
                <a:latin typeface="Consolas" pitchFamily="34" charset="0"/>
                <a:ea typeface="Consolas" pitchFamily="34" charset="-122"/>
                <a:cs typeface="Consolas" pitchFamily="34" charset="-120"/>
              </a:rPr>
              <a:t>  for (int i = 0; i &lt; 16; ++i) s[i] ^= chave_rodada[i];</a:t>
            </a:r>
            <a:endParaRPr lang="en-US" sz="1560" dirty="0"/>
          </a:p>
        </p:txBody>
      </p:sp>
      <p:sp>
        <p:nvSpPr>
          <p:cNvPr id="21" name="Text 18"/>
          <p:cNvSpPr/>
          <p:nvPr/>
        </p:nvSpPr>
        <p:spPr>
          <a:xfrm>
            <a:off x="655320" y="5322418"/>
            <a:ext cx="10881360" cy="245669"/>
          </a:xfrm>
          <a:prstGeom prst="rect">
            <a:avLst/>
          </a:prstGeom>
          <a:noFill/>
          <a:ln/>
        </p:spPr>
        <p:txBody>
          <a:bodyPr wrap="square" lIns="0" tIns="0" rIns="0" bIns="0" rtlCol="0" anchor="ctr"/>
          <a:lstStyle/>
          <a:p>
            <a:pPr algn="l" indent="0" marL="0">
              <a:lnSpc>
                <a:spcPct val="100000"/>
              </a:lnSpc>
              <a:buNone/>
            </a:pPr>
            <a:r>
              <a:rPr lang="en-US" sz="1560" dirty="0">
                <a:solidFill>
                  <a:srgbClr val="182B45"/>
                </a:solidFill>
                <a:latin typeface="Consolas" pitchFamily="34" charset="0"/>
                <a:ea typeface="Consolas" pitchFamily="34" charset="-122"/>
                <a:cs typeface="Consolas" pitchFamily="34" charset="-120"/>
              </a:rPr>
              <a:t>}</a:t>
            </a:r>
            <a:endParaRPr lang="en-US" sz="1560" dirty="0"/>
          </a:p>
        </p:txBody>
      </p:sp>
      <p:sp>
        <p:nvSpPr>
          <p:cNvPr id="22" name="Shape 19"/>
          <p:cNvSpPr/>
          <p:nvPr/>
        </p:nvSpPr>
        <p:spPr>
          <a:xfrm>
            <a:off x="487680" y="6461760"/>
            <a:ext cx="11216640" cy="0"/>
          </a:xfrm>
          <a:prstGeom prst="line">
            <a:avLst/>
          </a:prstGeom>
          <a:noFill/>
          <a:ln w="7620">
            <a:solidFill>
              <a:srgbClr val="D7E1EE"/>
            </a:solidFill>
            <a:prstDash val="solid"/>
          </a:ln>
        </p:spPr>
      </p:sp>
      <p:sp>
        <p:nvSpPr>
          <p:cNvPr id="23" name="Text 20"/>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4" name="Text 21"/>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12 / 27</a:t>
            </a:r>
            <a:endParaRPr lang="en-US"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EXPANSÃO DE CHAVE</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Uma chave inicial gera as chaves das rodadas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AES-128 usa 11 chaves de 16 bytes: a inicial e uma para cada rodada.</a:t>
            </a:r>
            <a:endParaRPr lang="en-US" sz="1620" dirty="0"/>
          </a:p>
        </p:txBody>
      </p:sp>
      <p:sp>
        <p:nvSpPr>
          <p:cNvPr id="8" name="Shape 5"/>
          <p:cNvSpPr/>
          <p:nvPr/>
        </p:nvSpPr>
        <p:spPr>
          <a:xfrm>
            <a:off x="487680" y="2514600"/>
            <a:ext cx="2590800" cy="1120140"/>
          </a:xfrm>
          <a:prstGeom prst="roundRect">
            <a:avLst>
              <a:gd name="adj" fmla="val 12245"/>
            </a:avLst>
          </a:prstGeom>
          <a:solidFill>
            <a:srgbClr val="EAF1FF"/>
          </a:solidFill>
          <a:ln w="12700">
            <a:solidFill>
              <a:srgbClr val="EAF1FF">
                <a:alpha val="0"/>
              </a:srgbClr>
            </a:solidFill>
            <a:prstDash val="solid"/>
          </a:ln>
        </p:spPr>
      </p:sp>
      <p:sp>
        <p:nvSpPr>
          <p:cNvPr id="9" name="Text 6"/>
          <p:cNvSpPr/>
          <p:nvPr/>
        </p:nvSpPr>
        <p:spPr>
          <a:xfrm>
            <a:off x="640080" y="2720340"/>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2165D6"/>
                </a:solidFill>
                <a:latin typeface="Arial" pitchFamily="34" charset="0"/>
                <a:ea typeface="Arial" pitchFamily="34" charset="-122"/>
                <a:cs typeface="Arial" pitchFamily="34" charset="-120"/>
              </a:rPr>
              <a:t>RotWord</a:t>
            </a:r>
            <a:endParaRPr lang="en-US" sz="1740" dirty="0"/>
          </a:p>
        </p:txBody>
      </p:sp>
      <p:sp>
        <p:nvSpPr>
          <p:cNvPr id="10" name="Text 7"/>
          <p:cNvSpPr/>
          <p:nvPr/>
        </p:nvSpPr>
        <p:spPr>
          <a:xfrm>
            <a:off x="640080" y="2994355"/>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2165D6"/>
                </a:solidFill>
                <a:latin typeface="Arial" pitchFamily="34" charset="0"/>
                <a:ea typeface="Arial" pitchFamily="34" charset="-122"/>
                <a:cs typeface="Arial" pitchFamily="34" charset="-120"/>
              </a:rPr>
              <a:t>Gira bytes</a:t>
            </a:r>
            <a:endParaRPr lang="en-US" sz="1740" dirty="0"/>
          </a:p>
        </p:txBody>
      </p:sp>
      <p:sp>
        <p:nvSpPr>
          <p:cNvPr id="11" name="Shape 8"/>
          <p:cNvSpPr/>
          <p:nvPr/>
        </p:nvSpPr>
        <p:spPr>
          <a:xfrm>
            <a:off x="3116580" y="3055620"/>
            <a:ext cx="190500" cy="0"/>
          </a:xfrm>
          <a:prstGeom prst="line">
            <a:avLst/>
          </a:prstGeom>
          <a:noFill/>
          <a:ln w="22860">
            <a:solidFill>
              <a:srgbClr val="2165D6"/>
            </a:solidFill>
            <a:prstDash val="solid"/>
            <a:tailEnd type="triangle"/>
          </a:ln>
        </p:spPr>
      </p:sp>
      <p:sp>
        <p:nvSpPr>
          <p:cNvPr id="12" name="Shape 9"/>
          <p:cNvSpPr/>
          <p:nvPr/>
        </p:nvSpPr>
        <p:spPr>
          <a:xfrm>
            <a:off x="3368040" y="2514600"/>
            <a:ext cx="2590800" cy="1120140"/>
          </a:xfrm>
          <a:prstGeom prst="roundRect">
            <a:avLst>
              <a:gd name="adj" fmla="val 12245"/>
            </a:avLst>
          </a:prstGeom>
          <a:solidFill>
            <a:srgbClr val="E4F6F0"/>
          </a:solidFill>
          <a:ln w="12700">
            <a:solidFill>
              <a:srgbClr val="E4F6F0">
                <a:alpha val="0"/>
              </a:srgbClr>
            </a:solidFill>
            <a:prstDash val="solid"/>
          </a:ln>
        </p:spPr>
      </p:sp>
      <p:sp>
        <p:nvSpPr>
          <p:cNvPr id="13" name="Text 10"/>
          <p:cNvSpPr/>
          <p:nvPr/>
        </p:nvSpPr>
        <p:spPr>
          <a:xfrm>
            <a:off x="3520440" y="2720340"/>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008774"/>
                </a:solidFill>
                <a:latin typeface="Arial" pitchFamily="34" charset="0"/>
                <a:ea typeface="Arial" pitchFamily="34" charset="-122"/>
                <a:cs typeface="Arial" pitchFamily="34" charset="-120"/>
              </a:rPr>
              <a:t>SubWord</a:t>
            </a:r>
            <a:endParaRPr lang="en-US" sz="1740" dirty="0"/>
          </a:p>
        </p:txBody>
      </p:sp>
      <p:sp>
        <p:nvSpPr>
          <p:cNvPr id="14" name="Text 11"/>
          <p:cNvSpPr/>
          <p:nvPr/>
        </p:nvSpPr>
        <p:spPr>
          <a:xfrm>
            <a:off x="3520440" y="2994355"/>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008774"/>
                </a:solidFill>
                <a:latin typeface="Arial" pitchFamily="34" charset="0"/>
                <a:ea typeface="Arial" pitchFamily="34" charset="-122"/>
                <a:cs typeface="Arial" pitchFamily="34" charset="-120"/>
              </a:rPr>
              <a:t>Aplica S-box</a:t>
            </a:r>
            <a:endParaRPr lang="en-US" sz="1740" dirty="0"/>
          </a:p>
        </p:txBody>
      </p:sp>
      <p:sp>
        <p:nvSpPr>
          <p:cNvPr id="15" name="Shape 12"/>
          <p:cNvSpPr/>
          <p:nvPr/>
        </p:nvSpPr>
        <p:spPr>
          <a:xfrm>
            <a:off x="5996940" y="3055620"/>
            <a:ext cx="190500" cy="0"/>
          </a:xfrm>
          <a:prstGeom prst="line">
            <a:avLst/>
          </a:prstGeom>
          <a:noFill/>
          <a:ln w="22860">
            <a:solidFill>
              <a:srgbClr val="2165D6"/>
            </a:solidFill>
            <a:prstDash val="solid"/>
            <a:tailEnd type="triangle"/>
          </a:ln>
        </p:spPr>
      </p:sp>
      <p:sp>
        <p:nvSpPr>
          <p:cNvPr id="16" name="Shape 13"/>
          <p:cNvSpPr/>
          <p:nvPr/>
        </p:nvSpPr>
        <p:spPr>
          <a:xfrm>
            <a:off x="6248400" y="2514600"/>
            <a:ext cx="2590800" cy="1120140"/>
          </a:xfrm>
          <a:prstGeom prst="roundRect">
            <a:avLst>
              <a:gd name="adj" fmla="val 12245"/>
            </a:avLst>
          </a:prstGeom>
          <a:solidFill>
            <a:srgbClr val="EAF1FF"/>
          </a:solidFill>
          <a:ln w="12700">
            <a:solidFill>
              <a:srgbClr val="EAF1FF">
                <a:alpha val="0"/>
              </a:srgbClr>
            </a:solidFill>
            <a:prstDash val="solid"/>
          </a:ln>
        </p:spPr>
      </p:sp>
      <p:sp>
        <p:nvSpPr>
          <p:cNvPr id="17" name="Text 14"/>
          <p:cNvSpPr/>
          <p:nvPr/>
        </p:nvSpPr>
        <p:spPr>
          <a:xfrm>
            <a:off x="6400800" y="2720340"/>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2165D6"/>
                </a:solidFill>
                <a:latin typeface="Arial" pitchFamily="34" charset="0"/>
                <a:ea typeface="Arial" pitchFamily="34" charset="-122"/>
                <a:cs typeface="Arial" pitchFamily="34" charset="-120"/>
              </a:rPr>
              <a:t>Rcon</a:t>
            </a:r>
            <a:endParaRPr lang="en-US" sz="1740" dirty="0"/>
          </a:p>
        </p:txBody>
      </p:sp>
      <p:sp>
        <p:nvSpPr>
          <p:cNvPr id="18" name="Text 15"/>
          <p:cNvSpPr/>
          <p:nvPr/>
        </p:nvSpPr>
        <p:spPr>
          <a:xfrm>
            <a:off x="6400800" y="2994355"/>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2165D6"/>
                </a:solidFill>
                <a:latin typeface="Arial" pitchFamily="34" charset="0"/>
                <a:ea typeface="Arial" pitchFamily="34" charset="-122"/>
                <a:cs typeface="Arial" pitchFamily="34" charset="-120"/>
              </a:rPr>
              <a:t>Inclui constante</a:t>
            </a:r>
            <a:endParaRPr lang="en-US" sz="1740" dirty="0"/>
          </a:p>
        </p:txBody>
      </p:sp>
      <p:sp>
        <p:nvSpPr>
          <p:cNvPr id="19" name="Shape 16"/>
          <p:cNvSpPr/>
          <p:nvPr/>
        </p:nvSpPr>
        <p:spPr>
          <a:xfrm>
            <a:off x="8877300" y="3055620"/>
            <a:ext cx="190500" cy="0"/>
          </a:xfrm>
          <a:prstGeom prst="line">
            <a:avLst/>
          </a:prstGeom>
          <a:noFill/>
          <a:ln w="22860">
            <a:solidFill>
              <a:srgbClr val="2165D6"/>
            </a:solidFill>
            <a:prstDash val="solid"/>
            <a:tailEnd type="triangle"/>
          </a:ln>
        </p:spPr>
      </p:sp>
      <p:sp>
        <p:nvSpPr>
          <p:cNvPr id="20" name="Shape 17"/>
          <p:cNvSpPr/>
          <p:nvPr/>
        </p:nvSpPr>
        <p:spPr>
          <a:xfrm>
            <a:off x="9128760" y="2514600"/>
            <a:ext cx="2590800" cy="1120140"/>
          </a:xfrm>
          <a:prstGeom prst="roundRect">
            <a:avLst>
              <a:gd name="adj" fmla="val 12245"/>
            </a:avLst>
          </a:prstGeom>
          <a:solidFill>
            <a:srgbClr val="E4F6F0"/>
          </a:solidFill>
          <a:ln w="12700">
            <a:solidFill>
              <a:srgbClr val="E4F6F0">
                <a:alpha val="0"/>
              </a:srgbClr>
            </a:solidFill>
            <a:prstDash val="solid"/>
          </a:ln>
        </p:spPr>
      </p:sp>
      <p:sp>
        <p:nvSpPr>
          <p:cNvPr id="21" name="Text 18"/>
          <p:cNvSpPr/>
          <p:nvPr/>
        </p:nvSpPr>
        <p:spPr>
          <a:xfrm>
            <a:off x="9281160" y="2720340"/>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008774"/>
                </a:solidFill>
                <a:latin typeface="Arial" pitchFamily="34" charset="0"/>
                <a:ea typeface="Arial" pitchFamily="34" charset="-122"/>
                <a:cs typeface="Arial" pitchFamily="34" charset="-120"/>
              </a:rPr>
              <a:t>XOR</a:t>
            </a:r>
            <a:endParaRPr lang="en-US" sz="1740" dirty="0"/>
          </a:p>
        </p:txBody>
      </p:sp>
      <p:sp>
        <p:nvSpPr>
          <p:cNvPr id="22" name="Text 19"/>
          <p:cNvSpPr/>
          <p:nvPr/>
        </p:nvSpPr>
        <p:spPr>
          <a:xfrm>
            <a:off x="9281160" y="2994355"/>
            <a:ext cx="2286000" cy="274015"/>
          </a:xfrm>
          <a:prstGeom prst="rect">
            <a:avLst/>
          </a:prstGeom>
          <a:noFill/>
          <a:ln/>
        </p:spPr>
        <p:txBody>
          <a:bodyPr wrap="square" lIns="0" tIns="0" rIns="0" bIns="0" rtlCol="0" anchor="ctr"/>
          <a:lstStyle/>
          <a:p>
            <a:pPr algn="ctr" indent="0" marL="0">
              <a:lnSpc>
                <a:spcPct val="100000"/>
              </a:lnSpc>
              <a:buNone/>
            </a:pPr>
            <a:r>
              <a:rPr lang="en-US" sz="1740" b="1" dirty="0">
                <a:solidFill>
                  <a:srgbClr val="008774"/>
                </a:solidFill>
                <a:latin typeface="Arial" pitchFamily="34" charset="0"/>
                <a:ea typeface="Arial" pitchFamily="34" charset="-122"/>
                <a:cs typeface="Arial" pitchFamily="34" charset="-120"/>
              </a:rPr>
              <a:t>Deriva palavras</a:t>
            </a:r>
            <a:endParaRPr lang="en-US" sz="1740" dirty="0"/>
          </a:p>
        </p:txBody>
      </p:sp>
      <p:sp>
        <p:nvSpPr>
          <p:cNvPr id="23" name="Text 20"/>
          <p:cNvSpPr/>
          <p:nvPr/>
        </p:nvSpPr>
        <p:spPr>
          <a:xfrm>
            <a:off x="640080" y="4076700"/>
            <a:ext cx="10820400" cy="217322"/>
          </a:xfrm>
          <a:prstGeom prst="rect">
            <a:avLst/>
          </a:prstGeom>
          <a:noFill/>
          <a:ln/>
        </p:spPr>
        <p:txBody>
          <a:bodyPr wrap="square" lIns="0" tIns="0" rIns="0" bIns="0" rtlCol="0" anchor="ctr"/>
          <a:lstStyle/>
          <a:p>
            <a:pPr algn="l" indent="0" marL="0">
              <a:lnSpc>
                <a:spcPct val="100000"/>
              </a:lnSpc>
              <a:buNone/>
            </a:pPr>
            <a:r>
              <a:rPr lang="en-US" sz="1380" b="1" dirty="0">
                <a:solidFill>
                  <a:srgbClr val="52657B"/>
                </a:solidFill>
                <a:latin typeface="Arial" pitchFamily="34" charset="0"/>
                <a:ea typeface="Arial" pitchFamily="34" charset="-122"/>
                <a:cs typeface="Arial" pitchFamily="34" charset="-120"/>
              </a:rPr>
              <a:t>CHAVE DA RODADA 0</a:t>
            </a:r>
            <a:endParaRPr lang="en-US" sz="1380" dirty="0"/>
          </a:p>
        </p:txBody>
      </p:sp>
      <p:sp>
        <p:nvSpPr>
          <p:cNvPr id="24" name="Text 21"/>
          <p:cNvSpPr/>
          <p:nvPr/>
        </p:nvSpPr>
        <p:spPr>
          <a:xfrm>
            <a:off x="640080" y="4427220"/>
            <a:ext cx="10820400" cy="340157"/>
          </a:xfrm>
          <a:prstGeom prst="rect">
            <a:avLst/>
          </a:prstGeom>
          <a:noFill/>
          <a:ln/>
        </p:spPr>
        <p:txBody>
          <a:bodyPr wrap="square" lIns="0" tIns="0" rIns="0" bIns="0" rtlCol="0" anchor="ctr"/>
          <a:lstStyle/>
          <a:p>
            <a:pPr algn="l" indent="0" marL="0">
              <a:lnSpc>
                <a:spcPct val="100000"/>
              </a:lnSpc>
              <a:buNone/>
            </a:pPr>
            <a:r>
              <a:rPr lang="en-US" sz="2160" b="1" dirty="0">
                <a:solidFill>
                  <a:srgbClr val="182B45"/>
                </a:solidFill>
                <a:latin typeface="Consolas" pitchFamily="34" charset="0"/>
                <a:ea typeface="Consolas" pitchFamily="34" charset="-122"/>
                <a:cs typeface="Consolas" pitchFamily="34" charset="-120"/>
              </a:rPr>
              <a:t>37383434303031333237383434323531</a:t>
            </a:r>
            <a:endParaRPr lang="en-US" sz="2160" dirty="0"/>
          </a:p>
        </p:txBody>
      </p:sp>
      <p:sp>
        <p:nvSpPr>
          <p:cNvPr id="25" name="Text 22"/>
          <p:cNvSpPr/>
          <p:nvPr/>
        </p:nvSpPr>
        <p:spPr>
          <a:xfrm>
            <a:off x="640080" y="5059680"/>
            <a:ext cx="10820400" cy="217322"/>
          </a:xfrm>
          <a:prstGeom prst="rect">
            <a:avLst/>
          </a:prstGeom>
          <a:noFill/>
          <a:ln/>
        </p:spPr>
        <p:txBody>
          <a:bodyPr wrap="square" lIns="0" tIns="0" rIns="0" bIns="0" rtlCol="0" anchor="ctr"/>
          <a:lstStyle/>
          <a:p>
            <a:pPr algn="l" indent="0" marL="0">
              <a:lnSpc>
                <a:spcPct val="100000"/>
              </a:lnSpc>
              <a:buNone/>
            </a:pPr>
            <a:r>
              <a:rPr lang="en-US" sz="1380" b="1" dirty="0">
                <a:solidFill>
                  <a:srgbClr val="52657B"/>
                </a:solidFill>
                <a:latin typeface="Arial" pitchFamily="34" charset="0"/>
                <a:ea typeface="Arial" pitchFamily="34" charset="-122"/>
                <a:cs typeface="Arial" pitchFamily="34" charset="-120"/>
              </a:rPr>
              <a:t>CHAVE DA RODADA 1</a:t>
            </a:r>
            <a:endParaRPr lang="en-US" sz="1380" dirty="0"/>
          </a:p>
        </p:txBody>
      </p:sp>
      <p:sp>
        <p:nvSpPr>
          <p:cNvPr id="26" name="Text 23"/>
          <p:cNvSpPr/>
          <p:nvPr/>
        </p:nvSpPr>
        <p:spPr>
          <a:xfrm>
            <a:off x="640080" y="5417820"/>
            <a:ext cx="10820400" cy="340157"/>
          </a:xfrm>
          <a:prstGeom prst="rect">
            <a:avLst/>
          </a:prstGeom>
          <a:noFill/>
          <a:ln/>
        </p:spPr>
        <p:txBody>
          <a:bodyPr wrap="square" lIns="0" tIns="0" rIns="0" bIns="0" rtlCol="0" anchor="ctr"/>
          <a:lstStyle/>
          <a:p>
            <a:pPr algn="l" indent="0" marL="0">
              <a:lnSpc>
                <a:spcPct val="100000"/>
              </a:lnSpc>
              <a:buNone/>
            </a:pPr>
            <a:r>
              <a:rPr lang="en-US" sz="2160" b="1" dirty="0">
                <a:solidFill>
                  <a:srgbClr val="182B45"/>
                </a:solidFill>
                <a:latin typeface="Consolas" pitchFamily="34" charset="0"/>
                <a:ea typeface="Consolas" pitchFamily="34" charset="-122"/>
                <a:cs typeface="Consolas" pitchFamily="34" charset="-120"/>
              </a:rPr>
              <a:t>15aef32c259ec21f17a9fa2b239bcf1a</a:t>
            </a:r>
            <a:endParaRPr lang="en-US" sz="2160" dirty="0"/>
          </a:p>
        </p:txBody>
      </p:sp>
      <p:sp>
        <p:nvSpPr>
          <p:cNvPr id="27" name="Shape 24"/>
          <p:cNvSpPr/>
          <p:nvPr/>
        </p:nvSpPr>
        <p:spPr>
          <a:xfrm>
            <a:off x="487680" y="6461760"/>
            <a:ext cx="11216640" cy="0"/>
          </a:xfrm>
          <a:prstGeom prst="line">
            <a:avLst/>
          </a:prstGeom>
          <a:noFill/>
          <a:ln w="7620">
            <a:solidFill>
              <a:srgbClr val="D7E1EE"/>
            </a:solidFill>
            <a:prstDash val="solid"/>
          </a:ln>
        </p:spPr>
      </p:sp>
      <p:sp>
        <p:nvSpPr>
          <p:cNvPr id="28" name="Text 25"/>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9" name="Text 26"/>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13 / 27</a:t>
            </a:r>
            <a:endParaRPr lang="en-US" sz="10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CÓDIGO REAL</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O ciclo completo aparece neste trecho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 última rodada pula MixColumns, como exige o AES.</a:t>
            </a:r>
            <a:endParaRPr lang="en-US" sz="1620" dirty="0"/>
          </a:p>
        </p:txBody>
      </p:sp>
      <p:sp>
        <p:nvSpPr>
          <p:cNvPr id="8" name="Shape 5"/>
          <p:cNvSpPr/>
          <p:nvPr/>
        </p:nvSpPr>
        <p:spPr>
          <a:xfrm>
            <a:off x="487680" y="2453640"/>
            <a:ext cx="11216640" cy="3162300"/>
          </a:xfrm>
          <a:prstGeom prst="roundRect">
            <a:avLst>
              <a:gd name="adj" fmla="val 4337"/>
            </a:avLst>
          </a:prstGeom>
          <a:solidFill>
            <a:srgbClr val="F0F4FA"/>
          </a:solidFill>
          <a:ln w="12700">
            <a:solidFill>
              <a:srgbClr val="D7E1EE"/>
            </a:solidFill>
            <a:prstDash val="solid"/>
          </a:ln>
        </p:spPr>
      </p:sp>
      <p:sp>
        <p:nvSpPr>
          <p:cNvPr id="9" name="Shape 6"/>
          <p:cNvSpPr/>
          <p:nvPr/>
        </p:nvSpPr>
        <p:spPr>
          <a:xfrm>
            <a:off x="487680" y="2453640"/>
            <a:ext cx="11216640" cy="327660"/>
          </a:xfrm>
          <a:prstGeom prst="roundRect">
            <a:avLst>
              <a:gd name="adj" fmla="val 32558"/>
            </a:avLst>
          </a:prstGeom>
          <a:solidFill>
            <a:srgbClr val="EAF1FF"/>
          </a:solidFill>
          <a:ln w="12700">
            <a:solidFill>
              <a:srgbClr val="EAF1FF">
                <a:alpha val="0"/>
              </a:srgbClr>
            </a:solidFill>
            <a:prstDash val="solid"/>
          </a:ln>
        </p:spPr>
      </p:sp>
      <p:sp>
        <p:nvSpPr>
          <p:cNvPr id="10" name="Text 7"/>
          <p:cNvSpPr/>
          <p:nvPr/>
        </p:nvSpPr>
        <p:spPr>
          <a:xfrm>
            <a:off x="624840" y="252222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aes128.c · dentro de aes128_cifrar_bloco()</a:t>
            </a:r>
            <a:endParaRPr lang="en-US" sz="1080" dirty="0"/>
          </a:p>
        </p:txBody>
      </p:sp>
      <p:sp>
        <p:nvSpPr>
          <p:cNvPr id="11" name="Text 8"/>
          <p:cNvSpPr/>
          <p:nvPr/>
        </p:nvSpPr>
        <p:spPr>
          <a:xfrm>
            <a:off x="655320" y="2933700"/>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aes_add_round_key(s, ctx-&gt;chaves_rodada[0]);</a:t>
            </a:r>
            <a:endParaRPr lang="en-US" sz="1800" dirty="0"/>
          </a:p>
        </p:txBody>
      </p:sp>
      <p:sp>
        <p:nvSpPr>
          <p:cNvPr id="12" name="Text 9"/>
          <p:cNvSpPr/>
          <p:nvPr/>
        </p:nvSpPr>
        <p:spPr>
          <a:xfrm>
            <a:off x="655320" y="3217164"/>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for (int r = 1; r &lt;= AES128_RODADAS; ++r) {</a:t>
            </a:r>
            <a:endParaRPr lang="en-US" sz="1800" dirty="0"/>
          </a:p>
        </p:txBody>
      </p:sp>
      <p:sp>
        <p:nvSpPr>
          <p:cNvPr id="13" name="Text 10"/>
          <p:cNvSpPr/>
          <p:nvPr/>
        </p:nvSpPr>
        <p:spPr>
          <a:xfrm>
            <a:off x="655320" y="3500628"/>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aes_sub_bytes(s);</a:t>
            </a:r>
            <a:endParaRPr lang="en-US" sz="1800" dirty="0"/>
          </a:p>
        </p:txBody>
      </p:sp>
      <p:sp>
        <p:nvSpPr>
          <p:cNvPr id="14" name="Text 11"/>
          <p:cNvSpPr/>
          <p:nvPr/>
        </p:nvSpPr>
        <p:spPr>
          <a:xfrm>
            <a:off x="655320" y="3784092"/>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aes_shift_rows(s);</a:t>
            </a:r>
            <a:endParaRPr lang="en-US" sz="1800" dirty="0"/>
          </a:p>
        </p:txBody>
      </p:sp>
      <p:sp>
        <p:nvSpPr>
          <p:cNvPr id="15" name="Text 12"/>
          <p:cNvSpPr/>
          <p:nvPr/>
        </p:nvSpPr>
        <p:spPr>
          <a:xfrm>
            <a:off x="655320" y="4067556"/>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if (r != AES128_RODADAS) aes_mix_columns(s);</a:t>
            </a:r>
            <a:endParaRPr lang="en-US" sz="1800" dirty="0"/>
          </a:p>
        </p:txBody>
      </p:sp>
      <p:sp>
        <p:nvSpPr>
          <p:cNvPr id="16" name="Text 13"/>
          <p:cNvSpPr/>
          <p:nvPr/>
        </p:nvSpPr>
        <p:spPr>
          <a:xfrm>
            <a:off x="655320" y="4351020"/>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aes_add_round_key(s, ctx-&gt;chaves_rodada[r]);</a:t>
            </a:r>
            <a:endParaRPr lang="en-US" sz="1800" dirty="0"/>
          </a:p>
        </p:txBody>
      </p:sp>
      <p:sp>
        <p:nvSpPr>
          <p:cNvPr id="17" name="Text 14"/>
          <p:cNvSpPr/>
          <p:nvPr/>
        </p:nvSpPr>
        <p:spPr>
          <a:xfrm>
            <a:off x="655320" y="4634484"/>
            <a:ext cx="10881360" cy="283464"/>
          </a:xfrm>
          <a:prstGeom prst="rect">
            <a:avLst/>
          </a:prstGeom>
          <a:noFill/>
          <a:ln/>
        </p:spPr>
        <p:txBody>
          <a:bodyPr wrap="square" lIns="0" tIns="0" rIns="0" bIns="0" rtlCol="0" anchor="ctr"/>
          <a:lstStyle/>
          <a:p>
            <a:pPr algn="l" indent="0" marL="0">
              <a:lnSpc>
                <a:spcPct val="100000"/>
              </a:lnSpc>
              <a:buNone/>
            </a:pPr>
            <a:r>
              <a:rPr lang="en-US" sz="1800" dirty="0">
                <a:solidFill>
                  <a:srgbClr val="182B45"/>
                </a:solidFill>
                <a:latin typeface="Consolas" pitchFamily="34" charset="0"/>
                <a:ea typeface="Consolas" pitchFamily="34" charset="-122"/>
                <a:cs typeface="Consolas" pitchFamily="34" charset="-120"/>
              </a:rPr>
              <a:t>  }</a:t>
            </a:r>
            <a:endParaRPr lang="en-US" sz="1800" dirty="0"/>
          </a:p>
        </p:txBody>
      </p:sp>
      <p:sp>
        <p:nvSpPr>
          <p:cNvPr id="18" name="Text 15"/>
          <p:cNvSpPr/>
          <p:nvPr/>
        </p:nvSpPr>
        <p:spPr>
          <a:xfrm>
            <a:off x="640080" y="5875020"/>
            <a:ext cx="10858500" cy="264566"/>
          </a:xfrm>
          <a:prstGeom prst="rect">
            <a:avLst/>
          </a:prstGeom>
          <a:noFill/>
          <a:ln/>
        </p:spPr>
        <p:txBody>
          <a:bodyPr wrap="square" lIns="0" tIns="0" rIns="0" bIns="0" rtlCol="0" anchor="ctr"/>
          <a:lstStyle/>
          <a:p>
            <a:pPr algn="l" indent="0" marL="0">
              <a:lnSpc>
                <a:spcPct val="100000"/>
              </a:lnSpc>
              <a:buNone/>
            </a:pPr>
            <a:r>
              <a:rPr lang="en-US" sz="1680" dirty="0">
                <a:solidFill>
                  <a:srgbClr val="52657B"/>
                </a:solidFill>
                <a:latin typeface="Arial" pitchFamily="34" charset="0"/>
                <a:ea typeface="Arial" pitchFamily="34" charset="-122"/>
                <a:cs typeface="Arial" pitchFamily="34" charset="-120"/>
              </a:rPr>
              <a:t>Para voltar ao texto: etapas inversas e chaves usadas da rodada 10 até a 0.</a:t>
            </a:r>
            <a:endParaRPr lang="en-US" sz="1680" dirty="0"/>
          </a:p>
        </p:txBody>
      </p:sp>
      <p:sp>
        <p:nvSpPr>
          <p:cNvPr id="19" name="Shape 16"/>
          <p:cNvSpPr/>
          <p:nvPr/>
        </p:nvSpPr>
        <p:spPr>
          <a:xfrm>
            <a:off x="487680" y="6461760"/>
            <a:ext cx="11216640" cy="0"/>
          </a:xfrm>
          <a:prstGeom prst="line">
            <a:avLst/>
          </a:prstGeom>
          <a:noFill/>
          <a:ln w="7620">
            <a:solidFill>
              <a:srgbClr val="D7E1EE"/>
            </a:solidFill>
            <a:prstDash val="solid"/>
          </a:ln>
        </p:spPr>
      </p:sp>
      <p:sp>
        <p:nvSpPr>
          <p:cNvPr id="20" name="Text 17"/>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1" name="Text 18"/>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14 / 27</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PROTOCOLO UART</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Como B sabe onde a mensagem começa e termina?</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O quadro informa o início e a quantidade de blocos cifrados.</a:t>
            </a:r>
            <a:endParaRPr lang="en-US" sz="1620" dirty="0"/>
          </a:p>
        </p:txBody>
      </p:sp>
      <p:sp>
        <p:nvSpPr>
          <p:cNvPr id="8" name="Shape 5"/>
          <p:cNvSpPr/>
          <p:nvPr/>
        </p:nvSpPr>
        <p:spPr>
          <a:xfrm>
            <a:off x="487680" y="2689860"/>
            <a:ext cx="1432560" cy="1600200"/>
          </a:xfrm>
          <a:prstGeom prst="roundRect">
            <a:avLst>
              <a:gd name="adj" fmla="val 9574"/>
            </a:avLst>
          </a:prstGeom>
          <a:solidFill>
            <a:srgbClr val="E4F6F0"/>
          </a:solidFill>
          <a:ln w="12700">
            <a:solidFill>
              <a:srgbClr val="E4F6F0">
                <a:alpha val="0"/>
              </a:srgbClr>
            </a:solidFill>
            <a:prstDash val="solid"/>
          </a:ln>
        </p:spPr>
      </p:sp>
      <p:sp>
        <p:nvSpPr>
          <p:cNvPr id="9" name="Text 6"/>
          <p:cNvSpPr/>
          <p:nvPr/>
        </p:nvSpPr>
        <p:spPr>
          <a:xfrm>
            <a:off x="624840" y="2887980"/>
            <a:ext cx="1158240" cy="491338"/>
          </a:xfrm>
          <a:prstGeom prst="rect">
            <a:avLst/>
          </a:prstGeom>
          <a:noFill/>
          <a:ln/>
        </p:spPr>
        <p:txBody>
          <a:bodyPr wrap="square" lIns="0" tIns="0" rIns="0" bIns="0" rtlCol="0" anchor="ctr"/>
          <a:lstStyle/>
          <a:p>
            <a:pPr algn="ctr" indent="0" marL="0">
              <a:lnSpc>
                <a:spcPct val="100000"/>
              </a:lnSpc>
              <a:buNone/>
            </a:pPr>
            <a:r>
              <a:rPr lang="en-US" sz="3120" b="1" dirty="0">
                <a:solidFill>
                  <a:srgbClr val="008774"/>
                </a:solidFill>
                <a:latin typeface="Consolas" pitchFamily="34" charset="0"/>
                <a:ea typeface="Consolas" pitchFamily="34" charset="-122"/>
                <a:cs typeface="Consolas" pitchFamily="34" charset="-120"/>
              </a:rPr>
              <a:t>AA</a:t>
            </a:r>
            <a:endParaRPr lang="en-US" sz="3120" dirty="0"/>
          </a:p>
        </p:txBody>
      </p:sp>
      <p:sp>
        <p:nvSpPr>
          <p:cNvPr id="10" name="Text 7"/>
          <p:cNvSpPr/>
          <p:nvPr/>
        </p:nvSpPr>
        <p:spPr>
          <a:xfrm>
            <a:off x="624840" y="3573780"/>
            <a:ext cx="11582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início</a:t>
            </a:r>
            <a:endParaRPr lang="en-US" sz="1500" dirty="0"/>
          </a:p>
        </p:txBody>
      </p:sp>
      <p:sp>
        <p:nvSpPr>
          <p:cNvPr id="11" name="Text 8"/>
          <p:cNvSpPr/>
          <p:nvPr/>
        </p:nvSpPr>
        <p:spPr>
          <a:xfrm>
            <a:off x="624840" y="3810000"/>
            <a:ext cx="11582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1 byte</a:t>
            </a:r>
            <a:endParaRPr lang="en-US" sz="1500" dirty="0"/>
          </a:p>
        </p:txBody>
      </p:sp>
      <p:sp>
        <p:nvSpPr>
          <p:cNvPr id="12" name="Shape 9"/>
          <p:cNvSpPr/>
          <p:nvPr/>
        </p:nvSpPr>
        <p:spPr>
          <a:xfrm>
            <a:off x="2011680" y="2689860"/>
            <a:ext cx="1661160" cy="1600200"/>
          </a:xfrm>
          <a:prstGeom prst="roundRect">
            <a:avLst>
              <a:gd name="adj" fmla="val 8571"/>
            </a:avLst>
          </a:prstGeom>
          <a:solidFill>
            <a:srgbClr val="E4F6F0"/>
          </a:solidFill>
          <a:ln w="12700">
            <a:solidFill>
              <a:srgbClr val="E4F6F0">
                <a:alpha val="0"/>
              </a:srgbClr>
            </a:solidFill>
            <a:prstDash val="solid"/>
          </a:ln>
        </p:spPr>
      </p:sp>
      <p:sp>
        <p:nvSpPr>
          <p:cNvPr id="13" name="Text 10"/>
          <p:cNvSpPr/>
          <p:nvPr/>
        </p:nvSpPr>
        <p:spPr>
          <a:xfrm>
            <a:off x="2148840" y="2887980"/>
            <a:ext cx="1386840" cy="491338"/>
          </a:xfrm>
          <a:prstGeom prst="rect">
            <a:avLst/>
          </a:prstGeom>
          <a:noFill/>
          <a:ln/>
        </p:spPr>
        <p:txBody>
          <a:bodyPr wrap="square" lIns="0" tIns="0" rIns="0" bIns="0" rtlCol="0" anchor="ctr"/>
          <a:lstStyle/>
          <a:p>
            <a:pPr algn="ctr" indent="0" marL="0">
              <a:lnSpc>
                <a:spcPct val="100000"/>
              </a:lnSpc>
              <a:buNone/>
            </a:pPr>
            <a:r>
              <a:rPr lang="en-US" sz="3120" b="1" dirty="0">
                <a:solidFill>
                  <a:srgbClr val="008774"/>
                </a:solidFill>
                <a:latin typeface="Consolas" pitchFamily="34" charset="0"/>
                <a:ea typeface="Consolas" pitchFamily="34" charset="-122"/>
                <a:cs typeface="Consolas" pitchFamily="34" charset="-120"/>
              </a:rPr>
              <a:t>02</a:t>
            </a:r>
            <a:endParaRPr lang="en-US" sz="3120" dirty="0"/>
          </a:p>
        </p:txBody>
      </p:sp>
      <p:sp>
        <p:nvSpPr>
          <p:cNvPr id="14" name="Text 11"/>
          <p:cNvSpPr/>
          <p:nvPr/>
        </p:nvSpPr>
        <p:spPr>
          <a:xfrm>
            <a:off x="2148840" y="3573780"/>
            <a:ext cx="13868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2 blocos</a:t>
            </a:r>
            <a:endParaRPr lang="en-US" sz="1500" dirty="0"/>
          </a:p>
        </p:txBody>
      </p:sp>
      <p:sp>
        <p:nvSpPr>
          <p:cNvPr id="15" name="Text 12"/>
          <p:cNvSpPr/>
          <p:nvPr/>
        </p:nvSpPr>
        <p:spPr>
          <a:xfrm>
            <a:off x="2148840" y="3810000"/>
            <a:ext cx="13868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1 byte</a:t>
            </a:r>
            <a:endParaRPr lang="en-US" sz="1500" dirty="0"/>
          </a:p>
        </p:txBody>
      </p:sp>
      <p:sp>
        <p:nvSpPr>
          <p:cNvPr id="16" name="Shape 13"/>
          <p:cNvSpPr/>
          <p:nvPr/>
        </p:nvSpPr>
        <p:spPr>
          <a:xfrm>
            <a:off x="3764280" y="2689860"/>
            <a:ext cx="3413760" cy="1600200"/>
          </a:xfrm>
          <a:prstGeom prst="roundRect">
            <a:avLst>
              <a:gd name="adj" fmla="val 8571"/>
            </a:avLst>
          </a:prstGeom>
          <a:solidFill>
            <a:srgbClr val="EAF1FF"/>
          </a:solidFill>
          <a:ln w="12700">
            <a:solidFill>
              <a:srgbClr val="EAF1FF">
                <a:alpha val="0"/>
              </a:srgbClr>
            </a:solidFill>
            <a:prstDash val="solid"/>
          </a:ln>
        </p:spPr>
      </p:sp>
      <p:sp>
        <p:nvSpPr>
          <p:cNvPr id="17" name="Text 14"/>
          <p:cNvSpPr/>
          <p:nvPr/>
        </p:nvSpPr>
        <p:spPr>
          <a:xfrm>
            <a:off x="3901440" y="2887980"/>
            <a:ext cx="3139440" cy="292913"/>
          </a:xfrm>
          <a:prstGeom prst="rect">
            <a:avLst/>
          </a:prstGeom>
          <a:noFill/>
          <a:ln/>
        </p:spPr>
        <p:txBody>
          <a:bodyPr wrap="square" lIns="0" tIns="0" rIns="0" bIns="0" rtlCol="0" anchor="ctr"/>
          <a:lstStyle/>
          <a:p>
            <a:pPr algn="ctr" indent="0" marL="0">
              <a:lnSpc>
                <a:spcPct val="100000"/>
              </a:lnSpc>
              <a:buNone/>
            </a:pPr>
            <a:r>
              <a:rPr lang="en-US" sz="1860" b="1" dirty="0">
                <a:solidFill>
                  <a:srgbClr val="2165D6"/>
                </a:solidFill>
                <a:latin typeface="Arial" pitchFamily="34" charset="0"/>
                <a:ea typeface="Arial" pitchFamily="34" charset="-122"/>
                <a:cs typeface="Arial" pitchFamily="34" charset="-120"/>
              </a:rPr>
              <a:t>ciphertext 1</a:t>
            </a:r>
            <a:endParaRPr lang="en-US" sz="1860" dirty="0"/>
          </a:p>
        </p:txBody>
      </p:sp>
      <p:sp>
        <p:nvSpPr>
          <p:cNvPr id="18" name="Text 15"/>
          <p:cNvSpPr/>
          <p:nvPr/>
        </p:nvSpPr>
        <p:spPr>
          <a:xfrm>
            <a:off x="3901440" y="3573780"/>
            <a:ext cx="31394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dados cifrados</a:t>
            </a:r>
            <a:endParaRPr lang="en-US" sz="1500" dirty="0"/>
          </a:p>
        </p:txBody>
      </p:sp>
      <p:sp>
        <p:nvSpPr>
          <p:cNvPr id="19" name="Text 16"/>
          <p:cNvSpPr/>
          <p:nvPr/>
        </p:nvSpPr>
        <p:spPr>
          <a:xfrm>
            <a:off x="3901440" y="3810000"/>
            <a:ext cx="31394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16 bytes</a:t>
            </a:r>
            <a:endParaRPr lang="en-US" sz="1500" dirty="0"/>
          </a:p>
        </p:txBody>
      </p:sp>
      <p:sp>
        <p:nvSpPr>
          <p:cNvPr id="20" name="Shape 17"/>
          <p:cNvSpPr/>
          <p:nvPr/>
        </p:nvSpPr>
        <p:spPr>
          <a:xfrm>
            <a:off x="7269480" y="2689860"/>
            <a:ext cx="3413760" cy="1600200"/>
          </a:xfrm>
          <a:prstGeom prst="roundRect">
            <a:avLst>
              <a:gd name="adj" fmla="val 8571"/>
            </a:avLst>
          </a:prstGeom>
          <a:solidFill>
            <a:srgbClr val="EAF1FF"/>
          </a:solidFill>
          <a:ln w="12700">
            <a:solidFill>
              <a:srgbClr val="EAF1FF">
                <a:alpha val="0"/>
              </a:srgbClr>
            </a:solidFill>
            <a:prstDash val="solid"/>
          </a:ln>
        </p:spPr>
      </p:sp>
      <p:sp>
        <p:nvSpPr>
          <p:cNvPr id="21" name="Text 18"/>
          <p:cNvSpPr/>
          <p:nvPr/>
        </p:nvSpPr>
        <p:spPr>
          <a:xfrm>
            <a:off x="7406640" y="2887980"/>
            <a:ext cx="3139440" cy="292913"/>
          </a:xfrm>
          <a:prstGeom prst="rect">
            <a:avLst/>
          </a:prstGeom>
          <a:noFill/>
          <a:ln/>
        </p:spPr>
        <p:txBody>
          <a:bodyPr wrap="square" lIns="0" tIns="0" rIns="0" bIns="0" rtlCol="0" anchor="ctr"/>
          <a:lstStyle/>
          <a:p>
            <a:pPr algn="ctr" indent="0" marL="0">
              <a:lnSpc>
                <a:spcPct val="100000"/>
              </a:lnSpc>
              <a:buNone/>
            </a:pPr>
            <a:r>
              <a:rPr lang="en-US" sz="1860" b="1" dirty="0">
                <a:solidFill>
                  <a:srgbClr val="2165D6"/>
                </a:solidFill>
                <a:latin typeface="Arial" pitchFamily="34" charset="0"/>
                <a:ea typeface="Arial" pitchFamily="34" charset="-122"/>
                <a:cs typeface="Arial" pitchFamily="34" charset="-120"/>
              </a:rPr>
              <a:t>ciphertext 2</a:t>
            </a:r>
            <a:endParaRPr lang="en-US" sz="1860" dirty="0"/>
          </a:p>
        </p:txBody>
      </p:sp>
      <p:sp>
        <p:nvSpPr>
          <p:cNvPr id="22" name="Text 19"/>
          <p:cNvSpPr/>
          <p:nvPr/>
        </p:nvSpPr>
        <p:spPr>
          <a:xfrm>
            <a:off x="7406640" y="3573780"/>
            <a:ext cx="31394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dados cifrados</a:t>
            </a:r>
            <a:endParaRPr lang="en-US" sz="1500" dirty="0"/>
          </a:p>
        </p:txBody>
      </p:sp>
      <p:sp>
        <p:nvSpPr>
          <p:cNvPr id="23" name="Text 20"/>
          <p:cNvSpPr/>
          <p:nvPr/>
        </p:nvSpPr>
        <p:spPr>
          <a:xfrm>
            <a:off x="7406640" y="3810000"/>
            <a:ext cx="3139440" cy="236220"/>
          </a:xfrm>
          <a:prstGeom prst="rect">
            <a:avLst/>
          </a:prstGeom>
          <a:noFill/>
          <a:ln/>
        </p:spPr>
        <p:txBody>
          <a:bodyPr wrap="square" lIns="0" tIns="0" rIns="0" bIns="0" rtlCol="0" anchor="ctr"/>
          <a:lstStyle/>
          <a:p>
            <a:pPr algn="ctr" indent="0" marL="0">
              <a:lnSpc>
                <a:spcPct val="100000"/>
              </a:lnSpc>
              <a:buNone/>
            </a:pPr>
            <a:r>
              <a:rPr lang="en-US" sz="1500" dirty="0">
                <a:solidFill>
                  <a:srgbClr val="52657B"/>
                </a:solidFill>
                <a:latin typeface="Arial" pitchFamily="34" charset="0"/>
                <a:ea typeface="Arial" pitchFamily="34" charset="-122"/>
                <a:cs typeface="Arial" pitchFamily="34" charset="-120"/>
              </a:rPr>
              <a:t>16 bytes</a:t>
            </a:r>
            <a:endParaRPr lang="en-US" sz="1500" dirty="0"/>
          </a:p>
        </p:txBody>
      </p:sp>
      <p:sp>
        <p:nvSpPr>
          <p:cNvPr id="24" name="Shape 21"/>
          <p:cNvSpPr/>
          <p:nvPr/>
        </p:nvSpPr>
        <p:spPr>
          <a:xfrm>
            <a:off x="487680" y="4724400"/>
            <a:ext cx="11216640" cy="1219200"/>
          </a:xfrm>
          <a:prstGeom prst="roundRect">
            <a:avLst>
              <a:gd name="adj" fmla="val 11250"/>
            </a:avLst>
          </a:prstGeom>
          <a:solidFill>
            <a:srgbClr val="F0F4FA"/>
          </a:solidFill>
          <a:ln w="12700">
            <a:solidFill>
              <a:srgbClr val="D7E1EE"/>
            </a:solidFill>
            <a:prstDash val="solid"/>
          </a:ln>
        </p:spPr>
      </p:sp>
      <p:sp>
        <p:nvSpPr>
          <p:cNvPr id="25" name="Shape 22"/>
          <p:cNvSpPr/>
          <p:nvPr/>
        </p:nvSpPr>
        <p:spPr>
          <a:xfrm>
            <a:off x="487680" y="4724400"/>
            <a:ext cx="11216640" cy="327660"/>
          </a:xfrm>
          <a:prstGeom prst="roundRect">
            <a:avLst>
              <a:gd name="adj" fmla="val 32558"/>
            </a:avLst>
          </a:prstGeom>
          <a:solidFill>
            <a:srgbClr val="EAF1FF"/>
          </a:solidFill>
          <a:ln w="12700">
            <a:solidFill>
              <a:srgbClr val="EAF1FF">
                <a:alpha val="0"/>
              </a:srgbClr>
            </a:solidFill>
            <a:prstDash val="solid"/>
          </a:ln>
        </p:spPr>
      </p:sp>
      <p:sp>
        <p:nvSpPr>
          <p:cNvPr id="26" name="Text 23"/>
          <p:cNvSpPr/>
          <p:nvPr/>
        </p:nvSpPr>
        <p:spPr>
          <a:xfrm>
            <a:off x="624840" y="479298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transmissor.cpp · bytes brutos na UART2</a:t>
            </a:r>
            <a:endParaRPr lang="en-US" sz="1080" dirty="0"/>
          </a:p>
        </p:txBody>
      </p:sp>
      <p:sp>
        <p:nvSpPr>
          <p:cNvPr id="27" name="Text 24"/>
          <p:cNvSpPr/>
          <p:nvPr/>
        </p:nvSpPr>
        <p:spPr>
          <a:xfrm>
            <a:off x="655320" y="5204460"/>
            <a:ext cx="108813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const size_t escritos = enlace.write(quadro, tamanho_quadro);</a:t>
            </a:r>
            <a:endParaRPr lang="en-US" sz="1680" dirty="0"/>
          </a:p>
        </p:txBody>
      </p:sp>
      <p:sp>
        <p:nvSpPr>
          <p:cNvPr id="28" name="Text 25"/>
          <p:cNvSpPr/>
          <p:nvPr/>
        </p:nvSpPr>
        <p:spPr>
          <a:xfrm>
            <a:off x="655320" y="5469026"/>
            <a:ext cx="108813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enlace.flush();</a:t>
            </a:r>
            <a:endParaRPr lang="en-US" sz="1680" dirty="0"/>
          </a:p>
        </p:txBody>
      </p:sp>
      <p:sp>
        <p:nvSpPr>
          <p:cNvPr id="29" name="Shape 26"/>
          <p:cNvSpPr/>
          <p:nvPr/>
        </p:nvSpPr>
        <p:spPr>
          <a:xfrm>
            <a:off x="487680" y="6461760"/>
            <a:ext cx="11216640" cy="0"/>
          </a:xfrm>
          <a:prstGeom prst="line">
            <a:avLst/>
          </a:prstGeom>
          <a:noFill/>
          <a:ln w="7620">
            <a:solidFill>
              <a:srgbClr val="D7E1EE"/>
            </a:solidFill>
            <a:prstDash val="solid"/>
          </a:ln>
        </p:spPr>
      </p:sp>
      <p:sp>
        <p:nvSpPr>
          <p:cNvPr id="30" name="Text 27"/>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31" name="Text 28"/>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15 / 27</a:t>
            </a:r>
            <a:endParaRPr lang="en-US" sz="10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CÓDIGO REAL</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Na placa B, o caminho acontece ao contrário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Receber → decifrar → conferir o preenchimento → recuperar a mensagem.</a:t>
            </a:r>
            <a:endParaRPr lang="en-US" sz="1620" dirty="0"/>
          </a:p>
        </p:txBody>
      </p:sp>
      <p:sp>
        <p:nvSpPr>
          <p:cNvPr id="8" name="Shape 5"/>
          <p:cNvSpPr/>
          <p:nvPr/>
        </p:nvSpPr>
        <p:spPr>
          <a:xfrm>
            <a:off x="487680" y="2484120"/>
            <a:ext cx="11216640" cy="1866900"/>
          </a:xfrm>
          <a:prstGeom prst="roundRect">
            <a:avLst>
              <a:gd name="adj" fmla="val 7347"/>
            </a:avLst>
          </a:prstGeom>
          <a:solidFill>
            <a:srgbClr val="F0F4FA"/>
          </a:solidFill>
          <a:ln w="12700">
            <a:solidFill>
              <a:srgbClr val="D7E1EE"/>
            </a:solidFill>
            <a:prstDash val="solid"/>
          </a:ln>
        </p:spPr>
      </p:sp>
      <p:sp>
        <p:nvSpPr>
          <p:cNvPr id="9" name="Shape 6"/>
          <p:cNvSpPr/>
          <p:nvPr/>
        </p:nvSpPr>
        <p:spPr>
          <a:xfrm>
            <a:off x="487680" y="2484120"/>
            <a:ext cx="11216640" cy="327660"/>
          </a:xfrm>
          <a:prstGeom prst="roundRect">
            <a:avLst>
              <a:gd name="adj" fmla="val 32558"/>
            </a:avLst>
          </a:prstGeom>
          <a:solidFill>
            <a:srgbClr val="EAF1FF"/>
          </a:solidFill>
          <a:ln w="12700">
            <a:solidFill>
              <a:srgbClr val="EAF1FF">
                <a:alpha val="0"/>
              </a:srgbClr>
            </a:solidFill>
            <a:prstDash val="solid"/>
          </a:ln>
        </p:spPr>
      </p:sp>
      <p:sp>
        <p:nvSpPr>
          <p:cNvPr id="10" name="Text 7"/>
          <p:cNvSpPr/>
          <p:nvPr/>
        </p:nvSpPr>
        <p:spPr>
          <a:xfrm>
            <a:off x="624840" y="255270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receptor.cpp · dentro de processar_quadro()</a:t>
            </a:r>
            <a:endParaRPr lang="en-US" sz="1080" dirty="0"/>
          </a:p>
        </p:txBody>
      </p:sp>
      <p:sp>
        <p:nvSpPr>
          <p:cNvPr id="11" name="Text 8"/>
          <p:cNvSpPr/>
          <p:nvPr/>
        </p:nvSpPr>
        <p:spPr>
          <a:xfrm>
            <a:off x="655320" y="2964180"/>
            <a:ext cx="108813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  ecb_decifrar(&amp;g_ctx, rx.dados, claro, rx.n);</a:t>
            </a:r>
            <a:endParaRPr lang="en-US" sz="1680" dirty="0"/>
          </a:p>
        </p:txBody>
      </p:sp>
      <p:sp>
        <p:nvSpPr>
          <p:cNvPr id="12" name="Text 9"/>
          <p:cNvSpPr/>
          <p:nvPr/>
        </p:nvSpPr>
        <p:spPr>
          <a:xfrm>
            <a:off x="655320" y="3228746"/>
            <a:ext cx="108813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  log_blocos("DECIFRADO_COM_PKCS7", claro, tamanho);</a:t>
            </a:r>
            <a:endParaRPr lang="en-US" sz="1680" dirty="0"/>
          </a:p>
        </p:txBody>
      </p:sp>
      <p:sp>
        <p:nvSpPr>
          <p:cNvPr id="13" name="Text 10"/>
          <p:cNvSpPr/>
          <p:nvPr/>
        </p:nvSpPr>
        <p:spPr>
          <a:xfrm>
            <a:off x="655320" y="3493313"/>
            <a:ext cx="108813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  size_t tamanho_msg = 0;</a:t>
            </a:r>
            <a:endParaRPr lang="en-US" sz="1680" dirty="0"/>
          </a:p>
        </p:txBody>
      </p:sp>
      <p:sp>
        <p:nvSpPr>
          <p:cNvPr id="14" name="Text 11"/>
          <p:cNvSpPr/>
          <p:nvPr/>
        </p:nvSpPr>
        <p:spPr>
          <a:xfrm>
            <a:off x="655320" y="3757879"/>
            <a:ext cx="108813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  const pkcs7_resultado r = pkcs7_validar(claro, tamanho, &amp;tamanho_msg);</a:t>
            </a:r>
            <a:endParaRPr lang="en-US" sz="1680" dirty="0"/>
          </a:p>
        </p:txBody>
      </p:sp>
      <p:sp>
        <p:nvSpPr>
          <p:cNvPr id="15" name="Shape 12"/>
          <p:cNvSpPr/>
          <p:nvPr/>
        </p:nvSpPr>
        <p:spPr>
          <a:xfrm>
            <a:off x="487680" y="4724400"/>
            <a:ext cx="5334000" cy="1333500"/>
          </a:xfrm>
          <a:prstGeom prst="roundRect">
            <a:avLst>
              <a:gd name="adj" fmla="val 10286"/>
            </a:avLst>
          </a:prstGeom>
          <a:solidFill>
            <a:srgbClr val="FFFFFF"/>
          </a:solidFill>
          <a:ln w="12700">
            <a:solidFill>
              <a:srgbClr val="D7E1EE"/>
            </a:solidFill>
            <a:prstDash val="solid"/>
          </a:ln>
        </p:spPr>
      </p:sp>
      <p:sp>
        <p:nvSpPr>
          <p:cNvPr id="16" name="Shape 13"/>
          <p:cNvSpPr/>
          <p:nvPr/>
        </p:nvSpPr>
        <p:spPr>
          <a:xfrm>
            <a:off x="487680" y="4724400"/>
            <a:ext cx="53340" cy="1333500"/>
          </a:xfrm>
          <a:prstGeom prst="rect">
            <a:avLst/>
          </a:prstGeom>
          <a:solidFill>
            <a:srgbClr val="008774"/>
          </a:solidFill>
          <a:ln w="12700">
            <a:solidFill>
              <a:srgbClr val="008774">
                <a:alpha val="0"/>
              </a:srgbClr>
            </a:solidFill>
            <a:prstDash val="solid"/>
          </a:ln>
        </p:spPr>
      </p:sp>
      <p:sp>
        <p:nvSpPr>
          <p:cNvPr id="17" name="Text 14"/>
          <p:cNvSpPr/>
          <p:nvPr/>
        </p:nvSpPr>
        <p:spPr>
          <a:xfrm>
            <a:off x="678180" y="4899660"/>
            <a:ext cx="49530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PADDING VÁLIDO</a:t>
            </a:r>
            <a:endParaRPr lang="en-US" sz="1920" dirty="0"/>
          </a:p>
        </p:txBody>
      </p:sp>
      <p:sp>
        <p:nvSpPr>
          <p:cNvPr id="18" name="Text 15"/>
          <p:cNvSpPr/>
          <p:nvPr/>
        </p:nvSpPr>
        <p:spPr>
          <a:xfrm>
            <a:off x="678180" y="5486400"/>
            <a:ext cx="49530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Remove o preenchimento e mostra o texto.</a:t>
            </a:r>
            <a:endParaRPr lang="en-US" sz="1680" dirty="0"/>
          </a:p>
        </p:txBody>
      </p:sp>
      <p:sp>
        <p:nvSpPr>
          <p:cNvPr id="19" name="Shape 16"/>
          <p:cNvSpPr/>
          <p:nvPr/>
        </p:nvSpPr>
        <p:spPr>
          <a:xfrm>
            <a:off x="6149340" y="4724400"/>
            <a:ext cx="5554980" cy="1333500"/>
          </a:xfrm>
          <a:prstGeom prst="roundRect">
            <a:avLst>
              <a:gd name="adj" fmla="val 10286"/>
            </a:avLst>
          </a:prstGeom>
          <a:solidFill>
            <a:srgbClr val="FFFFFF"/>
          </a:solidFill>
          <a:ln w="12700">
            <a:solidFill>
              <a:srgbClr val="D7E1EE"/>
            </a:solidFill>
            <a:prstDash val="solid"/>
          </a:ln>
        </p:spPr>
      </p:sp>
      <p:sp>
        <p:nvSpPr>
          <p:cNvPr id="20" name="Shape 17"/>
          <p:cNvSpPr/>
          <p:nvPr/>
        </p:nvSpPr>
        <p:spPr>
          <a:xfrm>
            <a:off x="6149340" y="4724400"/>
            <a:ext cx="53340" cy="1333500"/>
          </a:xfrm>
          <a:prstGeom prst="rect">
            <a:avLst/>
          </a:prstGeom>
          <a:solidFill>
            <a:srgbClr val="A76A12"/>
          </a:solidFill>
          <a:ln w="12700">
            <a:solidFill>
              <a:srgbClr val="A76A12">
                <a:alpha val="0"/>
              </a:srgbClr>
            </a:solidFill>
            <a:prstDash val="solid"/>
          </a:ln>
        </p:spPr>
      </p:sp>
      <p:sp>
        <p:nvSpPr>
          <p:cNvPr id="21" name="Text 18"/>
          <p:cNvSpPr/>
          <p:nvPr/>
        </p:nvSpPr>
        <p:spPr>
          <a:xfrm>
            <a:off x="6339840" y="4899660"/>
            <a:ext cx="517398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A76A12"/>
                </a:solidFill>
                <a:latin typeface="Arial" pitchFamily="34" charset="0"/>
                <a:ea typeface="Arial" pitchFamily="34" charset="-122"/>
                <a:cs typeface="Arial" pitchFamily="34" charset="-120"/>
              </a:rPr>
              <a:t>PADDING INVÁLIDO</a:t>
            </a:r>
            <a:endParaRPr lang="en-US" sz="1920" dirty="0"/>
          </a:p>
        </p:txBody>
      </p:sp>
      <p:sp>
        <p:nvSpPr>
          <p:cNvPr id="22" name="Text 19"/>
          <p:cNvSpPr/>
          <p:nvPr/>
        </p:nvSpPr>
        <p:spPr>
          <a:xfrm>
            <a:off x="6339840" y="5486400"/>
            <a:ext cx="517398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Descarta a mensagem e registra o motivo.</a:t>
            </a:r>
            <a:endParaRPr lang="en-US" sz="1680" dirty="0"/>
          </a:p>
        </p:txBody>
      </p:sp>
      <p:sp>
        <p:nvSpPr>
          <p:cNvPr id="23" name="Shape 20"/>
          <p:cNvSpPr/>
          <p:nvPr/>
        </p:nvSpPr>
        <p:spPr>
          <a:xfrm>
            <a:off x="487680" y="6461760"/>
            <a:ext cx="11216640" cy="0"/>
          </a:xfrm>
          <a:prstGeom prst="line">
            <a:avLst/>
          </a:prstGeom>
          <a:noFill/>
          <a:ln w="7620">
            <a:solidFill>
              <a:srgbClr val="D7E1EE"/>
            </a:solidFill>
            <a:prstDash val="solid"/>
          </a:ln>
        </p:spPr>
      </p:sp>
      <p:sp>
        <p:nvSpPr>
          <p:cNvPr id="24" name="Text 21"/>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5" name="Text 22"/>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16 / 27</a:t>
            </a:r>
            <a:endParaRPr lang="en-US" sz="10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DEMONSTRAÇÃO</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O que a turma verá nos dois monitores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Trechos reais dos logs de 19/10/2026, com as matrículas da dupla.</a:t>
            </a:r>
            <a:endParaRPr lang="en-US" sz="1620" dirty="0"/>
          </a:p>
        </p:txBody>
      </p:sp>
      <p:sp>
        <p:nvSpPr>
          <p:cNvPr id="8" name="Shape 5"/>
          <p:cNvSpPr/>
          <p:nvPr/>
        </p:nvSpPr>
        <p:spPr>
          <a:xfrm>
            <a:off x="487680" y="2476500"/>
            <a:ext cx="5448300" cy="2895600"/>
          </a:xfrm>
          <a:prstGeom prst="roundRect">
            <a:avLst>
              <a:gd name="adj" fmla="val 4737"/>
            </a:avLst>
          </a:prstGeom>
          <a:solidFill>
            <a:srgbClr val="F0F4FA"/>
          </a:solidFill>
          <a:ln w="12700">
            <a:solidFill>
              <a:srgbClr val="D7E1EE"/>
            </a:solidFill>
            <a:prstDash val="solid"/>
          </a:ln>
        </p:spPr>
      </p:sp>
      <p:sp>
        <p:nvSpPr>
          <p:cNvPr id="9" name="Shape 6"/>
          <p:cNvSpPr/>
          <p:nvPr/>
        </p:nvSpPr>
        <p:spPr>
          <a:xfrm>
            <a:off x="487680" y="2476500"/>
            <a:ext cx="5448300" cy="327660"/>
          </a:xfrm>
          <a:prstGeom prst="roundRect">
            <a:avLst>
              <a:gd name="adj" fmla="val 32558"/>
            </a:avLst>
          </a:prstGeom>
          <a:solidFill>
            <a:srgbClr val="EAF1FF"/>
          </a:solidFill>
          <a:ln w="12700">
            <a:solidFill>
              <a:srgbClr val="EAF1FF">
                <a:alpha val="0"/>
              </a:srgbClr>
            </a:solidFill>
            <a:prstDash val="solid"/>
          </a:ln>
        </p:spPr>
      </p:sp>
      <p:sp>
        <p:nvSpPr>
          <p:cNvPr id="10" name="Text 7"/>
          <p:cNvSpPr/>
          <p:nvPr/>
        </p:nvSpPr>
        <p:spPr>
          <a:xfrm>
            <a:off x="624840" y="2545080"/>
            <a:ext cx="517398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MONITOR A · transmite</a:t>
            </a:r>
            <a:endParaRPr lang="en-US" sz="1080" dirty="0"/>
          </a:p>
        </p:txBody>
      </p:sp>
      <p:sp>
        <p:nvSpPr>
          <p:cNvPr id="11" name="Text 8"/>
          <p:cNvSpPr/>
          <p:nvPr/>
        </p:nvSpPr>
        <p:spPr>
          <a:xfrm>
            <a:off x="655320" y="2956560"/>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[A] MENSAGEM_ORIGINAL tamanho=30</a:t>
            </a:r>
            <a:endParaRPr lang="en-US" sz="1440" dirty="0"/>
          </a:p>
        </p:txBody>
      </p:sp>
      <p:sp>
        <p:nvSpPr>
          <p:cNvPr id="12" name="Text 9"/>
          <p:cNvSpPr/>
          <p:nvPr/>
        </p:nvSpPr>
        <p:spPr>
          <a:xfrm>
            <a:off x="655320" y="3183331"/>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A:2023178440013;B:202127844251</a:t>
            </a:r>
            <a:endParaRPr lang="en-US" sz="1440" dirty="0"/>
          </a:p>
        </p:txBody>
      </p:sp>
      <p:sp>
        <p:nvSpPr>
          <p:cNvPr id="13" name="Text 10"/>
          <p:cNvSpPr/>
          <p:nvPr/>
        </p:nvSpPr>
        <p:spPr>
          <a:xfrm>
            <a:off x="655320" y="3410102"/>
            <a:ext cx="5113020" cy="226771"/>
          </a:xfrm>
          <a:prstGeom prst="rect">
            <a:avLst/>
          </a:prstGeom>
          <a:noFill/>
          <a:ln/>
        </p:spPr>
        <p:txBody>
          <a:bodyPr wrap="square" lIns="0" tIns="0" rIns="0" bIns="0" rtlCol="0" anchor="ctr"/>
          <a:lstStyle/>
          <a:p>
            <a:pPr algn="l" indent="0" marL="0">
              <a:lnSpc>
                <a:spcPct val="100000"/>
              </a:lnSpc>
              <a:buNone/>
            </a:pPr>
            <a:endParaRPr lang="en-US" sz="1440" dirty="0"/>
          </a:p>
        </p:txBody>
      </p:sp>
      <p:sp>
        <p:nvSpPr>
          <p:cNvPr id="14" name="Text 11"/>
          <p:cNvSpPr/>
          <p:nvPr/>
        </p:nvSpPr>
        <p:spPr>
          <a:xfrm>
            <a:off x="655320" y="3636874"/>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[A] CIFRADO_ENVIADO bloco 1:</a:t>
            </a:r>
            <a:endParaRPr lang="en-US" sz="1440" dirty="0"/>
          </a:p>
        </p:txBody>
      </p:sp>
      <p:sp>
        <p:nvSpPr>
          <p:cNvPr id="15" name="Text 12"/>
          <p:cNvSpPr/>
          <p:nvPr/>
        </p:nvSpPr>
        <p:spPr>
          <a:xfrm>
            <a:off x="655320" y="3863645"/>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2e3e460ec295383cec6a018765ff0531</a:t>
            </a:r>
            <a:endParaRPr lang="en-US" sz="1440" dirty="0"/>
          </a:p>
        </p:txBody>
      </p:sp>
      <p:sp>
        <p:nvSpPr>
          <p:cNvPr id="16" name="Text 13"/>
          <p:cNvSpPr/>
          <p:nvPr/>
        </p:nvSpPr>
        <p:spPr>
          <a:xfrm>
            <a:off x="655320" y="4090416"/>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[A] CIFRADO_ENVIADO bloco 2:</a:t>
            </a:r>
            <a:endParaRPr lang="en-US" sz="1440" dirty="0"/>
          </a:p>
        </p:txBody>
      </p:sp>
      <p:sp>
        <p:nvSpPr>
          <p:cNvPr id="17" name="Text 14"/>
          <p:cNvSpPr/>
          <p:nvPr/>
        </p:nvSpPr>
        <p:spPr>
          <a:xfrm>
            <a:off x="655320" y="4317187"/>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30b51beef909b9d823300de92a5e9fb3</a:t>
            </a:r>
            <a:endParaRPr lang="en-US" sz="1440" dirty="0"/>
          </a:p>
        </p:txBody>
      </p:sp>
      <p:sp>
        <p:nvSpPr>
          <p:cNvPr id="18" name="Shape 15"/>
          <p:cNvSpPr/>
          <p:nvPr/>
        </p:nvSpPr>
        <p:spPr>
          <a:xfrm>
            <a:off x="6256020" y="2476500"/>
            <a:ext cx="5448300" cy="2895600"/>
          </a:xfrm>
          <a:prstGeom prst="roundRect">
            <a:avLst>
              <a:gd name="adj" fmla="val 4737"/>
            </a:avLst>
          </a:prstGeom>
          <a:solidFill>
            <a:srgbClr val="F0F4FA"/>
          </a:solidFill>
          <a:ln w="12700">
            <a:solidFill>
              <a:srgbClr val="D7E1EE"/>
            </a:solidFill>
            <a:prstDash val="solid"/>
          </a:ln>
        </p:spPr>
      </p:sp>
      <p:sp>
        <p:nvSpPr>
          <p:cNvPr id="19" name="Shape 16"/>
          <p:cNvSpPr/>
          <p:nvPr/>
        </p:nvSpPr>
        <p:spPr>
          <a:xfrm>
            <a:off x="6256020" y="2476500"/>
            <a:ext cx="5448300" cy="327660"/>
          </a:xfrm>
          <a:prstGeom prst="roundRect">
            <a:avLst>
              <a:gd name="adj" fmla="val 32558"/>
            </a:avLst>
          </a:prstGeom>
          <a:solidFill>
            <a:srgbClr val="EAF1FF"/>
          </a:solidFill>
          <a:ln w="12700">
            <a:solidFill>
              <a:srgbClr val="EAF1FF">
                <a:alpha val="0"/>
              </a:srgbClr>
            </a:solidFill>
            <a:prstDash val="solid"/>
          </a:ln>
        </p:spPr>
      </p:sp>
      <p:sp>
        <p:nvSpPr>
          <p:cNvPr id="20" name="Text 17"/>
          <p:cNvSpPr/>
          <p:nvPr/>
        </p:nvSpPr>
        <p:spPr>
          <a:xfrm>
            <a:off x="6393180" y="2545080"/>
            <a:ext cx="517398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MONITOR B · recebe</a:t>
            </a:r>
            <a:endParaRPr lang="en-US" sz="1080" dirty="0"/>
          </a:p>
        </p:txBody>
      </p:sp>
      <p:sp>
        <p:nvSpPr>
          <p:cNvPr id="21" name="Text 18"/>
          <p:cNvSpPr/>
          <p:nvPr/>
        </p:nvSpPr>
        <p:spPr>
          <a:xfrm>
            <a:off x="6423660" y="2956560"/>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[B] CIFRADO_RECEBIDO bloco 1:</a:t>
            </a:r>
            <a:endParaRPr lang="en-US" sz="1440" dirty="0"/>
          </a:p>
        </p:txBody>
      </p:sp>
      <p:sp>
        <p:nvSpPr>
          <p:cNvPr id="22" name="Text 19"/>
          <p:cNvSpPr/>
          <p:nvPr/>
        </p:nvSpPr>
        <p:spPr>
          <a:xfrm>
            <a:off x="6423660" y="3183331"/>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2e3e460ec295383cec6a018765ff0531</a:t>
            </a:r>
            <a:endParaRPr lang="en-US" sz="1440" dirty="0"/>
          </a:p>
        </p:txBody>
      </p:sp>
      <p:sp>
        <p:nvSpPr>
          <p:cNvPr id="23" name="Text 20"/>
          <p:cNvSpPr/>
          <p:nvPr/>
        </p:nvSpPr>
        <p:spPr>
          <a:xfrm>
            <a:off x="6423660" y="3410102"/>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[B] CIFRADO_RECEBIDO bloco 2:</a:t>
            </a:r>
            <a:endParaRPr lang="en-US" sz="1440" dirty="0"/>
          </a:p>
        </p:txBody>
      </p:sp>
      <p:sp>
        <p:nvSpPr>
          <p:cNvPr id="24" name="Text 21"/>
          <p:cNvSpPr/>
          <p:nvPr/>
        </p:nvSpPr>
        <p:spPr>
          <a:xfrm>
            <a:off x="6423660" y="3636874"/>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30b51beef909b9d823300de92a5e9fb3</a:t>
            </a:r>
            <a:endParaRPr lang="en-US" sz="1440" dirty="0"/>
          </a:p>
        </p:txBody>
      </p:sp>
      <p:sp>
        <p:nvSpPr>
          <p:cNvPr id="25" name="Text 22"/>
          <p:cNvSpPr/>
          <p:nvPr/>
        </p:nvSpPr>
        <p:spPr>
          <a:xfrm>
            <a:off x="6423660" y="3863645"/>
            <a:ext cx="5113020" cy="226771"/>
          </a:xfrm>
          <a:prstGeom prst="rect">
            <a:avLst/>
          </a:prstGeom>
          <a:noFill/>
          <a:ln/>
        </p:spPr>
        <p:txBody>
          <a:bodyPr wrap="square" lIns="0" tIns="0" rIns="0" bIns="0" rtlCol="0" anchor="ctr"/>
          <a:lstStyle/>
          <a:p>
            <a:pPr algn="l" indent="0" marL="0">
              <a:lnSpc>
                <a:spcPct val="100000"/>
              </a:lnSpc>
              <a:buNone/>
            </a:pPr>
            <a:endParaRPr lang="en-US" sz="1440" dirty="0"/>
          </a:p>
        </p:txBody>
      </p:sp>
      <p:sp>
        <p:nvSpPr>
          <p:cNvPr id="26" name="Text 23"/>
          <p:cNvSpPr/>
          <p:nvPr/>
        </p:nvSpPr>
        <p:spPr>
          <a:xfrm>
            <a:off x="6423660" y="4090416"/>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[B] MENSAGEM_RECUPERADA tamanho=30</a:t>
            </a:r>
            <a:endParaRPr lang="en-US" sz="1440" dirty="0"/>
          </a:p>
        </p:txBody>
      </p:sp>
      <p:sp>
        <p:nvSpPr>
          <p:cNvPr id="27" name="Text 24"/>
          <p:cNvSpPr/>
          <p:nvPr/>
        </p:nvSpPr>
        <p:spPr>
          <a:xfrm>
            <a:off x="6423660" y="4317187"/>
            <a:ext cx="5113020" cy="226771"/>
          </a:xfrm>
          <a:prstGeom prst="rect">
            <a:avLst/>
          </a:prstGeom>
          <a:noFill/>
          <a:ln/>
        </p:spPr>
        <p:txBody>
          <a:bodyPr wrap="square" lIns="0" tIns="0" rIns="0" bIns="0" rtlCol="0" anchor="ctr"/>
          <a:lstStyle/>
          <a:p>
            <a:pPr algn="l" indent="0" marL="0">
              <a:lnSpc>
                <a:spcPct val="100000"/>
              </a:lnSpc>
              <a:buNone/>
            </a:pPr>
            <a:r>
              <a:rPr lang="en-US" sz="1440" dirty="0">
                <a:solidFill>
                  <a:srgbClr val="182B45"/>
                </a:solidFill>
                <a:latin typeface="Consolas" pitchFamily="34" charset="0"/>
                <a:ea typeface="Consolas" pitchFamily="34" charset="-122"/>
                <a:cs typeface="Consolas" pitchFamily="34" charset="-120"/>
              </a:rPr>
              <a:t>A:2023178440013;B:202127844251</a:t>
            </a:r>
            <a:endParaRPr lang="en-US" sz="1440" dirty="0"/>
          </a:p>
        </p:txBody>
      </p:sp>
      <p:sp>
        <p:nvSpPr>
          <p:cNvPr id="28" name="Shape 25"/>
          <p:cNvSpPr/>
          <p:nvPr/>
        </p:nvSpPr>
        <p:spPr>
          <a:xfrm>
            <a:off x="487680" y="5692140"/>
            <a:ext cx="11216640" cy="502920"/>
          </a:xfrm>
          <a:prstGeom prst="roundRect">
            <a:avLst>
              <a:gd name="adj" fmla="val 21212"/>
            </a:avLst>
          </a:prstGeom>
          <a:solidFill>
            <a:srgbClr val="E4F6F0"/>
          </a:solidFill>
          <a:ln w="12700">
            <a:solidFill>
              <a:srgbClr val="E4F6F0">
                <a:alpha val="0"/>
              </a:srgbClr>
            </a:solidFill>
            <a:prstDash val="solid"/>
          </a:ln>
        </p:spPr>
      </p:sp>
      <p:sp>
        <p:nvSpPr>
          <p:cNvPr id="29" name="Text 26"/>
          <p:cNvSpPr/>
          <p:nvPr/>
        </p:nvSpPr>
        <p:spPr>
          <a:xfrm>
            <a:off x="670560" y="581406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008774"/>
                </a:solidFill>
                <a:latin typeface="Arial" pitchFamily="34" charset="0"/>
                <a:ea typeface="Arial" pitchFamily="34" charset="-122"/>
                <a:cs typeface="Arial" pitchFamily="34" charset="-120"/>
              </a:rPr>
              <a:t>Registro real de B: COMPARACAO igual_a_mensagem_da_dupla=SIM</a:t>
            </a:r>
            <a:endParaRPr lang="en-US" sz="1560" dirty="0"/>
          </a:p>
        </p:txBody>
      </p:sp>
      <p:sp>
        <p:nvSpPr>
          <p:cNvPr id="30" name="Shape 27"/>
          <p:cNvSpPr/>
          <p:nvPr/>
        </p:nvSpPr>
        <p:spPr>
          <a:xfrm>
            <a:off x="487680" y="6461760"/>
            <a:ext cx="11216640" cy="0"/>
          </a:xfrm>
          <a:prstGeom prst="line">
            <a:avLst/>
          </a:prstGeom>
          <a:noFill/>
          <a:ln w="7620">
            <a:solidFill>
              <a:srgbClr val="D7E1EE"/>
            </a:solidFill>
            <a:prstDash val="solid"/>
          </a:ln>
        </p:spPr>
      </p:sp>
      <p:sp>
        <p:nvSpPr>
          <p:cNvPr id="31" name="Text 28"/>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32" name="Text 29"/>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17 / 27</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ROTEIRO PARA A SALA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Demonstração ao vivo: três passos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Usar os dois monitores USB a 115200 bps, com envio de linha LF.</a:t>
            </a:r>
            <a:endParaRPr lang="en-US" sz="1620" dirty="0"/>
          </a:p>
        </p:txBody>
      </p:sp>
      <p:sp>
        <p:nvSpPr>
          <p:cNvPr id="8" name="Shape 5"/>
          <p:cNvSpPr/>
          <p:nvPr/>
        </p:nvSpPr>
        <p:spPr>
          <a:xfrm>
            <a:off x="487680" y="2491740"/>
            <a:ext cx="3505200" cy="2286000"/>
          </a:xfrm>
          <a:prstGeom prst="roundRect">
            <a:avLst>
              <a:gd name="adj" fmla="val 6000"/>
            </a:avLst>
          </a:prstGeom>
          <a:solidFill>
            <a:srgbClr val="FFFFFF"/>
          </a:solidFill>
          <a:ln w="12700">
            <a:solidFill>
              <a:srgbClr val="D7E1EE"/>
            </a:solidFill>
            <a:prstDash val="solid"/>
          </a:ln>
        </p:spPr>
      </p:sp>
      <p:sp>
        <p:nvSpPr>
          <p:cNvPr id="9" name="Shape 6"/>
          <p:cNvSpPr/>
          <p:nvPr/>
        </p:nvSpPr>
        <p:spPr>
          <a:xfrm>
            <a:off x="487680" y="2491740"/>
            <a:ext cx="53340" cy="2286000"/>
          </a:xfrm>
          <a:prstGeom prst="rect">
            <a:avLst/>
          </a:prstGeom>
          <a:solidFill>
            <a:srgbClr val="2165D6"/>
          </a:solidFill>
          <a:ln w="12700">
            <a:solidFill>
              <a:srgbClr val="2165D6">
                <a:alpha val="0"/>
              </a:srgbClr>
            </a:solidFill>
            <a:prstDash val="solid"/>
          </a:ln>
        </p:spPr>
      </p:sp>
      <p:sp>
        <p:nvSpPr>
          <p:cNvPr id="10" name="Text 7"/>
          <p:cNvSpPr/>
          <p:nvPr/>
        </p:nvSpPr>
        <p:spPr>
          <a:xfrm>
            <a:off x="678180" y="2667000"/>
            <a:ext cx="31242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1 · PREPARAR</a:t>
            </a:r>
            <a:endParaRPr lang="en-US" sz="1920" dirty="0"/>
          </a:p>
        </p:txBody>
      </p:sp>
      <p:sp>
        <p:nvSpPr>
          <p:cNvPr id="11" name="Text 8"/>
          <p:cNvSpPr/>
          <p:nvPr/>
        </p:nvSpPr>
        <p:spPr>
          <a:xfrm>
            <a:off x="678180" y="3253740"/>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A e B: CHAVERESET</a:t>
            </a:r>
            <a:endParaRPr lang="en-US" sz="1680" dirty="0"/>
          </a:p>
        </p:txBody>
      </p:sp>
      <p:sp>
        <p:nvSpPr>
          <p:cNvPr id="12" name="Text 9"/>
          <p:cNvSpPr/>
          <p:nvPr/>
        </p:nvSpPr>
        <p:spPr>
          <a:xfrm>
            <a:off x="678180" y="3518306"/>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A: MSGRESET</a:t>
            </a:r>
            <a:endParaRPr lang="en-US" sz="1680" dirty="0"/>
          </a:p>
        </p:txBody>
      </p:sp>
      <p:sp>
        <p:nvSpPr>
          <p:cNvPr id="13" name="Text 10"/>
          <p:cNvSpPr/>
          <p:nvPr/>
        </p:nvSpPr>
        <p:spPr>
          <a:xfrm>
            <a:off x="678180" y="3782873"/>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B: aguardar PRONTO</a:t>
            </a:r>
            <a:endParaRPr lang="en-US" sz="1680" dirty="0"/>
          </a:p>
        </p:txBody>
      </p:sp>
      <p:sp>
        <p:nvSpPr>
          <p:cNvPr id="14" name="Shape 11"/>
          <p:cNvSpPr/>
          <p:nvPr/>
        </p:nvSpPr>
        <p:spPr>
          <a:xfrm>
            <a:off x="4343400" y="2491740"/>
            <a:ext cx="3505200" cy="2286000"/>
          </a:xfrm>
          <a:prstGeom prst="roundRect">
            <a:avLst>
              <a:gd name="adj" fmla="val 6000"/>
            </a:avLst>
          </a:prstGeom>
          <a:solidFill>
            <a:srgbClr val="FFFFFF"/>
          </a:solidFill>
          <a:ln w="12700">
            <a:solidFill>
              <a:srgbClr val="D7E1EE"/>
            </a:solidFill>
            <a:prstDash val="solid"/>
          </a:ln>
        </p:spPr>
      </p:sp>
      <p:sp>
        <p:nvSpPr>
          <p:cNvPr id="15" name="Shape 12"/>
          <p:cNvSpPr/>
          <p:nvPr/>
        </p:nvSpPr>
        <p:spPr>
          <a:xfrm>
            <a:off x="4343400" y="2491740"/>
            <a:ext cx="53340" cy="2286000"/>
          </a:xfrm>
          <a:prstGeom prst="rect">
            <a:avLst/>
          </a:prstGeom>
          <a:solidFill>
            <a:srgbClr val="008774"/>
          </a:solidFill>
          <a:ln w="12700">
            <a:solidFill>
              <a:srgbClr val="008774">
                <a:alpha val="0"/>
              </a:srgbClr>
            </a:solidFill>
            <a:prstDash val="solid"/>
          </a:ln>
        </p:spPr>
      </p:sp>
      <p:sp>
        <p:nvSpPr>
          <p:cNvPr id="16" name="Text 13"/>
          <p:cNvSpPr/>
          <p:nvPr/>
        </p:nvSpPr>
        <p:spPr>
          <a:xfrm>
            <a:off x="4533900" y="2667000"/>
            <a:ext cx="31242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2 · ENVIAR</a:t>
            </a:r>
            <a:endParaRPr lang="en-US" sz="1920" dirty="0"/>
          </a:p>
        </p:txBody>
      </p:sp>
      <p:sp>
        <p:nvSpPr>
          <p:cNvPr id="17" name="Text 14"/>
          <p:cNvSpPr/>
          <p:nvPr/>
        </p:nvSpPr>
        <p:spPr>
          <a:xfrm>
            <a:off x="4533900" y="3253740"/>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A: ENVIAR</a:t>
            </a:r>
            <a:endParaRPr lang="en-US" sz="1680" dirty="0"/>
          </a:p>
        </p:txBody>
      </p:sp>
      <p:sp>
        <p:nvSpPr>
          <p:cNvPr id="18" name="Text 15"/>
          <p:cNvSpPr/>
          <p:nvPr/>
        </p:nvSpPr>
        <p:spPr>
          <a:xfrm>
            <a:off x="4533900" y="3518306"/>
            <a:ext cx="312420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19" name="Text 16"/>
          <p:cNvSpPr/>
          <p:nvPr/>
        </p:nvSpPr>
        <p:spPr>
          <a:xfrm>
            <a:off x="4533900" y="3782873"/>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ou apertar BOOT</a:t>
            </a:r>
            <a:endParaRPr lang="en-US" sz="1680" dirty="0"/>
          </a:p>
        </p:txBody>
      </p:sp>
      <p:sp>
        <p:nvSpPr>
          <p:cNvPr id="20" name="Text 17"/>
          <p:cNvSpPr/>
          <p:nvPr/>
        </p:nvSpPr>
        <p:spPr>
          <a:xfrm>
            <a:off x="4533900" y="4047439"/>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após o boot normal.</a:t>
            </a:r>
            <a:endParaRPr lang="en-US" sz="1680" dirty="0"/>
          </a:p>
        </p:txBody>
      </p:sp>
      <p:sp>
        <p:nvSpPr>
          <p:cNvPr id="21" name="Shape 18"/>
          <p:cNvSpPr/>
          <p:nvPr/>
        </p:nvSpPr>
        <p:spPr>
          <a:xfrm>
            <a:off x="8199120" y="2491740"/>
            <a:ext cx="3505200" cy="2286000"/>
          </a:xfrm>
          <a:prstGeom prst="roundRect">
            <a:avLst>
              <a:gd name="adj" fmla="val 6000"/>
            </a:avLst>
          </a:prstGeom>
          <a:solidFill>
            <a:srgbClr val="FFFFFF"/>
          </a:solidFill>
          <a:ln w="12700">
            <a:solidFill>
              <a:srgbClr val="D7E1EE"/>
            </a:solidFill>
            <a:prstDash val="solid"/>
          </a:ln>
        </p:spPr>
      </p:sp>
      <p:sp>
        <p:nvSpPr>
          <p:cNvPr id="22" name="Shape 19"/>
          <p:cNvSpPr/>
          <p:nvPr/>
        </p:nvSpPr>
        <p:spPr>
          <a:xfrm>
            <a:off x="8199120" y="2491740"/>
            <a:ext cx="53340" cy="2286000"/>
          </a:xfrm>
          <a:prstGeom prst="rect">
            <a:avLst/>
          </a:prstGeom>
          <a:solidFill>
            <a:srgbClr val="2165D6"/>
          </a:solidFill>
          <a:ln w="12700">
            <a:solidFill>
              <a:srgbClr val="2165D6">
                <a:alpha val="0"/>
              </a:srgbClr>
            </a:solidFill>
            <a:prstDash val="solid"/>
          </a:ln>
        </p:spPr>
      </p:sp>
      <p:sp>
        <p:nvSpPr>
          <p:cNvPr id="23" name="Text 20"/>
          <p:cNvSpPr/>
          <p:nvPr/>
        </p:nvSpPr>
        <p:spPr>
          <a:xfrm>
            <a:off x="8389620" y="2667000"/>
            <a:ext cx="31242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3 · CONFERIR</a:t>
            </a:r>
            <a:endParaRPr lang="en-US" sz="1920" dirty="0"/>
          </a:p>
        </p:txBody>
      </p:sp>
      <p:sp>
        <p:nvSpPr>
          <p:cNvPr id="24" name="Text 21"/>
          <p:cNvSpPr/>
          <p:nvPr/>
        </p:nvSpPr>
        <p:spPr>
          <a:xfrm>
            <a:off x="8389620" y="3253740"/>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Mesmos blocos cifrados.</a:t>
            </a:r>
            <a:endParaRPr lang="en-US" sz="1680" dirty="0"/>
          </a:p>
        </p:txBody>
      </p:sp>
      <p:sp>
        <p:nvSpPr>
          <p:cNvPr id="25" name="Text 22"/>
          <p:cNvSpPr/>
          <p:nvPr/>
        </p:nvSpPr>
        <p:spPr>
          <a:xfrm>
            <a:off x="8389620" y="3518306"/>
            <a:ext cx="312420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26" name="Text 23"/>
          <p:cNvSpPr/>
          <p:nvPr/>
        </p:nvSpPr>
        <p:spPr>
          <a:xfrm>
            <a:off x="8389620" y="3782873"/>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Texto recuperado igual ao</a:t>
            </a:r>
            <a:endParaRPr lang="en-US" sz="1680" dirty="0"/>
          </a:p>
        </p:txBody>
      </p:sp>
      <p:sp>
        <p:nvSpPr>
          <p:cNvPr id="27" name="Text 24"/>
          <p:cNvSpPr/>
          <p:nvPr/>
        </p:nvSpPr>
        <p:spPr>
          <a:xfrm>
            <a:off x="8389620" y="4047439"/>
            <a:ext cx="3124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original.</a:t>
            </a:r>
            <a:endParaRPr lang="en-US" sz="1680" dirty="0"/>
          </a:p>
        </p:txBody>
      </p:sp>
      <p:sp>
        <p:nvSpPr>
          <p:cNvPr id="28" name="Shape 25"/>
          <p:cNvSpPr/>
          <p:nvPr/>
        </p:nvSpPr>
        <p:spPr>
          <a:xfrm>
            <a:off x="487680" y="5356860"/>
            <a:ext cx="11216640" cy="502920"/>
          </a:xfrm>
          <a:prstGeom prst="roundRect">
            <a:avLst>
              <a:gd name="adj" fmla="val 21212"/>
            </a:avLst>
          </a:prstGeom>
          <a:solidFill>
            <a:srgbClr val="EAF1FF"/>
          </a:solidFill>
          <a:ln w="12700">
            <a:solidFill>
              <a:srgbClr val="EAF1FF">
                <a:alpha val="0"/>
              </a:srgbClr>
            </a:solidFill>
            <a:prstDash val="solid"/>
          </a:ln>
        </p:spPr>
      </p:sp>
      <p:sp>
        <p:nvSpPr>
          <p:cNvPr id="29" name="Text 26"/>
          <p:cNvSpPr/>
          <p:nvPr/>
        </p:nvSpPr>
        <p:spPr>
          <a:xfrm>
            <a:off x="670560" y="547878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Alteração na arguição: MSG &lt;novo texto&gt;. Para voltar: MSGRESET e ENVIAR.</a:t>
            </a:r>
            <a:endParaRPr lang="en-US" sz="1560" dirty="0"/>
          </a:p>
        </p:txBody>
      </p:sp>
      <p:sp>
        <p:nvSpPr>
          <p:cNvPr id="30" name="Shape 27"/>
          <p:cNvSpPr/>
          <p:nvPr/>
        </p:nvSpPr>
        <p:spPr>
          <a:xfrm>
            <a:off x="487680" y="6461760"/>
            <a:ext cx="11216640" cy="0"/>
          </a:xfrm>
          <a:prstGeom prst="line">
            <a:avLst/>
          </a:prstGeom>
          <a:noFill/>
          <a:ln w="7620">
            <a:solidFill>
              <a:srgbClr val="D7E1EE"/>
            </a:solidFill>
            <a:prstDash val="solid"/>
          </a:ln>
        </p:spPr>
      </p:sp>
      <p:sp>
        <p:nvSpPr>
          <p:cNvPr id="31" name="Text 28"/>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32" name="Text 29"/>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18 / 27</a:t>
            </a:r>
            <a:endParaRPr lang="en-US" sz="10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EVIDÊNCIAS REAIS</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Como sabemos que o resultado está correto?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Conferimos valores conhecidos antes de usar a chave da dupla.</a:t>
            </a:r>
            <a:endParaRPr lang="en-US" sz="1620" dirty="0"/>
          </a:p>
        </p:txBody>
      </p:sp>
      <p:sp>
        <p:nvSpPr>
          <p:cNvPr id="8" name="Shape 5"/>
          <p:cNvSpPr/>
          <p:nvPr/>
        </p:nvSpPr>
        <p:spPr>
          <a:xfrm>
            <a:off x="487680" y="2491740"/>
            <a:ext cx="3535680" cy="1638300"/>
          </a:xfrm>
          <a:prstGeom prst="roundRect">
            <a:avLst>
              <a:gd name="adj" fmla="val 8372"/>
            </a:avLst>
          </a:prstGeom>
          <a:solidFill>
            <a:srgbClr val="FFFFFF"/>
          </a:solidFill>
          <a:ln w="12700">
            <a:solidFill>
              <a:srgbClr val="D7E1EE"/>
            </a:solidFill>
            <a:prstDash val="solid"/>
          </a:ln>
        </p:spPr>
      </p:sp>
      <p:sp>
        <p:nvSpPr>
          <p:cNvPr id="9" name="Text 6"/>
          <p:cNvSpPr/>
          <p:nvPr/>
        </p:nvSpPr>
        <p:spPr>
          <a:xfrm>
            <a:off x="655320" y="2705100"/>
            <a:ext cx="3200400" cy="614172"/>
          </a:xfrm>
          <a:prstGeom prst="rect">
            <a:avLst/>
          </a:prstGeom>
          <a:noFill/>
          <a:ln/>
        </p:spPr>
        <p:txBody>
          <a:bodyPr wrap="square" lIns="0" tIns="0" rIns="0" bIns="0" rtlCol="0" anchor="ctr"/>
          <a:lstStyle/>
          <a:p>
            <a:pPr algn="l" indent="0" marL="0">
              <a:lnSpc>
                <a:spcPct val="100000"/>
              </a:lnSpc>
              <a:buNone/>
            </a:pPr>
            <a:r>
              <a:rPr lang="en-US" sz="3900" b="1" dirty="0">
                <a:solidFill>
                  <a:srgbClr val="008774"/>
                </a:solidFill>
                <a:latin typeface="Arial" pitchFamily="34" charset="0"/>
                <a:ea typeface="Arial" pitchFamily="34" charset="-122"/>
                <a:cs typeface="Arial" pitchFamily="34" charset="-120"/>
              </a:rPr>
              <a:t>71 / 71</a:t>
            </a:r>
            <a:endParaRPr lang="en-US" sz="3900" dirty="0"/>
          </a:p>
        </p:txBody>
      </p:sp>
      <p:sp>
        <p:nvSpPr>
          <p:cNvPr id="10" name="Text 7"/>
          <p:cNvSpPr/>
          <p:nvPr/>
        </p:nvSpPr>
        <p:spPr>
          <a:xfrm>
            <a:off x="655320" y="3558540"/>
            <a:ext cx="3200400" cy="236220"/>
          </a:xfrm>
          <a:prstGeom prst="rect">
            <a:avLst/>
          </a:prstGeom>
          <a:noFill/>
          <a:ln/>
        </p:spPr>
        <p:txBody>
          <a:bodyPr wrap="square" lIns="0" tIns="0" rIns="0" bIns="0" rtlCol="0" anchor="ctr"/>
          <a:lstStyle/>
          <a:p>
            <a:pPr algn="l" indent="0" marL="0">
              <a:lnSpc>
                <a:spcPct val="100000"/>
              </a:lnSpc>
              <a:buNone/>
            </a:pPr>
            <a:r>
              <a:rPr lang="en-US" sz="1500" dirty="0">
                <a:solidFill>
                  <a:srgbClr val="52657B"/>
                </a:solidFill>
                <a:latin typeface="Arial" pitchFamily="34" charset="0"/>
                <a:ea typeface="Arial" pitchFamily="34" charset="-122"/>
                <a:cs typeface="Arial" pitchFamily="34" charset="-120"/>
              </a:rPr>
              <a:t>Verificações no computador</a:t>
            </a:r>
            <a:endParaRPr lang="en-US" sz="1500" dirty="0"/>
          </a:p>
        </p:txBody>
      </p:sp>
      <p:sp>
        <p:nvSpPr>
          <p:cNvPr id="11" name="Shape 8"/>
          <p:cNvSpPr/>
          <p:nvPr/>
        </p:nvSpPr>
        <p:spPr>
          <a:xfrm>
            <a:off x="4328160" y="2491740"/>
            <a:ext cx="3535680" cy="1638300"/>
          </a:xfrm>
          <a:prstGeom prst="roundRect">
            <a:avLst>
              <a:gd name="adj" fmla="val 8372"/>
            </a:avLst>
          </a:prstGeom>
          <a:solidFill>
            <a:srgbClr val="FFFFFF"/>
          </a:solidFill>
          <a:ln w="12700">
            <a:solidFill>
              <a:srgbClr val="D7E1EE"/>
            </a:solidFill>
            <a:prstDash val="solid"/>
          </a:ln>
        </p:spPr>
      </p:sp>
      <p:sp>
        <p:nvSpPr>
          <p:cNvPr id="12" name="Text 9"/>
          <p:cNvSpPr/>
          <p:nvPr/>
        </p:nvSpPr>
        <p:spPr>
          <a:xfrm>
            <a:off x="4495800" y="2705100"/>
            <a:ext cx="3200400" cy="614172"/>
          </a:xfrm>
          <a:prstGeom prst="rect">
            <a:avLst/>
          </a:prstGeom>
          <a:noFill/>
          <a:ln/>
        </p:spPr>
        <p:txBody>
          <a:bodyPr wrap="square" lIns="0" tIns="0" rIns="0" bIns="0" rtlCol="0" anchor="ctr"/>
          <a:lstStyle/>
          <a:p>
            <a:pPr algn="l" indent="0" marL="0">
              <a:lnSpc>
                <a:spcPct val="100000"/>
              </a:lnSpc>
              <a:buNone/>
            </a:pPr>
            <a:r>
              <a:rPr lang="en-US" sz="3900" b="1" dirty="0">
                <a:solidFill>
                  <a:srgbClr val="008774"/>
                </a:solidFill>
                <a:latin typeface="Arial" pitchFamily="34" charset="0"/>
                <a:ea typeface="Arial" pitchFamily="34" charset="-122"/>
                <a:cs typeface="Arial" pitchFamily="34" charset="-120"/>
              </a:rPr>
              <a:t>11 / 11</a:t>
            </a:r>
            <a:endParaRPr lang="en-US" sz="3900" dirty="0"/>
          </a:p>
        </p:txBody>
      </p:sp>
      <p:sp>
        <p:nvSpPr>
          <p:cNvPr id="13" name="Text 10"/>
          <p:cNvSpPr/>
          <p:nvPr/>
        </p:nvSpPr>
        <p:spPr>
          <a:xfrm>
            <a:off x="4495800" y="3558540"/>
            <a:ext cx="3200400" cy="236220"/>
          </a:xfrm>
          <a:prstGeom prst="rect">
            <a:avLst/>
          </a:prstGeom>
          <a:noFill/>
          <a:ln/>
        </p:spPr>
        <p:txBody>
          <a:bodyPr wrap="square" lIns="0" tIns="0" rIns="0" bIns="0" rtlCol="0" anchor="ctr"/>
          <a:lstStyle/>
          <a:p>
            <a:pPr algn="l" indent="0" marL="0">
              <a:lnSpc>
                <a:spcPct val="100000"/>
              </a:lnSpc>
              <a:buNone/>
            </a:pPr>
            <a:r>
              <a:rPr lang="en-US" sz="1500" dirty="0">
                <a:solidFill>
                  <a:srgbClr val="52657B"/>
                </a:solidFill>
                <a:latin typeface="Arial" pitchFamily="34" charset="0"/>
                <a:ea typeface="Arial" pitchFamily="34" charset="-122"/>
                <a:cs typeface="Arial" pitchFamily="34" charset="-120"/>
              </a:rPr>
              <a:t>Autoteste na placa A</a:t>
            </a:r>
            <a:endParaRPr lang="en-US" sz="1500" dirty="0"/>
          </a:p>
        </p:txBody>
      </p:sp>
      <p:sp>
        <p:nvSpPr>
          <p:cNvPr id="14" name="Shape 11"/>
          <p:cNvSpPr/>
          <p:nvPr/>
        </p:nvSpPr>
        <p:spPr>
          <a:xfrm>
            <a:off x="8168640" y="2491740"/>
            <a:ext cx="3535680" cy="1638300"/>
          </a:xfrm>
          <a:prstGeom prst="roundRect">
            <a:avLst>
              <a:gd name="adj" fmla="val 8372"/>
            </a:avLst>
          </a:prstGeom>
          <a:solidFill>
            <a:srgbClr val="FFFFFF"/>
          </a:solidFill>
          <a:ln w="12700">
            <a:solidFill>
              <a:srgbClr val="D7E1EE"/>
            </a:solidFill>
            <a:prstDash val="solid"/>
          </a:ln>
        </p:spPr>
      </p:sp>
      <p:sp>
        <p:nvSpPr>
          <p:cNvPr id="15" name="Text 12"/>
          <p:cNvSpPr/>
          <p:nvPr/>
        </p:nvSpPr>
        <p:spPr>
          <a:xfrm>
            <a:off x="8336280" y="2705100"/>
            <a:ext cx="3200400" cy="614172"/>
          </a:xfrm>
          <a:prstGeom prst="rect">
            <a:avLst/>
          </a:prstGeom>
          <a:noFill/>
          <a:ln/>
        </p:spPr>
        <p:txBody>
          <a:bodyPr wrap="square" lIns="0" tIns="0" rIns="0" bIns="0" rtlCol="0" anchor="ctr"/>
          <a:lstStyle/>
          <a:p>
            <a:pPr algn="l" indent="0" marL="0">
              <a:lnSpc>
                <a:spcPct val="100000"/>
              </a:lnSpc>
              <a:buNone/>
            </a:pPr>
            <a:r>
              <a:rPr lang="en-US" sz="3900" b="1" dirty="0">
                <a:solidFill>
                  <a:srgbClr val="008774"/>
                </a:solidFill>
                <a:latin typeface="Arial" pitchFamily="34" charset="0"/>
                <a:ea typeface="Arial" pitchFamily="34" charset="-122"/>
                <a:cs typeface="Arial" pitchFamily="34" charset="-120"/>
              </a:rPr>
              <a:t>11 / 11</a:t>
            </a:r>
            <a:endParaRPr lang="en-US" sz="3900" dirty="0"/>
          </a:p>
        </p:txBody>
      </p:sp>
      <p:sp>
        <p:nvSpPr>
          <p:cNvPr id="16" name="Text 13"/>
          <p:cNvSpPr/>
          <p:nvPr/>
        </p:nvSpPr>
        <p:spPr>
          <a:xfrm>
            <a:off x="8336280" y="3558540"/>
            <a:ext cx="3200400" cy="236220"/>
          </a:xfrm>
          <a:prstGeom prst="rect">
            <a:avLst/>
          </a:prstGeom>
          <a:noFill/>
          <a:ln/>
        </p:spPr>
        <p:txBody>
          <a:bodyPr wrap="square" lIns="0" tIns="0" rIns="0" bIns="0" rtlCol="0" anchor="ctr"/>
          <a:lstStyle/>
          <a:p>
            <a:pPr algn="l" indent="0" marL="0">
              <a:lnSpc>
                <a:spcPct val="100000"/>
              </a:lnSpc>
              <a:buNone/>
            </a:pPr>
            <a:r>
              <a:rPr lang="en-US" sz="1500" dirty="0">
                <a:solidFill>
                  <a:srgbClr val="52657B"/>
                </a:solidFill>
                <a:latin typeface="Arial" pitchFamily="34" charset="0"/>
                <a:ea typeface="Arial" pitchFamily="34" charset="-122"/>
                <a:cs typeface="Arial" pitchFamily="34" charset="-120"/>
              </a:rPr>
              <a:t>Autoteste na placa B</a:t>
            </a:r>
            <a:endParaRPr lang="en-US" sz="1500" dirty="0"/>
          </a:p>
        </p:txBody>
      </p:sp>
      <p:sp>
        <p:nvSpPr>
          <p:cNvPr id="17" name="Text 14"/>
          <p:cNvSpPr/>
          <p:nvPr/>
        </p:nvSpPr>
        <p:spPr>
          <a:xfrm>
            <a:off x="647700" y="4495800"/>
            <a:ext cx="10820400" cy="274015"/>
          </a:xfrm>
          <a:prstGeom prst="rect">
            <a:avLst/>
          </a:prstGeom>
          <a:noFill/>
          <a:ln/>
        </p:spPr>
        <p:txBody>
          <a:bodyPr wrap="square" lIns="0" tIns="0" rIns="0" bIns="0" rtlCol="0" anchor="ctr"/>
          <a:lstStyle/>
          <a:p>
            <a:pPr algn="l" indent="0" marL="0">
              <a:lnSpc>
                <a:spcPct val="100000"/>
              </a:lnSpc>
              <a:buNone/>
            </a:pPr>
            <a:r>
              <a:rPr lang="en-US" sz="1740" b="1" dirty="0">
                <a:solidFill>
                  <a:srgbClr val="182B45"/>
                </a:solidFill>
                <a:latin typeface="Arial" pitchFamily="34" charset="0"/>
                <a:ea typeface="Arial" pitchFamily="34" charset="-122"/>
                <a:cs typeface="Arial" pitchFamily="34" charset="-120"/>
              </a:rPr>
              <a:t>FIPS-197 C.1 · ciphertext esperado e conferido</a:t>
            </a:r>
            <a:endParaRPr lang="en-US" sz="1740" dirty="0"/>
          </a:p>
        </p:txBody>
      </p:sp>
      <p:sp>
        <p:nvSpPr>
          <p:cNvPr id="18" name="Text 15"/>
          <p:cNvSpPr/>
          <p:nvPr/>
        </p:nvSpPr>
        <p:spPr>
          <a:xfrm>
            <a:off x="647700" y="4937760"/>
            <a:ext cx="10820400" cy="377952"/>
          </a:xfrm>
          <a:prstGeom prst="rect">
            <a:avLst/>
          </a:prstGeom>
          <a:noFill/>
          <a:ln/>
        </p:spPr>
        <p:txBody>
          <a:bodyPr wrap="square" lIns="0" tIns="0" rIns="0" bIns="0" rtlCol="0" anchor="ctr"/>
          <a:lstStyle/>
          <a:p>
            <a:pPr algn="l" indent="0" marL="0">
              <a:lnSpc>
                <a:spcPct val="100000"/>
              </a:lnSpc>
              <a:buNone/>
            </a:pPr>
            <a:r>
              <a:rPr lang="en-US" sz="2400" b="1" dirty="0">
                <a:solidFill>
                  <a:srgbClr val="2165D6"/>
                </a:solidFill>
                <a:latin typeface="Consolas" pitchFamily="34" charset="0"/>
                <a:ea typeface="Consolas" pitchFamily="34" charset="-122"/>
                <a:cs typeface="Consolas" pitchFamily="34" charset="-120"/>
              </a:rPr>
              <a:t>69c4e0d86a7b0430d8cdb78070b4c55a</a:t>
            </a:r>
            <a:endParaRPr lang="en-US" sz="2400" dirty="0"/>
          </a:p>
        </p:txBody>
      </p:sp>
      <p:sp>
        <p:nvSpPr>
          <p:cNvPr id="19" name="Text 16"/>
          <p:cNvSpPr/>
          <p:nvPr/>
        </p:nvSpPr>
        <p:spPr>
          <a:xfrm>
            <a:off x="647700" y="5875020"/>
            <a:ext cx="10896600" cy="236220"/>
          </a:xfrm>
          <a:prstGeom prst="rect">
            <a:avLst/>
          </a:prstGeom>
          <a:noFill/>
          <a:ln/>
        </p:spPr>
        <p:txBody>
          <a:bodyPr wrap="square" lIns="0" tIns="0" rIns="0" bIns="0" rtlCol="0" anchor="ctr"/>
          <a:lstStyle/>
          <a:p>
            <a:pPr algn="l" indent="0" marL="0">
              <a:lnSpc>
                <a:spcPct val="100000"/>
              </a:lnSpc>
              <a:buNone/>
            </a:pPr>
            <a:r>
              <a:rPr lang="en-US" sz="1500" dirty="0">
                <a:solidFill>
                  <a:srgbClr val="A76A12"/>
                </a:solidFill>
                <a:latin typeface="Arial" pitchFamily="34" charset="0"/>
                <a:ea typeface="Arial" pitchFamily="34" charset="-122"/>
                <a:cs typeface="Arial" pitchFamily="34" charset="-120"/>
              </a:rPr>
              <a:t>Mil pacotes AES, latência AES e envio AES B→A: sem validação documentada.</a:t>
            </a:r>
            <a:endParaRPr lang="en-US" sz="1500" dirty="0"/>
          </a:p>
        </p:txBody>
      </p:sp>
      <p:sp>
        <p:nvSpPr>
          <p:cNvPr id="20" name="Shape 17"/>
          <p:cNvSpPr/>
          <p:nvPr/>
        </p:nvSpPr>
        <p:spPr>
          <a:xfrm>
            <a:off x="487680" y="6461760"/>
            <a:ext cx="11216640" cy="0"/>
          </a:xfrm>
          <a:prstGeom prst="line">
            <a:avLst/>
          </a:prstGeom>
          <a:noFill/>
          <a:ln w="7620">
            <a:solidFill>
              <a:srgbClr val="D7E1EE"/>
            </a:solidFill>
            <a:prstDash val="solid"/>
          </a:ln>
        </p:spPr>
      </p:sp>
      <p:sp>
        <p:nvSpPr>
          <p:cNvPr id="21" name="Text 18"/>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2" name="Text 19"/>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19 / 27</a:t>
            </a:r>
            <a:endParaRPr lang="en-US" sz="10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RESULTADOS DA DUPLA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Um único bit muda muitos bits do resultado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Avalanche: contar as diferenças entre os dois textos cifrados.</a:t>
            </a:r>
            <a:endParaRPr lang="en-US" sz="1620" dirty="0"/>
          </a:p>
        </p:txBody>
      </p:sp>
      <p:sp>
        <p:nvSpPr>
          <p:cNvPr id="8" name="Text 5"/>
          <p:cNvSpPr/>
          <p:nvPr/>
        </p:nvSpPr>
        <p:spPr>
          <a:xfrm>
            <a:off x="647700" y="2491740"/>
            <a:ext cx="108966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2165D6"/>
                </a:solidFill>
                <a:latin typeface="Arial" pitchFamily="34" charset="0"/>
                <a:ea typeface="Arial" pitchFamily="34" charset="-122"/>
                <a:cs typeface="Arial" pitchFamily="34" charset="-120"/>
              </a:rPr>
              <a:t>MUDANÇA NA CHAVE</a:t>
            </a:r>
            <a:endParaRPr lang="en-US" sz="1620" dirty="0"/>
          </a:p>
        </p:txBody>
      </p:sp>
      <p:sp>
        <p:nvSpPr>
          <p:cNvPr id="9" name="Shape 6"/>
          <p:cNvSpPr/>
          <p:nvPr/>
        </p:nvSpPr>
        <p:spPr>
          <a:xfrm>
            <a:off x="647700" y="3002280"/>
            <a:ext cx="7772400" cy="495300"/>
          </a:xfrm>
          <a:prstGeom prst="roundRect">
            <a:avLst>
              <a:gd name="adj" fmla="val 18462"/>
            </a:avLst>
          </a:prstGeom>
          <a:solidFill>
            <a:srgbClr val="EAF1FF"/>
          </a:solidFill>
          <a:ln w="12700">
            <a:solidFill>
              <a:srgbClr val="EAF1FF">
                <a:alpha val="0"/>
              </a:srgbClr>
            </a:solidFill>
            <a:prstDash val="solid"/>
          </a:ln>
        </p:spPr>
      </p:sp>
      <p:sp>
        <p:nvSpPr>
          <p:cNvPr id="10" name="Shape 7"/>
          <p:cNvSpPr/>
          <p:nvPr/>
        </p:nvSpPr>
        <p:spPr>
          <a:xfrm>
            <a:off x="647700" y="3002280"/>
            <a:ext cx="4311253" cy="495300"/>
          </a:xfrm>
          <a:prstGeom prst="roundRect">
            <a:avLst>
              <a:gd name="adj" fmla="val 18462"/>
            </a:avLst>
          </a:prstGeom>
          <a:solidFill>
            <a:srgbClr val="2165D6"/>
          </a:solidFill>
          <a:ln w="12700">
            <a:solidFill>
              <a:srgbClr val="2165D6">
                <a:alpha val="0"/>
              </a:srgbClr>
            </a:solidFill>
            <a:prstDash val="solid"/>
          </a:ln>
        </p:spPr>
      </p:sp>
      <p:sp>
        <p:nvSpPr>
          <p:cNvPr id="11" name="Text 8"/>
          <p:cNvSpPr/>
          <p:nvPr/>
        </p:nvSpPr>
        <p:spPr>
          <a:xfrm>
            <a:off x="8763000" y="3086100"/>
            <a:ext cx="28194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142 / 256 bits · 55,47%</a:t>
            </a:r>
            <a:endParaRPr lang="en-US" sz="1920" dirty="0"/>
          </a:p>
        </p:txBody>
      </p:sp>
      <p:sp>
        <p:nvSpPr>
          <p:cNvPr id="12" name="Text 9"/>
          <p:cNvSpPr/>
          <p:nvPr/>
        </p:nvSpPr>
        <p:spPr>
          <a:xfrm>
            <a:off x="647700" y="4053840"/>
            <a:ext cx="108966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008774"/>
                </a:solidFill>
                <a:latin typeface="Arial" pitchFamily="34" charset="0"/>
                <a:ea typeface="Arial" pitchFamily="34" charset="-122"/>
                <a:cs typeface="Arial" pitchFamily="34" charset="-120"/>
              </a:rPr>
              <a:t>MUDANÇA NA MENSAGEM · SOMENTE BLOCO 1</a:t>
            </a:r>
            <a:endParaRPr lang="en-US" sz="1620" dirty="0"/>
          </a:p>
        </p:txBody>
      </p:sp>
      <p:sp>
        <p:nvSpPr>
          <p:cNvPr id="13" name="Shape 10"/>
          <p:cNvSpPr/>
          <p:nvPr/>
        </p:nvSpPr>
        <p:spPr>
          <a:xfrm>
            <a:off x="647700" y="4564380"/>
            <a:ext cx="7772400" cy="495300"/>
          </a:xfrm>
          <a:prstGeom prst="roundRect">
            <a:avLst>
              <a:gd name="adj" fmla="val 18462"/>
            </a:avLst>
          </a:prstGeom>
          <a:solidFill>
            <a:srgbClr val="E4F6F0"/>
          </a:solidFill>
          <a:ln w="12700">
            <a:solidFill>
              <a:srgbClr val="E4F6F0">
                <a:alpha val="0"/>
              </a:srgbClr>
            </a:solidFill>
            <a:prstDash val="solid"/>
          </a:ln>
        </p:spPr>
      </p:sp>
      <p:sp>
        <p:nvSpPr>
          <p:cNvPr id="14" name="Shape 11"/>
          <p:cNvSpPr/>
          <p:nvPr/>
        </p:nvSpPr>
        <p:spPr>
          <a:xfrm>
            <a:off x="647700" y="4564380"/>
            <a:ext cx="4189809" cy="495300"/>
          </a:xfrm>
          <a:prstGeom prst="roundRect">
            <a:avLst>
              <a:gd name="adj" fmla="val 18462"/>
            </a:avLst>
          </a:prstGeom>
          <a:solidFill>
            <a:srgbClr val="008774"/>
          </a:solidFill>
          <a:ln w="12700">
            <a:solidFill>
              <a:srgbClr val="008774">
                <a:alpha val="0"/>
              </a:srgbClr>
            </a:solidFill>
            <a:prstDash val="solid"/>
          </a:ln>
        </p:spPr>
      </p:sp>
      <p:sp>
        <p:nvSpPr>
          <p:cNvPr id="15" name="Text 12"/>
          <p:cNvSpPr/>
          <p:nvPr/>
        </p:nvSpPr>
        <p:spPr>
          <a:xfrm>
            <a:off x="8763000" y="4648200"/>
            <a:ext cx="28194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69 / 128 bits · 53,91%</a:t>
            </a:r>
            <a:endParaRPr lang="en-US" sz="1920" dirty="0"/>
          </a:p>
        </p:txBody>
      </p:sp>
      <p:sp>
        <p:nvSpPr>
          <p:cNvPr id="16" name="Shape 13"/>
          <p:cNvSpPr/>
          <p:nvPr/>
        </p:nvSpPr>
        <p:spPr>
          <a:xfrm>
            <a:off x="487680" y="5615940"/>
            <a:ext cx="11216640" cy="502920"/>
          </a:xfrm>
          <a:prstGeom prst="roundRect">
            <a:avLst>
              <a:gd name="adj" fmla="val 21212"/>
            </a:avLst>
          </a:prstGeom>
          <a:solidFill>
            <a:srgbClr val="EAF1FF"/>
          </a:solidFill>
          <a:ln w="12700">
            <a:solidFill>
              <a:srgbClr val="EAF1FF">
                <a:alpha val="0"/>
              </a:srgbClr>
            </a:solidFill>
            <a:prstDash val="solid"/>
          </a:ln>
        </p:spPr>
      </p:sp>
      <p:sp>
        <p:nvSpPr>
          <p:cNvPr id="17" name="Text 14"/>
          <p:cNvSpPr/>
          <p:nvPr/>
        </p:nvSpPr>
        <p:spPr>
          <a:xfrm>
            <a:off x="670560" y="573786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O bloco 2 ficou igual no segundo teste: em ECB, os blocos são independentes.</a:t>
            </a:r>
            <a:endParaRPr lang="en-US" sz="1560" dirty="0"/>
          </a:p>
        </p:txBody>
      </p:sp>
      <p:sp>
        <p:nvSpPr>
          <p:cNvPr id="18" name="Shape 15"/>
          <p:cNvSpPr/>
          <p:nvPr/>
        </p:nvSpPr>
        <p:spPr>
          <a:xfrm>
            <a:off x="487680" y="6461760"/>
            <a:ext cx="11216640" cy="0"/>
          </a:xfrm>
          <a:prstGeom prst="line">
            <a:avLst/>
          </a:prstGeom>
          <a:noFill/>
          <a:ln w="7620">
            <a:solidFill>
              <a:srgbClr val="D7E1EE"/>
            </a:solidFill>
            <a:prstDash val="solid"/>
          </a:ln>
        </p:spPr>
      </p:sp>
      <p:sp>
        <p:nvSpPr>
          <p:cNvPr id="19" name="Text 16"/>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0" name="Text 17"/>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20 / 27</a:t>
            </a:r>
            <a:endParaRPr lang="en-US" sz="10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LIMITES DO MODO ECB</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Por que o ECB revela padrões?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Com a mesma chave, blocos iguais produzem blocos cifrados iguais.</a:t>
            </a:r>
            <a:endParaRPr lang="en-US" sz="1620" dirty="0"/>
          </a:p>
        </p:txBody>
      </p:sp>
      <p:sp>
        <p:nvSpPr>
          <p:cNvPr id="8" name="Shape 5"/>
          <p:cNvSpPr/>
          <p:nvPr/>
        </p:nvSpPr>
        <p:spPr>
          <a:xfrm>
            <a:off x="487680" y="2689860"/>
            <a:ext cx="1181100" cy="289560"/>
          </a:xfrm>
          <a:prstGeom prst="roundRect">
            <a:avLst>
              <a:gd name="adj" fmla="val 26316"/>
            </a:avLst>
          </a:prstGeom>
          <a:solidFill>
            <a:srgbClr val="EAF1FF"/>
          </a:solidFill>
          <a:ln w="12700">
            <a:solidFill>
              <a:srgbClr val="EAF1FF">
                <a:alpha val="0"/>
              </a:srgbClr>
            </a:solidFill>
            <a:prstDash val="solid"/>
          </a:ln>
        </p:spPr>
      </p:sp>
      <p:sp>
        <p:nvSpPr>
          <p:cNvPr id="9" name="Text 6"/>
          <p:cNvSpPr/>
          <p:nvPr/>
        </p:nvSpPr>
        <p:spPr>
          <a:xfrm>
            <a:off x="579120" y="2735580"/>
            <a:ext cx="9982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Arial" pitchFamily="34" charset="0"/>
                <a:ea typeface="Arial" pitchFamily="34" charset="-122"/>
                <a:cs typeface="Arial" pitchFamily="34" charset="-120"/>
              </a:rPr>
              <a:t>BLOCO 1</a:t>
            </a:r>
            <a:endParaRPr lang="en-US" sz="1080" dirty="0"/>
          </a:p>
        </p:txBody>
      </p:sp>
      <p:sp>
        <p:nvSpPr>
          <p:cNvPr id="10" name="Shape 7"/>
          <p:cNvSpPr/>
          <p:nvPr/>
        </p:nvSpPr>
        <p:spPr>
          <a:xfrm>
            <a:off x="1905000" y="2499360"/>
            <a:ext cx="4404360" cy="746760"/>
          </a:xfrm>
          <a:prstGeom prst="roundRect">
            <a:avLst>
              <a:gd name="adj" fmla="val 18367"/>
            </a:avLst>
          </a:prstGeom>
          <a:solidFill>
            <a:srgbClr val="EAF1FF"/>
          </a:solidFill>
          <a:ln w="12700">
            <a:solidFill>
              <a:srgbClr val="EAF1FF">
                <a:alpha val="0"/>
              </a:srgbClr>
            </a:solidFill>
            <a:prstDash val="solid"/>
          </a:ln>
        </p:spPr>
      </p:sp>
      <p:sp>
        <p:nvSpPr>
          <p:cNvPr id="11" name="Text 8"/>
          <p:cNvSpPr/>
          <p:nvPr/>
        </p:nvSpPr>
        <p:spPr>
          <a:xfrm>
            <a:off x="2049780" y="2720340"/>
            <a:ext cx="4114800" cy="311810"/>
          </a:xfrm>
          <a:prstGeom prst="rect">
            <a:avLst/>
          </a:prstGeom>
          <a:noFill/>
          <a:ln/>
        </p:spPr>
        <p:txBody>
          <a:bodyPr wrap="square" lIns="0" tIns="0" rIns="0" bIns="0" rtlCol="0" anchor="ctr"/>
          <a:lstStyle/>
          <a:p>
            <a:pPr algn="l" indent="0" marL="0">
              <a:lnSpc>
                <a:spcPct val="100000"/>
              </a:lnSpc>
              <a:buNone/>
            </a:pPr>
            <a:r>
              <a:rPr lang="en-US" sz="1980" b="1" dirty="0">
                <a:solidFill>
                  <a:srgbClr val="2165D6"/>
                </a:solidFill>
                <a:latin typeface="Consolas" pitchFamily="34" charset="0"/>
                <a:ea typeface="Consolas" pitchFamily="34" charset="-122"/>
                <a:cs typeface="Consolas" pitchFamily="34" charset="-120"/>
              </a:rPr>
              <a:t>LIGAR LED VERDE.</a:t>
            </a:r>
            <a:endParaRPr lang="en-US" sz="1980" dirty="0"/>
          </a:p>
        </p:txBody>
      </p:sp>
      <p:sp>
        <p:nvSpPr>
          <p:cNvPr id="12" name="Shape 9"/>
          <p:cNvSpPr/>
          <p:nvPr/>
        </p:nvSpPr>
        <p:spPr>
          <a:xfrm>
            <a:off x="6438900" y="2880360"/>
            <a:ext cx="678180" cy="0"/>
          </a:xfrm>
          <a:prstGeom prst="line">
            <a:avLst/>
          </a:prstGeom>
          <a:noFill/>
          <a:ln w="22860">
            <a:solidFill>
              <a:srgbClr val="52657B"/>
            </a:solidFill>
            <a:prstDash val="solid"/>
            <a:tailEnd type="triangle"/>
          </a:ln>
        </p:spPr>
      </p:sp>
      <p:sp>
        <p:nvSpPr>
          <p:cNvPr id="13" name="Shape 10"/>
          <p:cNvSpPr/>
          <p:nvPr/>
        </p:nvSpPr>
        <p:spPr>
          <a:xfrm>
            <a:off x="7261860" y="2499360"/>
            <a:ext cx="4442460" cy="746760"/>
          </a:xfrm>
          <a:prstGeom prst="roundRect">
            <a:avLst>
              <a:gd name="adj" fmla="val 18367"/>
            </a:avLst>
          </a:prstGeom>
          <a:solidFill>
            <a:srgbClr val="EAF1FF"/>
          </a:solidFill>
          <a:ln w="12700">
            <a:solidFill>
              <a:srgbClr val="EAF1FF">
                <a:alpha val="0"/>
              </a:srgbClr>
            </a:solidFill>
            <a:prstDash val="solid"/>
          </a:ln>
        </p:spPr>
      </p:sp>
      <p:sp>
        <p:nvSpPr>
          <p:cNvPr id="14" name="Text 11"/>
          <p:cNvSpPr/>
          <p:nvPr/>
        </p:nvSpPr>
        <p:spPr>
          <a:xfrm>
            <a:off x="7399020" y="2720340"/>
            <a:ext cx="415290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2165D6"/>
                </a:solidFill>
                <a:latin typeface="Consolas" pitchFamily="34" charset="0"/>
                <a:ea typeface="Consolas" pitchFamily="34" charset="-122"/>
                <a:cs typeface="Consolas" pitchFamily="34" charset="-120"/>
              </a:rPr>
              <a:t>e0c22a6f … 42203dec</a:t>
            </a:r>
            <a:endParaRPr lang="en-US" sz="1800" dirty="0"/>
          </a:p>
        </p:txBody>
      </p:sp>
      <p:sp>
        <p:nvSpPr>
          <p:cNvPr id="15" name="Shape 12"/>
          <p:cNvSpPr/>
          <p:nvPr/>
        </p:nvSpPr>
        <p:spPr>
          <a:xfrm>
            <a:off x="487680" y="3634740"/>
            <a:ext cx="1181100" cy="289560"/>
          </a:xfrm>
          <a:prstGeom prst="roundRect">
            <a:avLst>
              <a:gd name="adj" fmla="val 26316"/>
            </a:avLst>
          </a:prstGeom>
          <a:solidFill>
            <a:srgbClr val="E4F6F0"/>
          </a:solidFill>
          <a:ln w="12700">
            <a:solidFill>
              <a:srgbClr val="E4F6F0">
                <a:alpha val="0"/>
              </a:srgbClr>
            </a:solidFill>
            <a:prstDash val="solid"/>
          </a:ln>
        </p:spPr>
      </p:sp>
      <p:sp>
        <p:nvSpPr>
          <p:cNvPr id="16" name="Text 13"/>
          <p:cNvSpPr/>
          <p:nvPr/>
        </p:nvSpPr>
        <p:spPr>
          <a:xfrm>
            <a:off x="579120" y="3680460"/>
            <a:ext cx="9982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008774"/>
                </a:solidFill>
                <a:latin typeface="Arial" pitchFamily="34" charset="0"/>
                <a:ea typeface="Arial" pitchFamily="34" charset="-122"/>
                <a:cs typeface="Arial" pitchFamily="34" charset="-120"/>
              </a:rPr>
              <a:t>BLOCO 2</a:t>
            </a:r>
            <a:endParaRPr lang="en-US" sz="1080" dirty="0"/>
          </a:p>
        </p:txBody>
      </p:sp>
      <p:sp>
        <p:nvSpPr>
          <p:cNvPr id="17" name="Shape 14"/>
          <p:cNvSpPr/>
          <p:nvPr/>
        </p:nvSpPr>
        <p:spPr>
          <a:xfrm>
            <a:off x="1905000" y="3444240"/>
            <a:ext cx="4404360" cy="746760"/>
          </a:xfrm>
          <a:prstGeom prst="roundRect">
            <a:avLst>
              <a:gd name="adj" fmla="val 18367"/>
            </a:avLst>
          </a:prstGeom>
          <a:solidFill>
            <a:srgbClr val="E4F6F0"/>
          </a:solidFill>
          <a:ln w="12700">
            <a:solidFill>
              <a:srgbClr val="E4F6F0">
                <a:alpha val="0"/>
              </a:srgbClr>
            </a:solidFill>
            <a:prstDash val="solid"/>
          </a:ln>
        </p:spPr>
      </p:sp>
      <p:sp>
        <p:nvSpPr>
          <p:cNvPr id="18" name="Text 15"/>
          <p:cNvSpPr/>
          <p:nvPr/>
        </p:nvSpPr>
        <p:spPr>
          <a:xfrm>
            <a:off x="2049780" y="3665220"/>
            <a:ext cx="4114800" cy="311810"/>
          </a:xfrm>
          <a:prstGeom prst="rect">
            <a:avLst/>
          </a:prstGeom>
          <a:noFill/>
          <a:ln/>
        </p:spPr>
        <p:txBody>
          <a:bodyPr wrap="square" lIns="0" tIns="0" rIns="0" bIns="0" rtlCol="0" anchor="ctr"/>
          <a:lstStyle/>
          <a:p>
            <a:pPr algn="l" indent="0" marL="0">
              <a:lnSpc>
                <a:spcPct val="100000"/>
              </a:lnSpc>
              <a:buNone/>
            </a:pPr>
            <a:r>
              <a:rPr lang="en-US" sz="1980" b="1" dirty="0">
                <a:solidFill>
                  <a:srgbClr val="008774"/>
                </a:solidFill>
                <a:latin typeface="Consolas" pitchFamily="34" charset="0"/>
                <a:ea typeface="Consolas" pitchFamily="34" charset="-122"/>
                <a:cs typeface="Consolas" pitchFamily="34" charset="-120"/>
              </a:rPr>
              <a:t>DESLIGAR LED</a:t>
            </a:r>
            <a:endParaRPr lang="en-US" sz="1980" dirty="0"/>
          </a:p>
        </p:txBody>
      </p:sp>
      <p:sp>
        <p:nvSpPr>
          <p:cNvPr id="19" name="Shape 16"/>
          <p:cNvSpPr/>
          <p:nvPr/>
        </p:nvSpPr>
        <p:spPr>
          <a:xfrm>
            <a:off x="6438900" y="3825240"/>
            <a:ext cx="678180" cy="0"/>
          </a:xfrm>
          <a:prstGeom prst="line">
            <a:avLst/>
          </a:prstGeom>
          <a:noFill/>
          <a:ln w="22860">
            <a:solidFill>
              <a:srgbClr val="52657B"/>
            </a:solidFill>
            <a:prstDash val="solid"/>
            <a:tailEnd type="triangle"/>
          </a:ln>
        </p:spPr>
      </p:sp>
      <p:sp>
        <p:nvSpPr>
          <p:cNvPr id="20" name="Shape 17"/>
          <p:cNvSpPr/>
          <p:nvPr/>
        </p:nvSpPr>
        <p:spPr>
          <a:xfrm>
            <a:off x="7261860" y="3444240"/>
            <a:ext cx="4442460" cy="746760"/>
          </a:xfrm>
          <a:prstGeom prst="roundRect">
            <a:avLst>
              <a:gd name="adj" fmla="val 18367"/>
            </a:avLst>
          </a:prstGeom>
          <a:solidFill>
            <a:srgbClr val="E4F6F0"/>
          </a:solidFill>
          <a:ln w="12700">
            <a:solidFill>
              <a:srgbClr val="E4F6F0">
                <a:alpha val="0"/>
              </a:srgbClr>
            </a:solidFill>
            <a:prstDash val="solid"/>
          </a:ln>
        </p:spPr>
      </p:sp>
      <p:sp>
        <p:nvSpPr>
          <p:cNvPr id="21" name="Text 18"/>
          <p:cNvSpPr/>
          <p:nvPr/>
        </p:nvSpPr>
        <p:spPr>
          <a:xfrm>
            <a:off x="7399020" y="3665220"/>
            <a:ext cx="415290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008774"/>
                </a:solidFill>
                <a:latin typeface="Consolas" pitchFamily="34" charset="0"/>
                <a:ea typeface="Consolas" pitchFamily="34" charset="-122"/>
                <a:cs typeface="Consolas" pitchFamily="34" charset="-120"/>
              </a:rPr>
              <a:t>2b4d065e … 4cd5070</a:t>
            </a:r>
            <a:endParaRPr lang="en-US" sz="1800" dirty="0"/>
          </a:p>
        </p:txBody>
      </p:sp>
      <p:sp>
        <p:nvSpPr>
          <p:cNvPr id="22" name="Shape 19"/>
          <p:cNvSpPr/>
          <p:nvPr/>
        </p:nvSpPr>
        <p:spPr>
          <a:xfrm>
            <a:off x="487680" y="4579620"/>
            <a:ext cx="1181100" cy="289560"/>
          </a:xfrm>
          <a:prstGeom prst="roundRect">
            <a:avLst>
              <a:gd name="adj" fmla="val 26316"/>
            </a:avLst>
          </a:prstGeom>
          <a:solidFill>
            <a:srgbClr val="EAF1FF"/>
          </a:solidFill>
          <a:ln w="12700">
            <a:solidFill>
              <a:srgbClr val="EAF1FF">
                <a:alpha val="0"/>
              </a:srgbClr>
            </a:solidFill>
            <a:prstDash val="solid"/>
          </a:ln>
        </p:spPr>
      </p:sp>
      <p:sp>
        <p:nvSpPr>
          <p:cNvPr id="23" name="Text 20"/>
          <p:cNvSpPr/>
          <p:nvPr/>
        </p:nvSpPr>
        <p:spPr>
          <a:xfrm>
            <a:off x="579120" y="4625340"/>
            <a:ext cx="9982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Arial" pitchFamily="34" charset="0"/>
                <a:ea typeface="Arial" pitchFamily="34" charset="-122"/>
                <a:cs typeface="Arial" pitchFamily="34" charset="-120"/>
              </a:rPr>
              <a:t>BLOCO 3</a:t>
            </a:r>
            <a:endParaRPr lang="en-US" sz="1080" dirty="0"/>
          </a:p>
        </p:txBody>
      </p:sp>
      <p:sp>
        <p:nvSpPr>
          <p:cNvPr id="24" name="Shape 21"/>
          <p:cNvSpPr/>
          <p:nvPr/>
        </p:nvSpPr>
        <p:spPr>
          <a:xfrm>
            <a:off x="1905000" y="4389120"/>
            <a:ext cx="4404360" cy="746760"/>
          </a:xfrm>
          <a:prstGeom prst="roundRect">
            <a:avLst>
              <a:gd name="adj" fmla="val 18367"/>
            </a:avLst>
          </a:prstGeom>
          <a:solidFill>
            <a:srgbClr val="EAF1FF"/>
          </a:solidFill>
          <a:ln w="12700">
            <a:solidFill>
              <a:srgbClr val="EAF1FF">
                <a:alpha val="0"/>
              </a:srgbClr>
            </a:solidFill>
            <a:prstDash val="solid"/>
          </a:ln>
        </p:spPr>
      </p:sp>
      <p:sp>
        <p:nvSpPr>
          <p:cNvPr id="25" name="Text 22"/>
          <p:cNvSpPr/>
          <p:nvPr/>
        </p:nvSpPr>
        <p:spPr>
          <a:xfrm>
            <a:off x="2049780" y="4610100"/>
            <a:ext cx="4114800" cy="311810"/>
          </a:xfrm>
          <a:prstGeom prst="rect">
            <a:avLst/>
          </a:prstGeom>
          <a:noFill/>
          <a:ln/>
        </p:spPr>
        <p:txBody>
          <a:bodyPr wrap="square" lIns="0" tIns="0" rIns="0" bIns="0" rtlCol="0" anchor="ctr"/>
          <a:lstStyle/>
          <a:p>
            <a:pPr algn="l" indent="0" marL="0">
              <a:lnSpc>
                <a:spcPct val="100000"/>
              </a:lnSpc>
              <a:buNone/>
            </a:pPr>
            <a:r>
              <a:rPr lang="en-US" sz="1980" b="1" dirty="0">
                <a:solidFill>
                  <a:srgbClr val="2165D6"/>
                </a:solidFill>
                <a:latin typeface="Consolas" pitchFamily="34" charset="0"/>
                <a:ea typeface="Consolas" pitchFamily="34" charset="-122"/>
                <a:cs typeface="Consolas" pitchFamily="34" charset="-120"/>
              </a:rPr>
              <a:t>LIGAR LED VERDE.</a:t>
            </a:r>
            <a:endParaRPr lang="en-US" sz="1980" dirty="0"/>
          </a:p>
        </p:txBody>
      </p:sp>
      <p:sp>
        <p:nvSpPr>
          <p:cNvPr id="26" name="Shape 23"/>
          <p:cNvSpPr/>
          <p:nvPr/>
        </p:nvSpPr>
        <p:spPr>
          <a:xfrm>
            <a:off x="6438900" y="4770120"/>
            <a:ext cx="678180" cy="0"/>
          </a:xfrm>
          <a:prstGeom prst="line">
            <a:avLst/>
          </a:prstGeom>
          <a:noFill/>
          <a:ln w="22860">
            <a:solidFill>
              <a:srgbClr val="52657B"/>
            </a:solidFill>
            <a:prstDash val="solid"/>
            <a:tailEnd type="triangle"/>
          </a:ln>
        </p:spPr>
      </p:sp>
      <p:sp>
        <p:nvSpPr>
          <p:cNvPr id="27" name="Shape 24"/>
          <p:cNvSpPr/>
          <p:nvPr/>
        </p:nvSpPr>
        <p:spPr>
          <a:xfrm>
            <a:off x="7261860" y="4389120"/>
            <a:ext cx="4442460" cy="746760"/>
          </a:xfrm>
          <a:prstGeom prst="roundRect">
            <a:avLst>
              <a:gd name="adj" fmla="val 18367"/>
            </a:avLst>
          </a:prstGeom>
          <a:solidFill>
            <a:srgbClr val="EAF1FF"/>
          </a:solidFill>
          <a:ln w="12700">
            <a:solidFill>
              <a:srgbClr val="EAF1FF">
                <a:alpha val="0"/>
              </a:srgbClr>
            </a:solidFill>
            <a:prstDash val="solid"/>
          </a:ln>
        </p:spPr>
      </p:sp>
      <p:sp>
        <p:nvSpPr>
          <p:cNvPr id="28" name="Text 25"/>
          <p:cNvSpPr/>
          <p:nvPr/>
        </p:nvSpPr>
        <p:spPr>
          <a:xfrm>
            <a:off x="7399020" y="4610100"/>
            <a:ext cx="4152900" cy="283464"/>
          </a:xfrm>
          <a:prstGeom prst="rect">
            <a:avLst/>
          </a:prstGeom>
          <a:noFill/>
          <a:ln/>
        </p:spPr>
        <p:txBody>
          <a:bodyPr wrap="square" lIns="0" tIns="0" rIns="0" bIns="0" rtlCol="0" anchor="ctr"/>
          <a:lstStyle/>
          <a:p>
            <a:pPr algn="l" indent="0" marL="0">
              <a:lnSpc>
                <a:spcPct val="100000"/>
              </a:lnSpc>
              <a:buNone/>
            </a:pPr>
            <a:r>
              <a:rPr lang="en-US" sz="1800" b="1" dirty="0">
                <a:solidFill>
                  <a:srgbClr val="2165D6"/>
                </a:solidFill>
                <a:latin typeface="Consolas" pitchFamily="34" charset="0"/>
                <a:ea typeface="Consolas" pitchFamily="34" charset="-122"/>
                <a:cs typeface="Consolas" pitchFamily="34" charset="-120"/>
              </a:rPr>
              <a:t>e0c22a6f … 42203dec</a:t>
            </a:r>
            <a:endParaRPr lang="en-US" sz="1800" dirty="0"/>
          </a:p>
        </p:txBody>
      </p:sp>
      <p:sp>
        <p:nvSpPr>
          <p:cNvPr id="29" name="Shape 26"/>
          <p:cNvSpPr/>
          <p:nvPr/>
        </p:nvSpPr>
        <p:spPr>
          <a:xfrm>
            <a:off x="487680" y="5707380"/>
            <a:ext cx="11216640" cy="502920"/>
          </a:xfrm>
          <a:prstGeom prst="roundRect">
            <a:avLst>
              <a:gd name="adj" fmla="val 21212"/>
            </a:avLst>
          </a:prstGeom>
          <a:solidFill>
            <a:srgbClr val="FFF1D9"/>
          </a:solidFill>
          <a:ln w="12700">
            <a:solidFill>
              <a:srgbClr val="FFF1D9">
                <a:alpha val="0"/>
              </a:srgbClr>
            </a:solidFill>
            <a:prstDash val="solid"/>
          </a:ln>
        </p:spPr>
      </p:sp>
      <p:sp>
        <p:nvSpPr>
          <p:cNvPr id="30" name="Text 27"/>
          <p:cNvSpPr/>
          <p:nvPr/>
        </p:nvSpPr>
        <p:spPr>
          <a:xfrm>
            <a:off x="670560" y="582930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A76A12"/>
                </a:solidFill>
                <a:latin typeface="Arial" pitchFamily="34" charset="0"/>
                <a:ea typeface="Arial" pitchFamily="34" charset="-122"/>
                <a:cs typeface="Arial" pitchFamily="34" charset="-120"/>
              </a:rPr>
              <a:t>Um observador consegue reconhecer repetições mesmo sem conhecer o texto.</a:t>
            </a:r>
            <a:endParaRPr lang="en-US" sz="1560" dirty="0"/>
          </a:p>
        </p:txBody>
      </p:sp>
      <p:sp>
        <p:nvSpPr>
          <p:cNvPr id="31" name="Shape 28"/>
          <p:cNvSpPr/>
          <p:nvPr/>
        </p:nvSpPr>
        <p:spPr>
          <a:xfrm>
            <a:off x="487680" y="6461760"/>
            <a:ext cx="11216640" cy="0"/>
          </a:xfrm>
          <a:prstGeom prst="line">
            <a:avLst/>
          </a:prstGeom>
          <a:noFill/>
          <a:ln w="7620">
            <a:solidFill>
              <a:srgbClr val="D7E1EE"/>
            </a:solidFill>
            <a:prstDash val="solid"/>
          </a:ln>
        </p:spPr>
      </p:sp>
      <p:sp>
        <p:nvSpPr>
          <p:cNvPr id="32" name="Text 29"/>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33" name="Text 30"/>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21 / 27</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LIMITES E ESCOLHAS</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Cifrar não garante que ninguém alterou os dados</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ECB não autentica: um atacante pode repetir ou trocar blocos.</a:t>
            </a:r>
            <a:endParaRPr lang="en-US" sz="1620" dirty="0"/>
          </a:p>
        </p:txBody>
      </p:sp>
      <p:sp>
        <p:nvSpPr>
          <p:cNvPr id="8" name="Shape 5"/>
          <p:cNvSpPr/>
          <p:nvPr/>
        </p:nvSpPr>
        <p:spPr>
          <a:xfrm>
            <a:off x="487680" y="2476500"/>
            <a:ext cx="5387340" cy="2270760"/>
          </a:xfrm>
          <a:prstGeom prst="roundRect">
            <a:avLst>
              <a:gd name="adj" fmla="val 6040"/>
            </a:avLst>
          </a:prstGeom>
          <a:solidFill>
            <a:srgbClr val="FFFFFF"/>
          </a:solidFill>
          <a:ln w="12700">
            <a:solidFill>
              <a:srgbClr val="D7E1EE"/>
            </a:solidFill>
            <a:prstDash val="solid"/>
          </a:ln>
        </p:spPr>
      </p:sp>
      <p:sp>
        <p:nvSpPr>
          <p:cNvPr id="9" name="Shape 6"/>
          <p:cNvSpPr/>
          <p:nvPr/>
        </p:nvSpPr>
        <p:spPr>
          <a:xfrm>
            <a:off x="487680" y="2476500"/>
            <a:ext cx="53340" cy="2270760"/>
          </a:xfrm>
          <a:prstGeom prst="rect">
            <a:avLst/>
          </a:prstGeom>
          <a:solidFill>
            <a:srgbClr val="2165D6"/>
          </a:solidFill>
          <a:ln w="12700">
            <a:solidFill>
              <a:srgbClr val="2165D6">
                <a:alpha val="0"/>
              </a:srgbClr>
            </a:solidFill>
            <a:prstDash val="solid"/>
          </a:ln>
        </p:spPr>
      </p:sp>
      <p:sp>
        <p:nvSpPr>
          <p:cNvPr id="10" name="Text 7"/>
          <p:cNvSpPr/>
          <p:nvPr/>
        </p:nvSpPr>
        <p:spPr>
          <a:xfrm>
            <a:off x="678180" y="2651760"/>
            <a:ext cx="500634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NO TRABALHO</a:t>
            </a:r>
            <a:endParaRPr lang="en-US" sz="1920" dirty="0"/>
          </a:p>
        </p:txBody>
      </p:sp>
      <p:sp>
        <p:nvSpPr>
          <p:cNvPr id="11" name="Text 8"/>
          <p:cNvSpPr/>
          <p:nvPr/>
        </p:nvSpPr>
        <p:spPr>
          <a:xfrm>
            <a:off x="678180" y="3238500"/>
            <a:ext cx="50063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ECB + PKCS#7</a:t>
            </a:r>
            <a:endParaRPr lang="en-US" sz="1680" dirty="0"/>
          </a:p>
        </p:txBody>
      </p:sp>
      <p:sp>
        <p:nvSpPr>
          <p:cNvPr id="12" name="Text 9"/>
          <p:cNvSpPr/>
          <p:nvPr/>
        </p:nvSpPr>
        <p:spPr>
          <a:xfrm>
            <a:off x="678180" y="3503066"/>
            <a:ext cx="500634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13" name="Text 10"/>
          <p:cNvSpPr/>
          <p:nvPr/>
        </p:nvSpPr>
        <p:spPr>
          <a:xfrm>
            <a:off x="678180" y="3767633"/>
            <a:ext cx="50063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Ajuda a estudar a cifra e enxergar blocos</a:t>
            </a:r>
            <a:endParaRPr lang="en-US" sz="1680" dirty="0"/>
          </a:p>
        </p:txBody>
      </p:sp>
      <p:sp>
        <p:nvSpPr>
          <p:cNvPr id="14" name="Text 11"/>
          <p:cNvSpPr/>
          <p:nvPr/>
        </p:nvSpPr>
        <p:spPr>
          <a:xfrm>
            <a:off x="678180" y="4032199"/>
            <a:ext cx="50063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repetidos.</a:t>
            </a:r>
            <a:endParaRPr lang="en-US" sz="1680" dirty="0"/>
          </a:p>
        </p:txBody>
      </p:sp>
      <p:sp>
        <p:nvSpPr>
          <p:cNvPr id="15" name="Shape 12"/>
          <p:cNvSpPr/>
          <p:nvPr/>
        </p:nvSpPr>
        <p:spPr>
          <a:xfrm>
            <a:off x="6210300" y="2476500"/>
            <a:ext cx="5494020" cy="2270760"/>
          </a:xfrm>
          <a:prstGeom prst="roundRect">
            <a:avLst>
              <a:gd name="adj" fmla="val 6040"/>
            </a:avLst>
          </a:prstGeom>
          <a:solidFill>
            <a:srgbClr val="FFFFFF"/>
          </a:solidFill>
          <a:ln w="12700">
            <a:solidFill>
              <a:srgbClr val="D7E1EE"/>
            </a:solidFill>
            <a:prstDash val="solid"/>
          </a:ln>
        </p:spPr>
      </p:sp>
      <p:sp>
        <p:nvSpPr>
          <p:cNvPr id="16" name="Shape 13"/>
          <p:cNvSpPr/>
          <p:nvPr/>
        </p:nvSpPr>
        <p:spPr>
          <a:xfrm>
            <a:off x="6210300" y="2476500"/>
            <a:ext cx="53340" cy="2270760"/>
          </a:xfrm>
          <a:prstGeom prst="rect">
            <a:avLst/>
          </a:prstGeom>
          <a:solidFill>
            <a:srgbClr val="008774"/>
          </a:solidFill>
          <a:ln w="12700">
            <a:solidFill>
              <a:srgbClr val="008774">
                <a:alpha val="0"/>
              </a:srgbClr>
            </a:solidFill>
            <a:prstDash val="solid"/>
          </a:ln>
        </p:spPr>
      </p:sp>
      <p:sp>
        <p:nvSpPr>
          <p:cNvPr id="17" name="Text 14"/>
          <p:cNvSpPr/>
          <p:nvPr/>
        </p:nvSpPr>
        <p:spPr>
          <a:xfrm>
            <a:off x="6400800" y="2651760"/>
            <a:ext cx="511302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EM UM PRODUTO</a:t>
            </a:r>
            <a:endParaRPr lang="en-US" sz="1920" dirty="0"/>
          </a:p>
        </p:txBody>
      </p:sp>
      <p:sp>
        <p:nvSpPr>
          <p:cNvPr id="18" name="Text 15"/>
          <p:cNvSpPr/>
          <p:nvPr/>
        </p:nvSpPr>
        <p:spPr>
          <a:xfrm>
            <a:off x="6400800" y="3238500"/>
            <a:ext cx="511302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Um modo autenticado, como GCM, com chave</a:t>
            </a:r>
            <a:endParaRPr lang="en-US" sz="1680" dirty="0"/>
          </a:p>
        </p:txBody>
      </p:sp>
      <p:sp>
        <p:nvSpPr>
          <p:cNvPr id="19" name="Text 16"/>
          <p:cNvSpPr/>
          <p:nvPr/>
        </p:nvSpPr>
        <p:spPr>
          <a:xfrm>
            <a:off x="6400800" y="3503066"/>
            <a:ext cx="511302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secreta e nonce único por chave.</a:t>
            </a:r>
            <a:endParaRPr lang="en-US" sz="1680" dirty="0"/>
          </a:p>
        </p:txBody>
      </p:sp>
      <p:sp>
        <p:nvSpPr>
          <p:cNvPr id="20" name="Shape 17"/>
          <p:cNvSpPr/>
          <p:nvPr/>
        </p:nvSpPr>
        <p:spPr>
          <a:xfrm>
            <a:off x="487680" y="5410200"/>
            <a:ext cx="11216640" cy="502920"/>
          </a:xfrm>
          <a:prstGeom prst="roundRect">
            <a:avLst>
              <a:gd name="adj" fmla="val 21212"/>
            </a:avLst>
          </a:prstGeom>
          <a:solidFill>
            <a:srgbClr val="FFF1D9"/>
          </a:solidFill>
          <a:ln w="12700">
            <a:solidFill>
              <a:srgbClr val="FFF1D9">
                <a:alpha val="0"/>
              </a:srgbClr>
            </a:solidFill>
            <a:prstDash val="solid"/>
          </a:ln>
        </p:spPr>
      </p:sp>
      <p:sp>
        <p:nvSpPr>
          <p:cNvPr id="21" name="Text 18"/>
          <p:cNvSpPr/>
          <p:nvPr/>
        </p:nvSpPr>
        <p:spPr>
          <a:xfrm>
            <a:off x="670560" y="553212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A76A12"/>
                </a:solidFill>
                <a:latin typeface="Arial" pitchFamily="34" charset="0"/>
                <a:ea typeface="Arial" pitchFamily="34" charset="-122"/>
                <a:cs typeface="Arial" pitchFamily="34" charset="-120"/>
              </a:rPr>
              <a:t>Padding inválido pode revelar um erro. Padding válido não comprova integridade.</a:t>
            </a:r>
            <a:endParaRPr lang="en-US" sz="1560" dirty="0"/>
          </a:p>
        </p:txBody>
      </p:sp>
      <p:sp>
        <p:nvSpPr>
          <p:cNvPr id="22" name="Shape 19"/>
          <p:cNvSpPr/>
          <p:nvPr/>
        </p:nvSpPr>
        <p:spPr>
          <a:xfrm>
            <a:off x="487680" y="6461760"/>
            <a:ext cx="11216640" cy="0"/>
          </a:xfrm>
          <a:prstGeom prst="line">
            <a:avLst/>
          </a:prstGeom>
          <a:noFill/>
          <a:ln w="7620">
            <a:solidFill>
              <a:srgbClr val="D7E1EE"/>
            </a:solidFill>
            <a:prstDash val="solid"/>
          </a:ln>
        </p:spPr>
      </p:sp>
      <p:sp>
        <p:nvSpPr>
          <p:cNvPr id="23" name="Text 20"/>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4" name="Text 21"/>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22 / 27</a:t>
            </a:r>
            <a:endParaRPr lang="en-US"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CONVERSA COM A TURMA</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O que conseguimos demonstrar</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O código faz as transformações e as placas recuperam a mensagem da dupla.</a:t>
            </a:r>
            <a:endParaRPr lang="en-US" sz="1620" dirty="0"/>
          </a:p>
        </p:txBody>
      </p:sp>
      <p:sp>
        <p:nvSpPr>
          <p:cNvPr id="8" name="Shape 5"/>
          <p:cNvSpPr/>
          <p:nvPr/>
        </p:nvSpPr>
        <p:spPr>
          <a:xfrm>
            <a:off x="487680" y="2514600"/>
            <a:ext cx="723900" cy="289560"/>
          </a:xfrm>
          <a:prstGeom prst="roundRect">
            <a:avLst>
              <a:gd name="adj" fmla="val 26316"/>
            </a:avLst>
          </a:prstGeom>
          <a:solidFill>
            <a:srgbClr val="EAF1FF"/>
          </a:solidFill>
          <a:ln w="12700">
            <a:solidFill>
              <a:srgbClr val="EAF1FF">
                <a:alpha val="0"/>
              </a:srgbClr>
            </a:solidFill>
            <a:prstDash val="solid"/>
          </a:ln>
        </p:spPr>
      </p:sp>
      <p:sp>
        <p:nvSpPr>
          <p:cNvPr id="9" name="Text 6"/>
          <p:cNvSpPr/>
          <p:nvPr/>
        </p:nvSpPr>
        <p:spPr>
          <a:xfrm>
            <a:off x="579120" y="2560320"/>
            <a:ext cx="5410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Arial" pitchFamily="34" charset="0"/>
                <a:ea typeface="Arial" pitchFamily="34" charset="-122"/>
                <a:cs typeface="Arial" pitchFamily="34" charset="-120"/>
              </a:rPr>
              <a:t>01</a:t>
            </a:r>
            <a:endParaRPr lang="en-US" sz="1080" dirty="0"/>
          </a:p>
        </p:txBody>
      </p:sp>
      <p:sp>
        <p:nvSpPr>
          <p:cNvPr id="10" name="Text 7"/>
          <p:cNvSpPr/>
          <p:nvPr/>
        </p:nvSpPr>
        <p:spPr>
          <a:xfrm>
            <a:off x="1447800" y="2529840"/>
            <a:ext cx="9944100" cy="340157"/>
          </a:xfrm>
          <a:prstGeom prst="rect">
            <a:avLst/>
          </a:prstGeom>
          <a:noFill/>
          <a:ln/>
        </p:spPr>
        <p:txBody>
          <a:bodyPr wrap="square" lIns="0" tIns="0" rIns="0" bIns="0" rtlCol="0" anchor="ctr"/>
          <a:lstStyle/>
          <a:p>
            <a:pPr algn="l" indent="0" marL="0">
              <a:lnSpc>
                <a:spcPct val="100000"/>
              </a:lnSpc>
              <a:buNone/>
            </a:pPr>
            <a:r>
              <a:rPr lang="en-US" sz="2160" b="1" dirty="0">
                <a:solidFill>
                  <a:srgbClr val="182B45"/>
                </a:solidFill>
                <a:latin typeface="Arial" pitchFamily="34" charset="0"/>
                <a:ea typeface="Arial" pitchFamily="34" charset="-122"/>
                <a:cs typeface="Arial" pitchFamily="34" charset="-120"/>
              </a:rPr>
              <a:t>A transforma o texto em bytes cifrados.</a:t>
            </a:r>
            <a:endParaRPr lang="en-US" sz="2160" dirty="0"/>
          </a:p>
        </p:txBody>
      </p:sp>
      <p:sp>
        <p:nvSpPr>
          <p:cNvPr id="11" name="Shape 8"/>
          <p:cNvSpPr/>
          <p:nvPr/>
        </p:nvSpPr>
        <p:spPr>
          <a:xfrm>
            <a:off x="487680" y="3368040"/>
            <a:ext cx="723900" cy="289560"/>
          </a:xfrm>
          <a:prstGeom prst="roundRect">
            <a:avLst>
              <a:gd name="adj" fmla="val 26316"/>
            </a:avLst>
          </a:prstGeom>
          <a:solidFill>
            <a:srgbClr val="E4F6F0"/>
          </a:solidFill>
          <a:ln w="12700">
            <a:solidFill>
              <a:srgbClr val="E4F6F0">
                <a:alpha val="0"/>
              </a:srgbClr>
            </a:solidFill>
            <a:prstDash val="solid"/>
          </a:ln>
        </p:spPr>
      </p:sp>
      <p:sp>
        <p:nvSpPr>
          <p:cNvPr id="12" name="Text 9"/>
          <p:cNvSpPr/>
          <p:nvPr/>
        </p:nvSpPr>
        <p:spPr>
          <a:xfrm>
            <a:off x="579120" y="3413760"/>
            <a:ext cx="5410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008774"/>
                </a:solidFill>
                <a:latin typeface="Arial" pitchFamily="34" charset="0"/>
                <a:ea typeface="Arial" pitchFamily="34" charset="-122"/>
                <a:cs typeface="Arial" pitchFamily="34" charset="-120"/>
              </a:rPr>
              <a:t>02</a:t>
            </a:r>
            <a:endParaRPr lang="en-US" sz="1080" dirty="0"/>
          </a:p>
        </p:txBody>
      </p:sp>
      <p:sp>
        <p:nvSpPr>
          <p:cNvPr id="13" name="Text 10"/>
          <p:cNvSpPr/>
          <p:nvPr/>
        </p:nvSpPr>
        <p:spPr>
          <a:xfrm>
            <a:off x="1447800" y="3383280"/>
            <a:ext cx="9944100" cy="340157"/>
          </a:xfrm>
          <a:prstGeom prst="rect">
            <a:avLst/>
          </a:prstGeom>
          <a:noFill/>
          <a:ln/>
        </p:spPr>
        <p:txBody>
          <a:bodyPr wrap="square" lIns="0" tIns="0" rIns="0" bIns="0" rtlCol="0" anchor="ctr"/>
          <a:lstStyle/>
          <a:p>
            <a:pPr algn="l" indent="0" marL="0">
              <a:lnSpc>
                <a:spcPct val="100000"/>
              </a:lnSpc>
              <a:buNone/>
            </a:pPr>
            <a:r>
              <a:rPr lang="en-US" sz="2160" b="1" dirty="0">
                <a:solidFill>
                  <a:srgbClr val="182B45"/>
                </a:solidFill>
                <a:latin typeface="Arial" pitchFamily="34" charset="0"/>
                <a:ea typeface="Arial" pitchFamily="34" charset="-122"/>
                <a:cs typeface="Arial" pitchFamily="34" charset="-120"/>
              </a:rPr>
              <a:t>A UART transporta o quadro binário.</a:t>
            </a:r>
            <a:endParaRPr lang="en-US" sz="2160" dirty="0"/>
          </a:p>
        </p:txBody>
      </p:sp>
      <p:sp>
        <p:nvSpPr>
          <p:cNvPr id="14" name="Shape 11"/>
          <p:cNvSpPr/>
          <p:nvPr/>
        </p:nvSpPr>
        <p:spPr>
          <a:xfrm>
            <a:off x="487680" y="4221480"/>
            <a:ext cx="723900" cy="289560"/>
          </a:xfrm>
          <a:prstGeom prst="roundRect">
            <a:avLst>
              <a:gd name="adj" fmla="val 26316"/>
            </a:avLst>
          </a:prstGeom>
          <a:solidFill>
            <a:srgbClr val="EAF1FF"/>
          </a:solidFill>
          <a:ln w="12700">
            <a:solidFill>
              <a:srgbClr val="EAF1FF">
                <a:alpha val="0"/>
              </a:srgbClr>
            </a:solidFill>
            <a:prstDash val="solid"/>
          </a:ln>
        </p:spPr>
      </p:sp>
      <p:sp>
        <p:nvSpPr>
          <p:cNvPr id="15" name="Text 12"/>
          <p:cNvSpPr/>
          <p:nvPr/>
        </p:nvSpPr>
        <p:spPr>
          <a:xfrm>
            <a:off x="579120" y="4267200"/>
            <a:ext cx="5410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Arial" pitchFamily="34" charset="0"/>
                <a:ea typeface="Arial" pitchFamily="34" charset="-122"/>
                <a:cs typeface="Arial" pitchFamily="34" charset="-120"/>
              </a:rPr>
              <a:t>03</a:t>
            </a:r>
            <a:endParaRPr lang="en-US" sz="1080" dirty="0"/>
          </a:p>
        </p:txBody>
      </p:sp>
      <p:sp>
        <p:nvSpPr>
          <p:cNvPr id="16" name="Text 13"/>
          <p:cNvSpPr/>
          <p:nvPr/>
        </p:nvSpPr>
        <p:spPr>
          <a:xfrm>
            <a:off x="1447800" y="4236720"/>
            <a:ext cx="9944100" cy="340157"/>
          </a:xfrm>
          <a:prstGeom prst="rect">
            <a:avLst/>
          </a:prstGeom>
          <a:noFill/>
          <a:ln/>
        </p:spPr>
        <p:txBody>
          <a:bodyPr wrap="square" lIns="0" tIns="0" rIns="0" bIns="0" rtlCol="0" anchor="ctr"/>
          <a:lstStyle/>
          <a:p>
            <a:pPr algn="l" indent="0" marL="0">
              <a:lnSpc>
                <a:spcPct val="100000"/>
              </a:lnSpc>
              <a:buNone/>
            </a:pPr>
            <a:r>
              <a:rPr lang="en-US" sz="2160" b="1" dirty="0">
                <a:solidFill>
                  <a:srgbClr val="182B45"/>
                </a:solidFill>
                <a:latin typeface="Arial" pitchFamily="34" charset="0"/>
                <a:ea typeface="Arial" pitchFamily="34" charset="-122"/>
                <a:cs typeface="Arial" pitchFamily="34" charset="-120"/>
              </a:rPr>
              <a:t>B recupera exatamente a mensagem original.</a:t>
            </a:r>
            <a:endParaRPr lang="en-US" sz="2160" dirty="0"/>
          </a:p>
        </p:txBody>
      </p:sp>
      <p:sp>
        <p:nvSpPr>
          <p:cNvPr id="17" name="Shape 14"/>
          <p:cNvSpPr/>
          <p:nvPr/>
        </p:nvSpPr>
        <p:spPr>
          <a:xfrm>
            <a:off x="487680" y="5631180"/>
            <a:ext cx="11216640" cy="502920"/>
          </a:xfrm>
          <a:prstGeom prst="roundRect">
            <a:avLst>
              <a:gd name="adj" fmla="val 21212"/>
            </a:avLst>
          </a:prstGeom>
          <a:solidFill>
            <a:srgbClr val="EAF1FF"/>
          </a:solidFill>
          <a:ln w="12700">
            <a:solidFill>
              <a:srgbClr val="EAF1FF">
                <a:alpha val="0"/>
              </a:srgbClr>
            </a:solidFill>
            <a:prstDash val="solid"/>
          </a:ln>
        </p:spPr>
      </p:sp>
      <p:sp>
        <p:nvSpPr>
          <p:cNvPr id="18" name="Text 15"/>
          <p:cNvSpPr/>
          <p:nvPr/>
        </p:nvSpPr>
        <p:spPr>
          <a:xfrm>
            <a:off x="670560" y="575310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2165D6"/>
                </a:solidFill>
                <a:latin typeface="Arial" pitchFamily="34" charset="0"/>
                <a:ea typeface="Arial" pitchFamily="34" charset="-122"/>
                <a:cs typeface="Arial" pitchFamily="34" charset="-120"/>
              </a:rPr>
              <a:t>Pergunta para a turma: se dois blocos forem iguais, o que o ECB deixa aparecer?</a:t>
            </a:r>
            <a:endParaRPr lang="en-US" sz="1560" dirty="0"/>
          </a:p>
        </p:txBody>
      </p:sp>
      <p:sp>
        <p:nvSpPr>
          <p:cNvPr id="19" name="Shape 16"/>
          <p:cNvSpPr/>
          <p:nvPr/>
        </p:nvSpPr>
        <p:spPr>
          <a:xfrm>
            <a:off x="487680" y="6461760"/>
            <a:ext cx="11216640" cy="0"/>
          </a:xfrm>
          <a:prstGeom prst="line">
            <a:avLst/>
          </a:prstGeom>
          <a:noFill/>
          <a:ln w="7620">
            <a:solidFill>
              <a:srgbClr val="D7E1EE"/>
            </a:solidFill>
            <a:prstDash val="solid"/>
          </a:ln>
        </p:spPr>
      </p:sp>
      <p:sp>
        <p:nvSpPr>
          <p:cNvPr id="20" name="Text 17"/>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1" name="Text 18"/>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23 / 27</a:t>
            </a:r>
            <a:endParaRPr lang="en-US"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APÊNDICE · ETAPA 3</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Apoio: os cinco estados do primeiro bloco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Valores reais da rodada 1. Hexadecimal na ordem dos bytes de entrada/saída.</a:t>
            </a:r>
            <a:endParaRPr lang="en-US" sz="1620" dirty="0"/>
          </a:p>
        </p:txBody>
      </p:sp>
      <p:sp>
        <p:nvSpPr>
          <p:cNvPr id="8" name="Shape 5"/>
          <p:cNvSpPr/>
          <p:nvPr/>
        </p:nvSpPr>
        <p:spPr>
          <a:xfrm>
            <a:off x="487680" y="2400300"/>
            <a:ext cx="11216640" cy="601980"/>
          </a:xfrm>
          <a:prstGeom prst="roundRect">
            <a:avLst>
              <a:gd name="adj" fmla="val 22785"/>
            </a:avLst>
          </a:prstGeom>
          <a:solidFill>
            <a:srgbClr val="EAF1FF"/>
          </a:solidFill>
          <a:ln w="12700">
            <a:solidFill>
              <a:srgbClr val="EAF1FF">
                <a:alpha val="0"/>
              </a:srgbClr>
            </a:solidFill>
            <a:prstDash val="solid"/>
          </a:ln>
        </p:spPr>
      </p:sp>
      <p:sp>
        <p:nvSpPr>
          <p:cNvPr id="9" name="Text 6"/>
          <p:cNvSpPr/>
          <p:nvPr/>
        </p:nvSpPr>
        <p:spPr>
          <a:xfrm>
            <a:off x="632460" y="2583180"/>
            <a:ext cx="41148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2165D6"/>
                </a:solidFill>
                <a:latin typeface="Arial" pitchFamily="34" charset="0"/>
                <a:ea typeface="Arial" pitchFamily="34" charset="-122"/>
                <a:cs typeface="Arial" pitchFamily="34" charset="-120"/>
              </a:rPr>
              <a:t>1 · AddRoundKey inicial</a:t>
            </a:r>
            <a:endParaRPr lang="en-US" sz="1620" dirty="0"/>
          </a:p>
        </p:txBody>
      </p:sp>
      <p:sp>
        <p:nvSpPr>
          <p:cNvPr id="10" name="Text 7"/>
          <p:cNvSpPr/>
          <p:nvPr/>
        </p:nvSpPr>
        <p:spPr>
          <a:xfrm>
            <a:off x="4922520" y="2583180"/>
            <a:ext cx="6553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76020604020300040a030c040403060a</a:t>
            </a:r>
            <a:endParaRPr lang="en-US" sz="1680" dirty="0"/>
          </a:p>
        </p:txBody>
      </p:sp>
      <p:sp>
        <p:nvSpPr>
          <p:cNvPr id="11" name="Shape 8"/>
          <p:cNvSpPr/>
          <p:nvPr/>
        </p:nvSpPr>
        <p:spPr>
          <a:xfrm>
            <a:off x="487680" y="3093720"/>
            <a:ext cx="11216640" cy="601980"/>
          </a:xfrm>
          <a:prstGeom prst="roundRect">
            <a:avLst>
              <a:gd name="adj" fmla="val 22785"/>
            </a:avLst>
          </a:prstGeom>
          <a:solidFill>
            <a:srgbClr val="FFFFFF"/>
          </a:solidFill>
          <a:ln w="12700">
            <a:solidFill>
              <a:srgbClr val="FFFFFF">
                <a:alpha val="0"/>
              </a:srgbClr>
            </a:solidFill>
            <a:prstDash val="solid"/>
          </a:ln>
        </p:spPr>
      </p:sp>
      <p:sp>
        <p:nvSpPr>
          <p:cNvPr id="12" name="Text 9"/>
          <p:cNvSpPr/>
          <p:nvPr/>
        </p:nvSpPr>
        <p:spPr>
          <a:xfrm>
            <a:off x="632460" y="3276600"/>
            <a:ext cx="41148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2165D6"/>
                </a:solidFill>
                <a:latin typeface="Arial" pitchFamily="34" charset="0"/>
                <a:ea typeface="Arial" pitchFamily="34" charset="-122"/>
                <a:cs typeface="Arial" pitchFamily="34" charset="-120"/>
              </a:rPr>
              <a:t>2 · SubBytes</a:t>
            </a:r>
            <a:endParaRPr lang="en-US" sz="1620" dirty="0"/>
          </a:p>
        </p:txBody>
      </p:sp>
      <p:sp>
        <p:nvSpPr>
          <p:cNvPr id="13" name="Text 10"/>
          <p:cNvSpPr/>
          <p:nvPr/>
        </p:nvSpPr>
        <p:spPr>
          <a:xfrm>
            <a:off x="4922520" y="3276600"/>
            <a:ext cx="6553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38776ff2777b63f2677bfef2f27b6f67</a:t>
            </a:r>
            <a:endParaRPr lang="en-US" sz="1680" dirty="0"/>
          </a:p>
        </p:txBody>
      </p:sp>
      <p:sp>
        <p:nvSpPr>
          <p:cNvPr id="14" name="Shape 11"/>
          <p:cNvSpPr/>
          <p:nvPr/>
        </p:nvSpPr>
        <p:spPr>
          <a:xfrm>
            <a:off x="487680" y="3787140"/>
            <a:ext cx="11216640" cy="601980"/>
          </a:xfrm>
          <a:prstGeom prst="roundRect">
            <a:avLst>
              <a:gd name="adj" fmla="val 22785"/>
            </a:avLst>
          </a:prstGeom>
          <a:solidFill>
            <a:srgbClr val="EAF1FF"/>
          </a:solidFill>
          <a:ln w="12700">
            <a:solidFill>
              <a:srgbClr val="EAF1FF">
                <a:alpha val="0"/>
              </a:srgbClr>
            </a:solidFill>
            <a:prstDash val="solid"/>
          </a:ln>
        </p:spPr>
      </p:sp>
      <p:sp>
        <p:nvSpPr>
          <p:cNvPr id="15" name="Text 12"/>
          <p:cNvSpPr/>
          <p:nvPr/>
        </p:nvSpPr>
        <p:spPr>
          <a:xfrm>
            <a:off x="632460" y="3970020"/>
            <a:ext cx="41148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2165D6"/>
                </a:solidFill>
                <a:latin typeface="Arial" pitchFamily="34" charset="0"/>
                <a:ea typeface="Arial" pitchFamily="34" charset="-122"/>
                <a:cs typeface="Arial" pitchFamily="34" charset="-120"/>
              </a:rPr>
              <a:t>3 · ShiftRows</a:t>
            </a:r>
            <a:endParaRPr lang="en-US" sz="1620" dirty="0"/>
          </a:p>
        </p:txBody>
      </p:sp>
      <p:sp>
        <p:nvSpPr>
          <p:cNvPr id="16" name="Text 13"/>
          <p:cNvSpPr/>
          <p:nvPr/>
        </p:nvSpPr>
        <p:spPr>
          <a:xfrm>
            <a:off x="4922520" y="3970020"/>
            <a:ext cx="6553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387bfe67777b6ff2677b6ff2f27763f2</a:t>
            </a:r>
            <a:endParaRPr lang="en-US" sz="1680" dirty="0"/>
          </a:p>
        </p:txBody>
      </p:sp>
      <p:sp>
        <p:nvSpPr>
          <p:cNvPr id="17" name="Shape 14"/>
          <p:cNvSpPr/>
          <p:nvPr/>
        </p:nvSpPr>
        <p:spPr>
          <a:xfrm>
            <a:off x="487680" y="4480560"/>
            <a:ext cx="11216640" cy="601980"/>
          </a:xfrm>
          <a:prstGeom prst="roundRect">
            <a:avLst>
              <a:gd name="adj" fmla="val 22785"/>
            </a:avLst>
          </a:prstGeom>
          <a:solidFill>
            <a:srgbClr val="FFFFFF"/>
          </a:solidFill>
          <a:ln w="12700">
            <a:solidFill>
              <a:srgbClr val="FFFFFF">
                <a:alpha val="0"/>
              </a:srgbClr>
            </a:solidFill>
            <a:prstDash val="solid"/>
          </a:ln>
        </p:spPr>
      </p:sp>
      <p:sp>
        <p:nvSpPr>
          <p:cNvPr id="18" name="Text 15"/>
          <p:cNvSpPr/>
          <p:nvPr/>
        </p:nvSpPr>
        <p:spPr>
          <a:xfrm>
            <a:off x="632460" y="4663440"/>
            <a:ext cx="41148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2165D6"/>
                </a:solidFill>
                <a:latin typeface="Arial" pitchFamily="34" charset="0"/>
                <a:ea typeface="Arial" pitchFamily="34" charset="-122"/>
                <a:cs typeface="Arial" pitchFamily="34" charset="-120"/>
              </a:rPr>
              <a:t>4 · MixColumns</a:t>
            </a:r>
            <a:endParaRPr lang="en-US" sz="1620" dirty="0"/>
          </a:p>
        </p:txBody>
      </p:sp>
      <p:sp>
        <p:nvSpPr>
          <p:cNvPr id="19" name="Text 16"/>
          <p:cNvSpPr/>
          <p:nvPr/>
        </p:nvSpPr>
        <p:spPr>
          <a:xfrm>
            <a:off x="4922520" y="4663440"/>
            <a:ext cx="6553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64b00d03fec2df72ded2cf42f74b4ee6</a:t>
            </a:r>
            <a:endParaRPr lang="en-US" sz="1680" dirty="0"/>
          </a:p>
        </p:txBody>
      </p:sp>
      <p:sp>
        <p:nvSpPr>
          <p:cNvPr id="20" name="Shape 17"/>
          <p:cNvSpPr/>
          <p:nvPr/>
        </p:nvSpPr>
        <p:spPr>
          <a:xfrm>
            <a:off x="487680" y="5173980"/>
            <a:ext cx="11216640" cy="601980"/>
          </a:xfrm>
          <a:prstGeom prst="roundRect">
            <a:avLst>
              <a:gd name="adj" fmla="val 22785"/>
            </a:avLst>
          </a:prstGeom>
          <a:solidFill>
            <a:srgbClr val="EAF1FF"/>
          </a:solidFill>
          <a:ln w="12700">
            <a:solidFill>
              <a:srgbClr val="EAF1FF">
                <a:alpha val="0"/>
              </a:srgbClr>
            </a:solidFill>
            <a:prstDash val="solid"/>
          </a:ln>
        </p:spPr>
      </p:sp>
      <p:sp>
        <p:nvSpPr>
          <p:cNvPr id="21" name="Text 18"/>
          <p:cNvSpPr/>
          <p:nvPr/>
        </p:nvSpPr>
        <p:spPr>
          <a:xfrm>
            <a:off x="632460" y="5356860"/>
            <a:ext cx="4114800" cy="255118"/>
          </a:xfrm>
          <a:prstGeom prst="rect">
            <a:avLst/>
          </a:prstGeom>
          <a:noFill/>
          <a:ln/>
        </p:spPr>
        <p:txBody>
          <a:bodyPr wrap="square" lIns="0" tIns="0" rIns="0" bIns="0" rtlCol="0" anchor="ctr"/>
          <a:lstStyle/>
          <a:p>
            <a:pPr algn="l" indent="0" marL="0">
              <a:lnSpc>
                <a:spcPct val="100000"/>
              </a:lnSpc>
              <a:buNone/>
            </a:pPr>
            <a:r>
              <a:rPr lang="en-US" sz="1620" b="1" dirty="0">
                <a:solidFill>
                  <a:srgbClr val="2165D6"/>
                </a:solidFill>
                <a:latin typeface="Arial" pitchFamily="34" charset="0"/>
                <a:ea typeface="Arial" pitchFamily="34" charset="-122"/>
                <a:cs typeface="Arial" pitchFamily="34" charset="-120"/>
              </a:rPr>
              <a:t>5 · AddRoundKey · chave 1</a:t>
            </a:r>
            <a:endParaRPr lang="en-US" sz="1620" dirty="0"/>
          </a:p>
        </p:txBody>
      </p:sp>
      <p:sp>
        <p:nvSpPr>
          <p:cNvPr id="22" name="Text 19"/>
          <p:cNvSpPr/>
          <p:nvPr/>
        </p:nvSpPr>
        <p:spPr>
          <a:xfrm>
            <a:off x="4922520" y="5356860"/>
            <a:ext cx="65532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Consolas" pitchFamily="34" charset="0"/>
                <a:ea typeface="Consolas" pitchFamily="34" charset="-122"/>
                <a:cs typeface="Consolas" pitchFamily="34" charset="-120"/>
              </a:rPr>
              <a:t>711efe2fdb5c1d6dc97b3569d4d081fc</a:t>
            </a:r>
            <a:endParaRPr lang="en-US" sz="1680" dirty="0"/>
          </a:p>
        </p:txBody>
      </p:sp>
      <p:sp>
        <p:nvSpPr>
          <p:cNvPr id="23" name="Shape 20"/>
          <p:cNvSpPr/>
          <p:nvPr/>
        </p:nvSpPr>
        <p:spPr>
          <a:xfrm>
            <a:off x="487680" y="6461760"/>
            <a:ext cx="11216640" cy="0"/>
          </a:xfrm>
          <a:prstGeom prst="line">
            <a:avLst/>
          </a:prstGeom>
          <a:noFill/>
          <a:ln w="7620">
            <a:solidFill>
              <a:srgbClr val="D7E1EE"/>
            </a:solidFill>
            <a:prstDash val="solid"/>
          </a:ln>
        </p:spPr>
      </p:sp>
      <p:sp>
        <p:nvSpPr>
          <p:cNvPr id="24" name="Text 21"/>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5" name="Text 22"/>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24 / 27</a:t>
            </a:r>
            <a:endParaRPr lang="en-US" sz="10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APÊNDICE · CÓDIGO REAL</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Apoio: a decifragem desfaz o caminho</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 placa B usa as operações inversas com as chaves em ordem contrária.</a:t>
            </a:r>
            <a:endParaRPr lang="en-US" sz="1620" dirty="0"/>
          </a:p>
        </p:txBody>
      </p:sp>
      <p:sp>
        <p:nvSpPr>
          <p:cNvPr id="8" name="Shape 5"/>
          <p:cNvSpPr/>
          <p:nvPr/>
        </p:nvSpPr>
        <p:spPr>
          <a:xfrm>
            <a:off x="487680" y="2438400"/>
            <a:ext cx="11216640" cy="3467100"/>
          </a:xfrm>
          <a:prstGeom prst="roundRect">
            <a:avLst>
              <a:gd name="adj" fmla="val 3956"/>
            </a:avLst>
          </a:prstGeom>
          <a:solidFill>
            <a:srgbClr val="F0F4FA"/>
          </a:solidFill>
          <a:ln w="12700">
            <a:solidFill>
              <a:srgbClr val="D7E1EE"/>
            </a:solidFill>
            <a:prstDash val="solid"/>
          </a:ln>
        </p:spPr>
      </p:sp>
      <p:sp>
        <p:nvSpPr>
          <p:cNvPr id="9" name="Shape 6"/>
          <p:cNvSpPr/>
          <p:nvPr/>
        </p:nvSpPr>
        <p:spPr>
          <a:xfrm>
            <a:off x="487680" y="2438400"/>
            <a:ext cx="11216640" cy="327660"/>
          </a:xfrm>
          <a:prstGeom prst="roundRect">
            <a:avLst>
              <a:gd name="adj" fmla="val 32558"/>
            </a:avLst>
          </a:prstGeom>
          <a:solidFill>
            <a:srgbClr val="EAF1FF"/>
          </a:solidFill>
          <a:ln w="12700">
            <a:solidFill>
              <a:srgbClr val="EAF1FF">
                <a:alpha val="0"/>
              </a:srgbClr>
            </a:solidFill>
            <a:prstDash val="solid"/>
          </a:ln>
        </p:spPr>
      </p:sp>
      <p:sp>
        <p:nvSpPr>
          <p:cNvPr id="10" name="Text 7"/>
          <p:cNvSpPr/>
          <p:nvPr/>
        </p:nvSpPr>
        <p:spPr>
          <a:xfrm>
            <a:off x="624840" y="2506980"/>
            <a:ext cx="10942320" cy="170078"/>
          </a:xfrm>
          <a:prstGeom prst="rect">
            <a:avLst/>
          </a:prstGeom>
          <a:noFill/>
          <a:ln/>
        </p:spPr>
        <p:txBody>
          <a:bodyPr wrap="square" lIns="0" tIns="0" rIns="0" bIns="0" rtlCol="0" anchor="ctr"/>
          <a:lstStyle/>
          <a:p>
            <a:pPr algn="l" indent="0" marL="0">
              <a:lnSpc>
                <a:spcPct val="100000"/>
              </a:lnSpc>
              <a:buNone/>
            </a:pPr>
            <a:r>
              <a:rPr lang="en-US" sz="1080" b="1" dirty="0">
                <a:solidFill>
                  <a:srgbClr val="2165D6"/>
                </a:solidFill>
                <a:latin typeface="Consolas" pitchFamily="34" charset="0"/>
                <a:ea typeface="Consolas" pitchFamily="34" charset="-122"/>
                <a:cs typeface="Consolas" pitchFamily="34" charset="-120"/>
              </a:rPr>
              <a:t>aes128.c · dentro de aes128_decifrar_bloco()</a:t>
            </a:r>
            <a:endParaRPr lang="en-US" sz="1080" dirty="0"/>
          </a:p>
        </p:txBody>
      </p:sp>
      <p:sp>
        <p:nvSpPr>
          <p:cNvPr id="11" name="Text 8"/>
          <p:cNvSpPr/>
          <p:nvPr/>
        </p:nvSpPr>
        <p:spPr>
          <a:xfrm>
            <a:off x="655320" y="2918460"/>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aes_add_round_key(s, ctx-&gt;chaves_rodada[AES128_RODADAS]);</a:t>
            </a:r>
            <a:endParaRPr lang="en-US" sz="1740" dirty="0"/>
          </a:p>
        </p:txBody>
      </p:sp>
      <p:sp>
        <p:nvSpPr>
          <p:cNvPr id="12" name="Text 9"/>
          <p:cNvSpPr/>
          <p:nvPr/>
        </p:nvSpPr>
        <p:spPr>
          <a:xfrm>
            <a:off x="655320" y="3192475"/>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for (int r = AES128_RODADAS - 1; r &gt;= 0; --r) {</a:t>
            </a:r>
            <a:endParaRPr lang="en-US" sz="1740" dirty="0"/>
          </a:p>
        </p:txBody>
      </p:sp>
      <p:sp>
        <p:nvSpPr>
          <p:cNvPr id="13" name="Text 10"/>
          <p:cNvSpPr/>
          <p:nvPr/>
        </p:nvSpPr>
        <p:spPr>
          <a:xfrm>
            <a:off x="655320" y="3466490"/>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aes_inv_shift_rows(s);</a:t>
            </a:r>
            <a:endParaRPr lang="en-US" sz="1740" dirty="0"/>
          </a:p>
        </p:txBody>
      </p:sp>
      <p:sp>
        <p:nvSpPr>
          <p:cNvPr id="14" name="Text 11"/>
          <p:cNvSpPr/>
          <p:nvPr/>
        </p:nvSpPr>
        <p:spPr>
          <a:xfrm>
            <a:off x="655320" y="3740506"/>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aes_inv_sub_bytes(s);</a:t>
            </a:r>
            <a:endParaRPr lang="en-US" sz="1740" dirty="0"/>
          </a:p>
        </p:txBody>
      </p:sp>
      <p:sp>
        <p:nvSpPr>
          <p:cNvPr id="15" name="Text 12"/>
          <p:cNvSpPr/>
          <p:nvPr/>
        </p:nvSpPr>
        <p:spPr>
          <a:xfrm>
            <a:off x="655320" y="4014521"/>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aes_add_round_key(s, ctx-&gt;chaves_rodada[r]);</a:t>
            </a:r>
            <a:endParaRPr lang="en-US" sz="1740" dirty="0"/>
          </a:p>
        </p:txBody>
      </p:sp>
      <p:sp>
        <p:nvSpPr>
          <p:cNvPr id="16" name="Text 13"/>
          <p:cNvSpPr/>
          <p:nvPr/>
        </p:nvSpPr>
        <p:spPr>
          <a:xfrm>
            <a:off x="655320" y="4288536"/>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if (r != 0) aes_inv_mix_columns(s);</a:t>
            </a:r>
            <a:endParaRPr lang="en-US" sz="1740" dirty="0"/>
          </a:p>
        </p:txBody>
      </p:sp>
      <p:sp>
        <p:nvSpPr>
          <p:cNvPr id="17" name="Text 14"/>
          <p:cNvSpPr/>
          <p:nvPr/>
        </p:nvSpPr>
        <p:spPr>
          <a:xfrm>
            <a:off x="655320" y="4562551"/>
            <a:ext cx="10881360" cy="274015"/>
          </a:xfrm>
          <a:prstGeom prst="rect">
            <a:avLst/>
          </a:prstGeom>
          <a:noFill/>
          <a:ln/>
        </p:spPr>
        <p:txBody>
          <a:bodyPr wrap="square" lIns="0" tIns="0" rIns="0" bIns="0" rtlCol="0" anchor="ctr"/>
          <a:lstStyle/>
          <a:p>
            <a:pPr algn="l" indent="0" marL="0">
              <a:lnSpc>
                <a:spcPct val="100000"/>
              </a:lnSpc>
              <a:buNone/>
            </a:pPr>
            <a:r>
              <a:rPr lang="en-US" sz="1740" dirty="0">
                <a:solidFill>
                  <a:srgbClr val="182B45"/>
                </a:solidFill>
                <a:latin typeface="Consolas" pitchFamily="34" charset="0"/>
                <a:ea typeface="Consolas" pitchFamily="34" charset="-122"/>
                <a:cs typeface="Consolas" pitchFamily="34" charset="-120"/>
              </a:rPr>
              <a:t>  }</a:t>
            </a:r>
            <a:endParaRPr lang="en-US" sz="1740" dirty="0"/>
          </a:p>
        </p:txBody>
      </p:sp>
      <p:sp>
        <p:nvSpPr>
          <p:cNvPr id="18" name="Shape 15"/>
          <p:cNvSpPr/>
          <p:nvPr/>
        </p:nvSpPr>
        <p:spPr>
          <a:xfrm>
            <a:off x="487680" y="6461760"/>
            <a:ext cx="11216640" cy="0"/>
          </a:xfrm>
          <a:prstGeom prst="line">
            <a:avLst/>
          </a:prstGeom>
          <a:noFill/>
          <a:ln w="7620">
            <a:solidFill>
              <a:srgbClr val="D7E1EE"/>
            </a:solidFill>
            <a:prstDash val="solid"/>
          </a:ln>
        </p:spPr>
      </p:sp>
      <p:sp>
        <p:nvSpPr>
          <p:cNvPr id="19" name="Text 16"/>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0" name="Text 17"/>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25 / 27</a:t>
            </a:r>
            <a:endParaRPr lang="en-US" sz="10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APÊNDICE · DIAGNÓSTICO UART</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Apoio: encontre a resposta que não chegou</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Atividade complementar com os logs históricos do diagnóstico sem criptografia.</a:t>
            </a:r>
            <a:endParaRPr lang="en-US" sz="1620" dirty="0"/>
          </a:p>
        </p:txBody>
      </p:sp>
      <p:sp>
        <p:nvSpPr>
          <p:cNvPr id="8" name="Shape 5"/>
          <p:cNvSpPr/>
          <p:nvPr/>
        </p:nvSpPr>
        <p:spPr>
          <a:xfrm>
            <a:off x="487680" y="2484120"/>
            <a:ext cx="5394960" cy="1981200"/>
          </a:xfrm>
          <a:prstGeom prst="roundRect">
            <a:avLst>
              <a:gd name="adj" fmla="val 6923"/>
            </a:avLst>
          </a:prstGeom>
          <a:solidFill>
            <a:srgbClr val="FFFFFF"/>
          </a:solidFill>
          <a:ln w="12700">
            <a:solidFill>
              <a:srgbClr val="D7E1EE"/>
            </a:solidFill>
            <a:prstDash val="solid"/>
          </a:ln>
        </p:spPr>
      </p:sp>
      <p:sp>
        <p:nvSpPr>
          <p:cNvPr id="9" name="Shape 6"/>
          <p:cNvSpPr/>
          <p:nvPr/>
        </p:nvSpPr>
        <p:spPr>
          <a:xfrm>
            <a:off x="487680" y="2484120"/>
            <a:ext cx="53340" cy="1981200"/>
          </a:xfrm>
          <a:prstGeom prst="rect">
            <a:avLst/>
          </a:prstGeom>
          <a:solidFill>
            <a:srgbClr val="008774"/>
          </a:solidFill>
          <a:ln w="12700">
            <a:solidFill>
              <a:srgbClr val="008774">
                <a:alpha val="0"/>
              </a:srgbClr>
            </a:solidFill>
            <a:prstDash val="solid"/>
          </a:ln>
        </p:spPr>
      </p:sp>
      <p:sp>
        <p:nvSpPr>
          <p:cNvPr id="10" name="Text 7"/>
          <p:cNvSpPr/>
          <p:nvPr/>
        </p:nvSpPr>
        <p:spPr>
          <a:xfrm>
            <a:off x="678180" y="2659380"/>
            <a:ext cx="501396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B · RESPONDEU</a:t>
            </a:r>
            <a:endParaRPr lang="en-US" sz="1920" dirty="0"/>
          </a:p>
        </p:txBody>
      </p:sp>
      <p:sp>
        <p:nvSpPr>
          <p:cNvPr id="11" name="Text 8"/>
          <p:cNvSpPr/>
          <p:nvPr/>
        </p:nvSpPr>
        <p:spPr>
          <a:xfrm>
            <a:off x="678180" y="3246120"/>
            <a:ext cx="50139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1.000 PINGs recebidos</a:t>
            </a:r>
            <a:endParaRPr lang="en-US" sz="1680" dirty="0"/>
          </a:p>
        </p:txBody>
      </p:sp>
      <p:sp>
        <p:nvSpPr>
          <p:cNvPr id="12" name="Text 9"/>
          <p:cNvSpPr/>
          <p:nvPr/>
        </p:nvSpPr>
        <p:spPr>
          <a:xfrm>
            <a:off x="678180" y="3510686"/>
            <a:ext cx="501396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1.000 PONGs registrados no envio</a:t>
            </a:r>
            <a:endParaRPr lang="en-US" sz="1680" dirty="0"/>
          </a:p>
        </p:txBody>
      </p:sp>
      <p:sp>
        <p:nvSpPr>
          <p:cNvPr id="13" name="Shape 10"/>
          <p:cNvSpPr/>
          <p:nvPr/>
        </p:nvSpPr>
        <p:spPr>
          <a:xfrm>
            <a:off x="6217920" y="2484120"/>
            <a:ext cx="5486400" cy="1981200"/>
          </a:xfrm>
          <a:prstGeom prst="roundRect">
            <a:avLst>
              <a:gd name="adj" fmla="val 6923"/>
            </a:avLst>
          </a:prstGeom>
          <a:solidFill>
            <a:srgbClr val="FFFFFF"/>
          </a:solidFill>
          <a:ln w="12700">
            <a:solidFill>
              <a:srgbClr val="D7E1EE"/>
            </a:solidFill>
            <a:prstDash val="solid"/>
          </a:ln>
        </p:spPr>
      </p:sp>
      <p:sp>
        <p:nvSpPr>
          <p:cNvPr id="14" name="Shape 11"/>
          <p:cNvSpPr/>
          <p:nvPr/>
        </p:nvSpPr>
        <p:spPr>
          <a:xfrm>
            <a:off x="6217920" y="2484120"/>
            <a:ext cx="53340" cy="1981200"/>
          </a:xfrm>
          <a:prstGeom prst="rect">
            <a:avLst/>
          </a:prstGeom>
          <a:solidFill>
            <a:srgbClr val="A76A12"/>
          </a:solidFill>
          <a:ln w="12700">
            <a:solidFill>
              <a:srgbClr val="A76A12">
                <a:alpha val="0"/>
              </a:srgbClr>
            </a:solidFill>
            <a:prstDash val="solid"/>
          </a:ln>
        </p:spPr>
      </p:sp>
      <p:sp>
        <p:nvSpPr>
          <p:cNvPr id="15" name="Text 12"/>
          <p:cNvSpPr/>
          <p:nvPr/>
        </p:nvSpPr>
        <p:spPr>
          <a:xfrm>
            <a:off x="6408420" y="2659380"/>
            <a:ext cx="510540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A76A12"/>
                </a:solidFill>
                <a:latin typeface="Arial" pitchFamily="34" charset="0"/>
                <a:ea typeface="Arial" pitchFamily="34" charset="-122"/>
                <a:cs typeface="Arial" pitchFamily="34" charset="-120"/>
              </a:rPr>
              <a:t>A · CONTOU</a:t>
            </a:r>
            <a:endParaRPr lang="en-US" sz="1920" dirty="0"/>
          </a:p>
        </p:txBody>
      </p:sp>
      <p:sp>
        <p:nvSpPr>
          <p:cNvPr id="16" name="Text 13"/>
          <p:cNvSpPr/>
          <p:nvPr/>
        </p:nvSpPr>
        <p:spPr>
          <a:xfrm>
            <a:off x="6408420" y="3246120"/>
            <a:ext cx="51054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999 PONGs recebidos</a:t>
            </a:r>
            <a:endParaRPr lang="en-US" sz="1680" dirty="0"/>
          </a:p>
        </p:txBody>
      </p:sp>
      <p:sp>
        <p:nvSpPr>
          <p:cNvPr id="17" name="Text 14"/>
          <p:cNvSpPr/>
          <p:nvPr/>
        </p:nvSpPr>
        <p:spPr>
          <a:xfrm>
            <a:off x="6408420" y="3510686"/>
            <a:ext cx="510540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Faltou a sequência 1</a:t>
            </a:r>
            <a:endParaRPr lang="en-US" sz="1680" dirty="0"/>
          </a:p>
        </p:txBody>
      </p:sp>
      <p:sp>
        <p:nvSpPr>
          <p:cNvPr id="18" name="Text 15"/>
          <p:cNvSpPr/>
          <p:nvPr/>
        </p:nvSpPr>
        <p:spPr>
          <a:xfrm>
            <a:off x="632460" y="4831080"/>
            <a:ext cx="10896600" cy="330708"/>
          </a:xfrm>
          <a:prstGeom prst="rect">
            <a:avLst/>
          </a:prstGeom>
          <a:noFill/>
          <a:ln/>
        </p:spPr>
        <p:txBody>
          <a:bodyPr wrap="square" lIns="0" tIns="0" rIns="0" bIns="0" rtlCol="0" anchor="ctr"/>
          <a:lstStyle/>
          <a:p>
            <a:pPr algn="l" indent="0" marL="0">
              <a:lnSpc>
                <a:spcPct val="100000"/>
              </a:lnSpc>
              <a:buNone/>
            </a:pPr>
            <a:r>
              <a:rPr lang="en-US" sz="2100" b="1" dirty="0">
                <a:solidFill>
                  <a:srgbClr val="182B45"/>
                </a:solidFill>
                <a:latin typeface="Arial" pitchFamily="34" charset="0"/>
                <a:ea typeface="Arial" pitchFamily="34" charset="-122"/>
                <a:cs typeface="Arial" pitchFamily="34" charset="-120"/>
              </a:rPr>
              <a:t>Pergunta: o enlace funcionou? E passou no teste de zero perdas?</a:t>
            </a:r>
            <a:endParaRPr lang="en-US" sz="2100" dirty="0"/>
          </a:p>
        </p:txBody>
      </p:sp>
      <p:sp>
        <p:nvSpPr>
          <p:cNvPr id="19" name="Shape 16"/>
          <p:cNvSpPr/>
          <p:nvPr/>
        </p:nvSpPr>
        <p:spPr>
          <a:xfrm>
            <a:off x="487680" y="5707380"/>
            <a:ext cx="11216640" cy="502920"/>
          </a:xfrm>
          <a:prstGeom prst="roundRect">
            <a:avLst>
              <a:gd name="adj" fmla="val 21212"/>
            </a:avLst>
          </a:prstGeom>
          <a:solidFill>
            <a:srgbClr val="FFF1D9"/>
          </a:solidFill>
          <a:ln w="12700">
            <a:solidFill>
              <a:srgbClr val="FFF1D9">
                <a:alpha val="0"/>
              </a:srgbClr>
            </a:solidFill>
            <a:prstDash val="solid"/>
          </a:ln>
        </p:spPr>
      </p:sp>
      <p:sp>
        <p:nvSpPr>
          <p:cNvPr id="20" name="Text 17"/>
          <p:cNvSpPr/>
          <p:nvPr/>
        </p:nvSpPr>
        <p:spPr>
          <a:xfrm>
            <a:off x="670560" y="5829300"/>
            <a:ext cx="10850880" cy="245669"/>
          </a:xfrm>
          <a:prstGeom prst="rect">
            <a:avLst/>
          </a:prstGeom>
          <a:noFill/>
          <a:ln/>
        </p:spPr>
        <p:txBody>
          <a:bodyPr wrap="square" lIns="0" tIns="0" rIns="0" bIns="0" rtlCol="0" anchor="ctr"/>
          <a:lstStyle/>
          <a:p>
            <a:pPr algn="l" indent="0" marL="0">
              <a:lnSpc>
                <a:spcPct val="100000"/>
              </a:lnSpc>
              <a:buNone/>
            </a:pPr>
            <a:r>
              <a:rPr lang="en-US" sz="1560" b="1" dirty="0">
                <a:solidFill>
                  <a:srgbClr val="A76A12"/>
                </a:solidFill>
                <a:latin typeface="Arial" pitchFamily="34" charset="0"/>
                <a:ea typeface="Arial" pitchFamily="34" charset="-122"/>
                <a:cs typeface="Arial" pitchFamily="34" charset="-120"/>
              </a:rPr>
              <a:t>O enlace foi demonstrado nos dois sentidos. O resumo estrito terminou FAIL.</a:t>
            </a:r>
            <a:endParaRPr lang="en-US" sz="1560" dirty="0"/>
          </a:p>
        </p:txBody>
      </p:sp>
      <p:sp>
        <p:nvSpPr>
          <p:cNvPr id="21" name="Shape 18"/>
          <p:cNvSpPr/>
          <p:nvPr/>
        </p:nvSpPr>
        <p:spPr>
          <a:xfrm>
            <a:off x="487680" y="6461760"/>
            <a:ext cx="11216640" cy="0"/>
          </a:xfrm>
          <a:prstGeom prst="line">
            <a:avLst/>
          </a:prstGeom>
          <a:noFill/>
          <a:ln w="7620">
            <a:solidFill>
              <a:srgbClr val="D7E1EE"/>
            </a:solidFill>
            <a:prstDash val="solid"/>
          </a:ln>
        </p:spPr>
      </p:sp>
      <p:sp>
        <p:nvSpPr>
          <p:cNvPr id="22" name="Text 19"/>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3" name="Text 20"/>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26 / 27</a:t>
            </a:r>
            <a:endParaRPr lang="en-US" sz="10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E"/>
        </a:solidFill>
      </p:bgPr>
    </p:bg>
    <p:spTree>
      <p:nvGrpSpPr>
        <p:cNvPr id="1" name=""/>
        <p:cNvGrpSpPr/>
        <p:nvPr/>
      </p:nvGrpSpPr>
      <p:grpSpPr>
        <a:xfrm>
          <a:off x="0" y="0"/>
          <a:ext cx="0" cy="0"/>
          <a:chOff x="0" y="0"/>
          <a:chExt cx="0" cy="0"/>
        </a:xfrm>
      </p:grpSpPr>
      <p:sp>
        <p:nvSpPr>
          <p:cNvPr id="3" name="Shape 0"/>
          <p:cNvSpPr/>
          <p:nvPr/>
        </p:nvSpPr>
        <p:spPr>
          <a:xfrm>
            <a:off x="0" y="0"/>
            <a:ext cx="12192000" cy="6858000"/>
          </a:xfrm>
          <a:prstGeom prst="rect">
            <a:avLst/>
          </a:prstGeom>
          <a:solidFill>
            <a:srgbClr val="FAFBFE"/>
          </a:solidFill>
          <a:ln w="12700">
            <a:solidFill>
              <a:srgbClr val="FAFBFE">
                <a:alpha val="0"/>
              </a:srgbClr>
            </a:solidFill>
            <a:prstDash val="solid"/>
          </a:ln>
        </p:spPr>
      </p:sp>
      <p:sp>
        <p:nvSpPr>
          <p:cNvPr id="4" name="Shape 1"/>
          <p:cNvSpPr/>
          <p:nvPr/>
        </p:nvSpPr>
        <p:spPr>
          <a:xfrm>
            <a:off x="487680" y="472440"/>
            <a:ext cx="53340" cy="236220"/>
          </a:xfrm>
          <a:prstGeom prst="roundRect">
            <a:avLst>
              <a:gd name="adj" fmla="val 42857"/>
            </a:avLst>
          </a:prstGeom>
          <a:solidFill>
            <a:srgbClr val="2165D6"/>
          </a:solidFill>
          <a:ln w="12700">
            <a:solidFill>
              <a:srgbClr val="2165D6">
                <a:alpha val="0"/>
              </a:srgbClr>
            </a:solidFill>
            <a:prstDash val="solid"/>
          </a:ln>
        </p:spPr>
      </p:sp>
      <p:sp>
        <p:nvSpPr>
          <p:cNvPr id="5" name="Text 2"/>
          <p:cNvSpPr/>
          <p:nvPr/>
        </p:nvSpPr>
        <p:spPr>
          <a:xfrm>
            <a:off x="670560" y="480060"/>
            <a:ext cx="10591800" cy="207874"/>
          </a:xfrm>
          <a:prstGeom prst="rect">
            <a:avLst/>
          </a:prstGeom>
          <a:noFill/>
          <a:ln/>
        </p:spPr>
        <p:txBody>
          <a:bodyPr wrap="square" lIns="0" tIns="0" rIns="0" bIns="0" rtlCol="0" anchor="ctr"/>
          <a:lstStyle/>
          <a:p>
            <a:pPr algn="l" indent="0" marL="0">
              <a:lnSpc>
                <a:spcPct val="100000"/>
              </a:lnSpc>
              <a:buNone/>
            </a:pPr>
            <a:r>
              <a:rPr lang="en-US" sz="1320" b="1" dirty="0">
                <a:solidFill>
                  <a:srgbClr val="2165D6"/>
                </a:solidFill>
                <a:latin typeface="Arial" pitchFamily="34" charset="0"/>
                <a:ea typeface="Arial" pitchFamily="34" charset="-122"/>
                <a:cs typeface="Arial" pitchFamily="34" charset="-120"/>
              </a:rPr>
              <a:t>APÊNDICE · REFERÊNCIAS</a:t>
            </a:r>
            <a:endParaRPr lang="en-US" sz="1320" dirty="0"/>
          </a:p>
        </p:txBody>
      </p:sp>
      <p:sp>
        <p:nvSpPr>
          <p:cNvPr id="6" name="Text 3"/>
          <p:cNvSpPr/>
          <p:nvPr/>
        </p:nvSpPr>
        <p:spPr>
          <a:xfrm>
            <a:off x="487680" y="944880"/>
            <a:ext cx="11201400" cy="491338"/>
          </a:xfrm>
          <a:prstGeom prst="rect">
            <a:avLst/>
          </a:prstGeom>
          <a:noFill/>
          <a:ln/>
        </p:spPr>
        <p:txBody>
          <a:bodyPr wrap="square" lIns="0" tIns="0" rIns="0" bIns="0" rtlCol="0" anchor="ctr"/>
          <a:lstStyle/>
          <a:p>
            <a:pPr algn="l" indent="0" marL="0">
              <a:lnSpc>
                <a:spcPct val="100000"/>
              </a:lnSpc>
              <a:buNone/>
            </a:pPr>
            <a:r>
              <a:rPr lang="en-US" sz="3120" b="1" dirty="0">
                <a:solidFill>
                  <a:srgbClr val="182B45"/>
                </a:solidFill>
                <a:latin typeface="Arial" pitchFamily="34" charset="0"/>
                <a:ea typeface="Arial" pitchFamily="34" charset="-122"/>
                <a:cs typeface="Arial" pitchFamily="34" charset="-120"/>
              </a:rPr>
              <a:t>Fontes e preparação final</a:t>
            </a:r>
            <a:endParaRPr lang="en-US" sz="3120" dirty="0"/>
          </a:p>
        </p:txBody>
      </p:sp>
      <p:sp>
        <p:nvSpPr>
          <p:cNvPr id="7" name="Text 4"/>
          <p:cNvSpPr/>
          <p:nvPr/>
        </p:nvSpPr>
        <p:spPr>
          <a:xfrm>
            <a:off x="510540" y="1668780"/>
            <a:ext cx="11125200" cy="255118"/>
          </a:xfrm>
          <a:prstGeom prst="rect">
            <a:avLst/>
          </a:prstGeom>
          <a:noFill/>
          <a:ln/>
        </p:spPr>
        <p:txBody>
          <a:bodyPr wrap="square" lIns="0" tIns="0" rIns="0" bIns="0" rtlCol="0" anchor="ctr"/>
          <a:lstStyle/>
          <a:p>
            <a:pPr algn="l" indent="0" marL="0">
              <a:lnSpc>
                <a:spcPct val="100000"/>
              </a:lnSpc>
              <a:buNone/>
            </a:pPr>
            <a:r>
              <a:rPr lang="en-US" sz="1620" dirty="0">
                <a:solidFill>
                  <a:srgbClr val="52657B"/>
                </a:solidFill>
                <a:latin typeface="Arial" pitchFamily="34" charset="0"/>
                <a:ea typeface="Arial" pitchFamily="34" charset="-122"/>
                <a:cs typeface="Arial" pitchFamily="34" charset="-120"/>
              </a:rPr>
              <a:t>O material usa os arquivos locais do trabalho e os logs já existentes.</a:t>
            </a:r>
            <a:endParaRPr lang="en-US" sz="1620" dirty="0"/>
          </a:p>
        </p:txBody>
      </p:sp>
      <p:sp>
        <p:nvSpPr>
          <p:cNvPr id="8" name="Shape 5"/>
          <p:cNvSpPr/>
          <p:nvPr/>
        </p:nvSpPr>
        <p:spPr>
          <a:xfrm>
            <a:off x="487680" y="2438400"/>
            <a:ext cx="5387340" cy="2971800"/>
          </a:xfrm>
          <a:prstGeom prst="roundRect">
            <a:avLst>
              <a:gd name="adj" fmla="val 4615"/>
            </a:avLst>
          </a:prstGeom>
          <a:solidFill>
            <a:srgbClr val="FFFFFF"/>
          </a:solidFill>
          <a:ln w="12700">
            <a:solidFill>
              <a:srgbClr val="D7E1EE"/>
            </a:solidFill>
            <a:prstDash val="solid"/>
          </a:ln>
        </p:spPr>
      </p:sp>
      <p:sp>
        <p:nvSpPr>
          <p:cNvPr id="9" name="Shape 6"/>
          <p:cNvSpPr/>
          <p:nvPr/>
        </p:nvSpPr>
        <p:spPr>
          <a:xfrm>
            <a:off x="487680" y="2438400"/>
            <a:ext cx="53340" cy="2971800"/>
          </a:xfrm>
          <a:prstGeom prst="rect">
            <a:avLst/>
          </a:prstGeom>
          <a:solidFill>
            <a:srgbClr val="2165D6"/>
          </a:solidFill>
          <a:ln w="12700">
            <a:solidFill>
              <a:srgbClr val="2165D6">
                <a:alpha val="0"/>
              </a:srgbClr>
            </a:solidFill>
            <a:prstDash val="solid"/>
          </a:ln>
        </p:spPr>
      </p:sp>
      <p:sp>
        <p:nvSpPr>
          <p:cNvPr id="10" name="Text 7"/>
          <p:cNvSpPr/>
          <p:nvPr/>
        </p:nvSpPr>
        <p:spPr>
          <a:xfrm>
            <a:off x="678180" y="2613660"/>
            <a:ext cx="500634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2165D6"/>
                </a:solidFill>
                <a:latin typeface="Arial" pitchFamily="34" charset="0"/>
                <a:ea typeface="Arial" pitchFamily="34" charset="-122"/>
                <a:cs typeface="Arial" pitchFamily="34" charset="-120"/>
              </a:rPr>
              <a:t>FONTES</a:t>
            </a:r>
            <a:endParaRPr lang="en-US" sz="1920" dirty="0"/>
          </a:p>
        </p:txBody>
      </p:sp>
      <p:sp>
        <p:nvSpPr>
          <p:cNvPr id="11" name="Text 8"/>
          <p:cNvSpPr/>
          <p:nvPr/>
        </p:nvSpPr>
        <p:spPr>
          <a:xfrm>
            <a:off x="678180" y="3200400"/>
            <a:ext cx="50063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Enunciado: AES_Trabalho.pdf</a:t>
            </a:r>
            <a:endParaRPr lang="en-US" sz="1680" dirty="0"/>
          </a:p>
        </p:txBody>
      </p:sp>
      <p:sp>
        <p:nvSpPr>
          <p:cNvPr id="12" name="Text 9"/>
          <p:cNvSpPr/>
          <p:nvPr/>
        </p:nvSpPr>
        <p:spPr>
          <a:xfrm>
            <a:off x="678180" y="3464966"/>
            <a:ext cx="500634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13" name="Text 10"/>
          <p:cNvSpPr/>
          <p:nvPr/>
        </p:nvSpPr>
        <p:spPr>
          <a:xfrm>
            <a:off x="678180" y="3729533"/>
            <a:ext cx="50063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Código: Codigo/src/</a:t>
            </a:r>
            <a:endParaRPr lang="en-US" sz="1680" dirty="0"/>
          </a:p>
        </p:txBody>
      </p:sp>
      <p:sp>
        <p:nvSpPr>
          <p:cNvPr id="14" name="Text 11"/>
          <p:cNvSpPr/>
          <p:nvPr/>
        </p:nvSpPr>
        <p:spPr>
          <a:xfrm>
            <a:off x="678180" y="3994099"/>
            <a:ext cx="500634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15" name="Text 12"/>
          <p:cNvSpPr/>
          <p:nvPr/>
        </p:nvSpPr>
        <p:spPr>
          <a:xfrm>
            <a:off x="678180" y="4258666"/>
            <a:ext cx="500634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Evidências: aes-dupla e aes-ensaio, 19/10/2026.</a:t>
            </a:r>
            <a:endParaRPr lang="en-US" sz="1680" dirty="0"/>
          </a:p>
        </p:txBody>
      </p:sp>
      <p:sp>
        <p:nvSpPr>
          <p:cNvPr id="16" name="Shape 13"/>
          <p:cNvSpPr/>
          <p:nvPr/>
        </p:nvSpPr>
        <p:spPr>
          <a:xfrm>
            <a:off x="6210300" y="2438400"/>
            <a:ext cx="5494020" cy="2971800"/>
          </a:xfrm>
          <a:prstGeom prst="roundRect">
            <a:avLst>
              <a:gd name="adj" fmla="val 4615"/>
            </a:avLst>
          </a:prstGeom>
          <a:solidFill>
            <a:srgbClr val="FFFFFF"/>
          </a:solidFill>
          <a:ln w="12700">
            <a:solidFill>
              <a:srgbClr val="D7E1EE"/>
            </a:solidFill>
            <a:prstDash val="solid"/>
          </a:ln>
        </p:spPr>
      </p:sp>
      <p:sp>
        <p:nvSpPr>
          <p:cNvPr id="17" name="Shape 14"/>
          <p:cNvSpPr/>
          <p:nvPr/>
        </p:nvSpPr>
        <p:spPr>
          <a:xfrm>
            <a:off x="6210300" y="2438400"/>
            <a:ext cx="53340" cy="2971800"/>
          </a:xfrm>
          <a:prstGeom prst="rect">
            <a:avLst/>
          </a:prstGeom>
          <a:solidFill>
            <a:srgbClr val="008774"/>
          </a:solidFill>
          <a:ln w="12700">
            <a:solidFill>
              <a:srgbClr val="008774">
                <a:alpha val="0"/>
              </a:srgbClr>
            </a:solidFill>
            <a:prstDash val="solid"/>
          </a:ln>
        </p:spPr>
      </p:sp>
      <p:sp>
        <p:nvSpPr>
          <p:cNvPr id="18" name="Text 15"/>
          <p:cNvSpPr/>
          <p:nvPr/>
        </p:nvSpPr>
        <p:spPr>
          <a:xfrm>
            <a:off x="6400800" y="2613660"/>
            <a:ext cx="5113020" cy="302362"/>
          </a:xfrm>
          <a:prstGeom prst="rect">
            <a:avLst/>
          </a:prstGeom>
          <a:noFill/>
          <a:ln/>
        </p:spPr>
        <p:txBody>
          <a:bodyPr wrap="square" lIns="0" tIns="0" rIns="0" bIns="0" rtlCol="0" anchor="ctr"/>
          <a:lstStyle/>
          <a:p>
            <a:pPr algn="l" indent="0" marL="0">
              <a:lnSpc>
                <a:spcPct val="100000"/>
              </a:lnSpc>
              <a:buNone/>
            </a:pPr>
            <a:r>
              <a:rPr lang="en-US" sz="1920" b="1" dirty="0">
                <a:solidFill>
                  <a:srgbClr val="008774"/>
                </a:solidFill>
                <a:latin typeface="Arial" pitchFamily="34" charset="0"/>
                <a:ea typeface="Arial" pitchFamily="34" charset="-122"/>
                <a:cs typeface="Arial" pitchFamily="34" charset="-120"/>
              </a:rPr>
              <a:t>ANTES DA AULA</a:t>
            </a:r>
            <a:endParaRPr lang="en-US" sz="1920" dirty="0"/>
          </a:p>
        </p:txBody>
      </p:sp>
      <p:sp>
        <p:nvSpPr>
          <p:cNvPr id="19" name="Text 16"/>
          <p:cNvSpPr/>
          <p:nvPr/>
        </p:nvSpPr>
        <p:spPr>
          <a:xfrm>
            <a:off x="6400800" y="3200400"/>
            <a:ext cx="511302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Revisar o código do colega.</a:t>
            </a:r>
            <a:endParaRPr lang="en-US" sz="1680" dirty="0"/>
          </a:p>
        </p:txBody>
      </p:sp>
      <p:sp>
        <p:nvSpPr>
          <p:cNvPr id="20" name="Text 17"/>
          <p:cNvSpPr/>
          <p:nvPr/>
        </p:nvSpPr>
        <p:spPr>
          <a:xfrm>
            <a:off x="6400800" y="3464966"/>
            <a:ext cx="511302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21" name="Text 18"/>
          <p:cNvSpPr/>
          <p:nvPr/>
        </p:nvSpPr>
        <p:spPr>
          <a:xfrm>
            <a:off x="6400800" y="3729533"/>
            <a:ext cx="511302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Concluir o README de execução.</a:t>
            </a:r>
            <a:endParaRPr lang="en-US" sz="1680" dirty="0"/>
          </a:p>
        </p:txBody>
      </p:sp>
      <p:sp>
        <p:nvSpPr>
          <p:cNvPr id="22" name="Text 19"/>
          <p:cNvSpPr/>
          <p:nvPr/>
        </p:nvSpPr>
        <p:spPr>
          <a:xfrm>
            <a:off x="6400800" y="3994099"/>
            <a:ext cx="5113020" cy="264566"/>
          </a:xfrm>
          <a:prstGeom prst="rect">
            <a:avLst/>
          </a:prstGeom>
          <a:noFill/>
          <a:ln/>
        </p:spPr>
        <p:txBody>
          <a:bodyPr wrap="square" lIns="0" tIns="0" rIns="0" bIns="0" rtlCol="0" anchor="ctr"/>
          <a:lstStyle/>
          <a:p>
            <a:pPr algn="l" indent="0" marL="0">
              <a:lnSpc>
                <a:spcPct val="100000"/>
              </a:lnSpc>
              <a:buNone/>
            </a:pPr>
            <a:endParaRPr lang="en-US" sz="1680" dirty="0"/>
          </a:p>
        </p:txBody>
      </p:sp>
      <p:sp>
        <p:nvSpPr>
          <p:cNvPr id="23" name="Text 20"/>
          <p:cNvSpPr/>
          <p:nvPr/>
        </p:nvSpPr>
        <p:spPr>
          <a:xfrm>
            <a:off x="6400800" y="4258666"/>
            <a:ext cx="511302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Ensaiar os dois monitores e a alteração pedida</a:t>
            </a:r>
            <a:endParaRPr lang="en-US" sz="1680" dirty="0"/>
          </a:p>
        </p:txBody>
      </p:sp>
      <p:sp>
        <p:nvSpPr>
          <p:cNvPr id="24" name="Text 21"/>
          <p:cNvSpPr/>
          <p:nvPr/>
        </p:nvSpPr>
        <p:spPr>
          <a:xfrm>
            <a:off x="6400800" y="4523232"/>
            <a:ext cx="5113020" cy="264566"/>
          </a:xfrm>
          <a:prstGeom prst="rect">
            <a:avLst/>
          </a:prstGeom>
          <a:noFill/>
          <a:ln/>
        </p:spPr>
        <p:txBody>
          <a:bodyPr wrap="square" lIns="0" tIns="0" rIns="0" bIns="0" rtlCol="0" anchor="ctr"/>
          <a:lstStyle/>
          <a:p>
            <a:pPr algn="l" indent="0" marL="0">
              <a:lnSpc>
                <a:spcPct val="100000"/>
              </a:lnSpc>
              <a:buNone/>
            </a:pPr>
            <a:r>
              <a:rPr lang="en-US" sz="1680" dirty="0">
                <a:solidFill>
                  <a:srgbClr val="182B45"/>
                </a:solidFill>
                <a:latin typeface="Arial" pitchFamily="34" charset="0"/>
                <a:ea typeface="Arial" pitchFamily="34" charset="-122"/>
                <a:cs typeface="Arial" pitchFamily="34" charset="-120"/>
              </a:rPr>
              <a:t>pelo professor.</a:t>
            </a:r>
            <a:endParaRPr lang="en-US" sz="1680" dirty="0"/>
          </a:p>
        </p:txBody>
      </p:sp>
      <p:sp>
        <p:nvSpPr>
          <p:cNvPr id="25" name="Shape 22"/>
          <p:cNvSpPr/>
          <p:nvPr/>
        </p:nvSpPr>
        <p:spPr>
          <a:xfrm>
            <a:off x="487680" y="6461760"/>
            <a:ext cx="11216640" cy="0"/>
          </a:xfrm>
          <a:prstGeom prst="line">
            <a:avLst/>
          </a:prstGeom>
          <a:noFill/>
          <a:ln w="7620">
            <a:solidFill>
              <a:srgbClr val="D7E1EE"/>
            </a:solidFill>
            <a:prstDash val="solid"/>
          </a:ln>
        </p:spPr>
      </p:sp>
      <p:sp>
        <p:nvSpPr>
          <p:cNvPr id="26" name="Text 23"/>
          <p:cNvSpPr/>
          <p:nvPr/>
        </p:nvSpPr>
        <p:spPr>
          <a:xfrm>
            <a:off x="495300" y="6560820"/>
            <a:ext cx="5105400" cy="160630"/>
          </a:xfrm>
          <a:prstGeom prst="rect">
            <a:avLst/>
          </a:prstGeom>
          <a:noFill/>
          <a:ln/>
        </p:spPr>
        <p:txBody>
          <a:bodyPr wrap="square" lIns="0" tIns="0" rIns="0" bIns="0" rtlCol="0" anchor="ctr"/>
          <a:lstStyle/>
          <a:p>
            <a:pPr algn="l" indent="0" marL="0">
              <a:lnSpc>
                <a:spcPct val="100000"/>
              </a:lnSpc>
              <a:buNone/>
            </a:pPr>
            <a:r>
              <a:rPr lang="en-US" sz="1020" b="1" dirty="0">
                <a:solidFill>
                  <a:srgbClr val="52657B"/>
                </a:solidFill>
                <a:latin typeface="Arial" pitchFamily="34" charset="0"/>
                <a:ea typeface="Arial" pitchFamily="34" charset="-122"/>
                <a:cs typeface="Arial" pitchFamily="34" charset="-120"/>
              </a:rPr>
              <a:t>AES-128 · AUGUSTO + GUSTAVO</a:t>
            </a:r>
            <a:endParaRPr lang="en-US" sz="1020" dirty="0"/>
          </a:p>
        </p:txBody>
      </p:sp>
      <p:sp>
        <p:nvSpPr>
          <p:cNvPr id="27" name="Text 24"/>
          <p:cNvSpPr/>
          <p:nvPr/>
        </p:nvSpPr>
        <p:spPr>
          <a:xfrm>
            <a:off x="10469880" y="6545580"/>
            <a:ext cx="1234440" cy="170078"/>
          </a:xfrm>
          <a:prstGeom prst="rect">
            <a:avLst/>
          </a:prstGeom>
          <a:noFill/>
          <a:ln/>
        </p:spPr>
        <p:txBody>
          <a:bodyPr wrap="square" lIns="0" tIns="0" rIns="0" bIns="0" rtlCol="0" anchor="ctr"/>
          <a:lstStyle/>
          <a:p>
            <a:pPr algn="r" indent="0" marL="0">
              <a:lnSpc>
                <a:spcPct val="100000"/>
              </a:lnSpc>
              <a:buNone/>
            </a:pPr>
            <a:r>
              <a:rPr lang="en-US" sz="1080" dirty="0">
                <a:solidFill>
                  <a:srgbClr val="52657B"/>
                </a:solidFill>
                <a:latin typeface="Arial" pitchFamily="34" charset="0"/>
                <a:ea typeface="Arial" pitchFamily="34" charset="-122"/>
                <a:cs typeface="Arial" pitchFamily="34" charset="-120"/>
              </a:rPr>
              <a:t>27 / 27</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Trabalho acadêmico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AES-128 entre dois ESP32</dc:title>
  <dc:subject>AES-128 em ESP32 via UART</dc:subject>
  <dc:creator>Augusto e Gustavo</dc:creator>
  <cp:lastModifiedBy>Augusto e Gustavo</cp:lastModifiedBy>
  <cp:revision>1</cp:revision>
  <dcterms:created xsi:type="dcterms:W3CDTF">2026-10-19T21:57:24Z</dcterms:created>
  <dcterms:modified xsi:type="dcterms:W3CDTF">2026-10-19T21:57:24Z</dcterms:modified>
</cp:coreProperties>
</file>